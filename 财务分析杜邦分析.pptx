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xml" ContentType="application/vnd.openxmlformats-officedocument.presentationml.tags+xml"/>
  <Override PartName="/ppt/tags/tag4.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696" r:id="rId3"/>
    <p:sldMasterId id="2147483708" r:id="rId4"/>
    <p:sldMasterId id="2147483720" r:id="rId5"/>
    <p:sldMasterId id="2147483733" r:id="rId6"/>
  </p:sldMasterIdLst>
  <p:notesMasterIdLst>
    <p:notesMasterId r:id="rId24"/>
  </p:notesMasterIdLst>
  <p:sldIdLst>
    <p:sldId id="256" r:id="rId7"/>
    <p:sldId id="257" r:id="rId8"/>
    <p:sldId id="258" r:id="rId9"/>
    <p:sldId id="306" r:id="rId10"/>
    <p:sldId id="307" r:id="rId11"/>
    <p:sldId id="284" r:id="rId12"/>
    <p:sldId id="290" r:id="rId13"/>
    <p:sldId id="285" r:id="rId14"/>
    <p:sldId id="305" r:id="rId15"/>
    <p:sldId id="300" r:id="rId16"/>
    <p:sldId id="295" r:id="rId17"/>
    <p:sldId id="302" r:id="rId18"/>
    <p:sldId id="301" r:id="rId19"/>
    <p:sldId id="296" r:id="rId20"/>
    <p:sldId id="298" r:id="rId21"/>
    <p:sldId id="297" r:id="rId22"/>
    <p:sldId id="282" r:id="rId23"/>
  </p:sldIdLst>
  <p:sldSz cx="12192000" cy="6858000"/>
  <p:notesSz cx="6858000" cy="9144000"/>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pos="7242" userDrawn="1">
          <p15:clr>
            <a:srgbClr val="A4A3A4"/>
          </p15:clr>
        </p15:guide>
        <p15:guide id="5" orient="horz" pos="2160" userDrawn="1">
          <p15:clr>
            <a:srgbClr val="A4A3A4"/>
          </p15:clr>
        </p15:guide>
        <p15:guide id="6" pos="438" userDrawn="1">
          <p15:clr>
            <a:srgbClr val="A4A3A4"/>
          </p15:clr>
        </p15:guide>
        <p15:guide id="7" orient="horz" pos="731" userDrawn="1">
          <p15:clr>
            <a:srgbClr val="A4A3A4"/>
          </p15:clr>
        </p15:guide>
        <p15:guide id="8" orient="horz" pos="3974" userDrawn="1">
          <p15:clr>
            <a:srgbClr val="A4A3A4"/>
          </p15:clr>
        </p15:guide>
        <p15:guide id="9" orient="horz" pos="2364"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0F0F"/>
    <a:srgbClr val="FFFFFF"/>
    <a:srgbClr val="C10404"/>
    <a:srgbClr val="FF9900"/>
    <a:srgbClr val="001B5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95214" autoAdjust="0"/>
  </p:normalViewPr>
  <p:slideViewPr>
    <p:cSldViewPr snapToGrid="0" showGuides="1">
      <p:cViewPr varScale="1">
        <p:scale>
          <a:sx n="97" d="100"/>
          <a:sy n="97" d="100"/>
        </p:scale>
        <p:origin x="372" y="96"/>
      </p:cViewPr>
      <p:guideLst>
        <p:guide pos="3840"/>
        <p:guide pos="7242"/>
        <p:guide orient="horz" pos="2160"/>
        <p:guide pos="438"/>
        <p:guide orient="horz" pos="731"/>
        <p:guide orient="horz" pos="3974"/>
        <p:guide orient="horz" pos="23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160000000000001E-2"/>
          <c:y val="0.1784"/>
          <c:w val="0.94144000000000005"/>
          <c:h val="0.76671999999999996"/>
        </c:manualLayout>
      </c:layout>
      <c:lineChart>
        <c:grouping val="standard"/>
        <c:varyColors val="0"/>
        <c:ser>
          <c:idx val="0"/>
          <c:order val="0"/>
          <c:tx>
            <c:strRef>
              <c:f>Sheet1!$F$10</c:f>
              <c:strCache>
                <c:ptCount val="1"/>
                <c:pt idx="0">
                  <c:v>流动资产占总资产比重</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Sheet1!$G$9:$K$9</c:f>
              <c:numCache>
                <c:formatCode>General</c:formatCode>
                <c:ptCount val="5"/>
                <c:pt idx="0">
                  <c:v>2019</c:v>
                </c:pt>
                <c:pt idx="1">
                  <c:v>2020</c:v>
                </c:pt>
                <c:pt idx="2">
                  <c:v>2021</c:v>
                </c:pt>
                <c:pt idx="3">
                  <c:v>2022</c:v>
                </c:pt>
                <c:pt idx="4">
                  <c:v>2023</c:v>
                </c:pt>
              </c:numCache>
            </c:numRef>
          </c:cat>
          <c:val>
            <c:numRef>
              <c:f>Sheet1!$G$10:$K$10</c:f>
              <c:numCache>
                <c:formatCode>0.00%</c:formatCode>
                <c:ptCount val="5"/>
                <c:pt idx="0">
                  <c:v>0.75590000000000002</c:v>
                </c:pt>
                <c:pt idx="1">
                  <c:v>0.74960000000000004</c:v>
                </c:pt>
                <c:pt idx="2">
                  <c:v>0.74309999999999998</c:v>
                </c:pt>
                <c:pt idx="3">
                  <c:v>0.76849999999999996</c:v>
                </c:pt>
                <c:pt idx="4">
                  <c:v>0.77629999999999999</c:v>
                </c:pt>
              </c:numCache>
            </c:numRef>
          </c:val>
          <c:smooth val="0"/>
          <c:extLst>
            <c:ext xmlns:c16="http://schemas.microsoft.com/office/drawing/2014/chart" uri="{C3380CC4-5D6E-409C-BE32-E72D297353CC}">
              <c16:uniqueId val="{00000000-3F4F-42A1-9E00-FC53126F3DE1}"/>
            </c:ext>
          </c:extLst>
        </c:ser>
        <c:ser>
          <c:idx val="1"/>
          <c:order val="1"/>
          <c:tx>
            <c:strRef>
              <c:f>Sheet1!$F$11</c:f>
              <c:strCache>
                <c:ptCount val="1"/>
                <c:pt idx="0">
                  <c:v>非流动资产占总资产比重</c:v>
                </c:pt>
              </c:strCache>
            </c:strRef>
          </c:tx>
          <c:spPr>
            <a:ln w="28575" cap="rnd">
              <a:solidFill>
                <a:schemeClr val="accent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Sheet1!$G$9:$K$9</c:f>
              <c:numCache>
                <c:formatCode>General</c:formatCode>
                <c:ptCount val="5"/>
                <c:pt idx="0">
                  <c:v>2019</c:v>
                </c:pt>
                <c:pt idx="1">
                  <c:v>2020</c:v>
                </c:pt>
                <c:pt idx="2">
                  <c:v>2021</c:v>
                </c:pt>
                <c:pt idx="3">
                  <c:v>2022</c:v>
                </c:pt>
                <c:pt idx="4">
                  <c:v>2023</c:v>
                </c:pt>
              </c:numCache>
            </c:numRef>
          </c:cat>
          <c:val>
            <c:numRef>
              <c:f>Sheet1!$G$11:$K$11</c:f>
              <c:numCache>
                <c:formatCode>0.00%</c:formatCode>
                <c:ptCount val="5"/>
                <c:pt idx="0">
                  <c:v>0.24410000000000001</c:v>
                </c:pt>
                <c:pt idx="1">
                  <c:v>0.25040000000000001</c:v>
                </c:pt>
                <c:pt idx="2">
                  <c:v>0.25690000000000002</c:v>
                </c:pt>
                <c:pt idx="3">
                  <c:v>0.23150000000000001</c:v>
                </c:pt>
                <c:pt idx="4">
                  <c:v>0.22370000000000001</c:v>
                </c:pt>
              </c:numCache>
            </c:numRef>
          </c:val>
          <c:smooth val="0"/>
          <c:extLst>
            <c:ext xmlns:c16="http://schemas.microsoft.com/office/drawing/2014/chart" uri="{C3380CC4-5D6E-409C-BE32-E72D297353CC}">
              <c16:uniqueId val="{00000001-3F4F-42A1-9E00-FC53126F3DE1}"/>
            </c:ext>
          </c:extLst>
        </c:ser>
        <c:dLbls>
          <c:showLegendKey val="0"/>
          <c:showVal val="1"/>
          <c:showCatName val="0"/>
          <c:showSerName val="0"/>
          <c:showPercent val="0"/>
          <c:showBubbleSize val="0"/>
        </c:dLbls>
        <c:smooth val="0"/>
        <c:axId val="996680699"/>
        <c:axId val="940050392"/>
      </c:lineChart>
      <c:catAx>
        <c:axId val="996680699"/>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940050392"/>
        <c:crosses val="autoZero"/>
        <c:auto val="1"/>
        <c:lblAlgn val="ctr"/>
        <c:lblOffset val="100"/>
        <c:noMultiLvlLbl val="0"/>
      </c:catAx>
      <c:valAx>
        <c:axId val="94005039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996680699"/>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cap="none" spc="20" baseline="0">
                <a:solidFill>
                  <a:schemeClr val="dk1">
                    <a:lumMod val="50000"/>
                    <a:lumOff val="50000"/>
                  </a:schemeClr>
                </a:solidFill>
                <a:latin typeface="+mn-lt"/>
                <a:ea typeface="+mn-ea"/>
                <a:cs typeface="+mn-cs"/>
              </a:defRPr>
            </a:pPr>
            <a:r>
              <a:rPr lang="zh-CN" altLang="en-US"/>
              <a:t>流动比率与速动比率</a:t>
            </a:r>
          </a:p>
        </c:rich>
      </c:tx>
      <c:layout>
        <c:manualLayout>
          <c:xMode val="edge"/>
          <c:yMode val="edge"/>
          <c:x val="0.25130000000000002"/>
          <c:y val="2.02666666666667E-2"/>
        </c:manualLayout>
      </c:layout>
      <c:overlay val="0"/>
      <c:spPr>
        <a:noFill/>
        <a:ln>
          <a:noFill/>
        </a:ln>
        <a:effectLst/>
      </c:spPr>
      <c:txPr>
        <a:bodyPr rot="0" spcFirstLastPara="0" vertOverflow="ellipsis" vert="horz" wrap="square" anchor="ctr" anchorCtr="1"/>
        <a:lstStyle/>
        <a:p>
          <a:pPr defTabSz="914400">
            <a:defRPr lang="zh-CN" sz="1400" b="0" i="0" u="none" strike="noStrike" kern="1200" cap="none" spc="20" baseline="0">
              <a:solidFill>
                <a:schemeClr val="dk1">
                  <a:lumMod val="50000"/>
                  <a:lumOff val="50000"/>
                </a:schemeClr>
              </a:solidFill>
              <a:latin typeface="+mn-lt"/>
              <a:ea typeface="+mn-ea"/>
              <a:cs typeface="+mn-cs"/>
            </a:defRPr>
          </a:pPr>
          <a:endParaRPr lang="zh-CN"/>
        </a:p>
      </c:txPr>
    </c:title>
    <c:autoTitleDeleted val="0"/>
    <c:plotArea>
      <c:layout>
        <c:manualLayout>
          <c:layoutTarget val="inner"/>
          <c:xMode val="edge"/>
          <c:yMode val="edge"/>
          <c:x val="4.5760000000000002E-2"/>
          <c:y val="9.6000000000000002E-2"/>
          <c:w val="0.94144000000000005"/>
          <c:h val="0.76671999999999996"/>
        </c:manualLayout>
      </c:layout>
      <c:lineChart>
        <c:grouping val="standard"/>
        <c:varyColors val="0"/>
        <c:ser>
          <c:idx val="0"/>
          <c:order val="0"/>
          <c:tx>
            <c:strRef>
              <c:f>Sheet1!$E$7</c:f>
              <c:strCache>
                <c:ptCount val="1"/>
                <c:pt idx="0">
                  <c:v>流动比率</c:v>
                </c:pt>
              </c:strCache>
            </c:strRef>
          </c:tx>
          <c:spPr>
            <a:ln w="22225" cap="rnd" cmpd="sng" algn="ctr">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dk1">
                        <a:lumMod val="65000"/>
                        <a:lumOff val="3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numRef>
              <c:f>Sheet1!$F$6:$J$6</c:f>
              <c:numCache>
                <c:formatCode>General</c:formatCode>
                <c:ptCount val="5"/>
                <c:pt idx="0">
                  <c:v>2019</c:v>
                </c:pt>
                <c:pt idx="1">
                  <c:v>2020</c:v>
                </c:pt>
                <c:pt idx="2">
                  <c:v>2021</c:v>
                </c:pt>
                <c:pt idx="3">
                  <c:v>2022</c:v>
                </c:pt>
                <c:pt idx="4">
                  <c:v>2023</c:v>
                </c:pt>
              </c:numCache>
            </c:numRef>
          </c:cat>
          <c:val>
            <c:numRef>
              <c:f>Sheet1!$F$7:$J$7</c:f>
              <c:numCache>
                <c:formatCode>General</c:formatCode>
                <c:ptCount val="5"/>
                <c:pt idx="0">
                  <c:v>3.8698000000000001</c:v>
                </c:pt>
                <c:pt idx="1">
                  <c:v>4.0648</c:v>
                </c:pt>
                <c:pt idx="2">
                  <c:v>3.8119000000000001</c:v>
                </c:pt>
                <c:pt idx="3">
                  <c:v>4.4146999999999998</c:v>
                </c:pt>
                <c:pt idx="4">
                  <c:v>4.6238999999999999</c:v>
                </c:pt>
              </c:numCache>
            </c:numRef>
          </c:val>
          <c:smooth val="0"/>
          <c:extLst>
            <c:ext xmlns:c16="http://schemas.microsoft.com/office/drawing/2014/chart" uri="{C3380CC4-5D6E-409C-BE32-E72D297353CC}">
              <c16:uniqueId val="{00000000-B140-4574-AEEA-4DD15FCF1CAE}"/>
            </c:ext>
          </c:extLst>
        </c:ser>
        <c:ser>
          <c:idx val="1"/>
          <c:order val="1"/>
          <c:tx>
            <c:strRef>
              <c:f>Sheet1!$E$8</c:f>
              <c:strCache>
                <c:ptCount val="1"/>
                <c:pt idx="0">
                  <c:v>速动比率</c:v>
                </c:pt>
              </c:strCache>
            </c:strRef>
          </c:tx>
          <c:spPr>
            <a:ln w="22225" cap="rnd" cmpd="sng" algn="ctr">
              <a:solidFill>
                <a:schemeClr val="tx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dk1">
                        <a:lumMod val="65000"/>
                        <a:lumOff val="3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numRef>
              <c:f>Sheet1!$F$6:$J$6</c:f>
              <c:numCache>
                <c:formatCode>General</c:formatCode>
                <c:ptCount val="5"/>
                <c:pt idx="0">
                  <c:v>2019</c:v>
                </c:pt>
                <c:pt idx="1">
                  <c:v>2020</c:v>
                </c:pt>
                <c:pt idx="2">
                  <c:v>2021</c:v>
                </c:pt>
                <c:pt idx="3">
                  <c:v>2022</c:v>
                </c:pt>
                <c:pt idx="4">
                  <c:v>2023</c:v>
                </c:pt>
              </c:numCache>
            </c:numRef>
          </c:cat>
          <c:val>
            <c:numRef>
              <c:f>Sheet1!$F$8:$J$8</c:f>
              <c:numCache>
                <c:formatCode>General</c:formatCode>
                <c:ptCount val="5"/>
                <c:pt idx="0">
                  <c:v>3.2545000000000002</c:v>
                </c:pt>
                <c:pt idx="1">
                  <c:v>3.4327000000000001</c:v>
                </c:pt>
                <c:pt idx="2">
                  <c:v>3.2353000000000001</c:v>
                </c:pt>
                <c:pt idx="3">
                  <c:v>3.6234999999999999</c:v>
                </c:pt>
                <c:pt idx="4">
                  <c:v>3.6703999999999999</c:v>
                </c:pt>
              </c:numCache>
            </c:numRef>
          </c:val>
          <c:smooth val="0"/>
          <c:extLst>
            <c:ext xmlns:c16="http://schemas.microsoft.com/office/drawing/2014/chart" uri="{C3380CC4-5D6E-409C-BE32-E72D297353CC}">
              <c16:uniqueId val="{00000001-B140-4574-AEEA-4DD15FCF1CAE}"/>
            </c:ext>
          </c:extLst>
        </c:ser>
        <c:dLbls>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743847411"/>
        <c:axId val="547783781"/>
      </c:lineChart>
      <c:catAx>
        <c:axId val="743847411"/>
        <c:scaling>
          <c:orientation val="minMax"/>
        </c:scaling>
        <c:delete val="0"/>
        <c:axPos val="b"/>
        <c:numFmt formatCode="General" sourceLinked="0"/>
        <c:majorTickMark val="none"/>
        <c:minorTickMark val="none"/>
        <c:tickLblPos val="nextTo"/>
        <c:spPr>
          <a:noFill/>
          <a:ln w="9525" cap="flat" cmpd="sng" algn="ctr">
            <a:solidFill>
              <a:schemeClr val="dk1">
                <a:lumMod val="15000"/>
                <a:lumOff val="85000"/>
              </a:schemeClr>
            </a:solidFill>
            <a:round/>
          </a:ln>
          <a:effectLst/>
        </c:spPr>
        <c:txPr>
          <a:bodyPr rot="-60000000" spcFirstLastPara="0" vertOverflow="ellipsis" vert="horz" wrap="square" anchor="ctr" anchorCtr="1"/>
          <a:lstStyle/>
          <a:p>
            <a:pPr>
              <a:defRPr lang="zh-CN" sz="900" b="0" i="0" u="none" strike="noStrike" kern="1200" spc="20" baseline="0">
                <a:solidFill>
                  <a:schemeClr val="dk1">
                    <a:lumMod val="65000"/>
                    <a:lumOff val="35000"/>
                  </a:schemeClr>
                </a:solidFill>
                <a:latin typeface="+mn-lt"/>
                <a:ea typeface="+mn-ea"/>
                <a:cs typeface="+mn-cs"/>
              </a:defRPr>
            </a:pPr>
            <a:endParaRPr lang="zh-CN"/>
          </a:p>
        </c:txPr>
        <c:crossAx val="547783781"/>
        <c:crosses val="autoZero"/>
        <c:auto val="1"/>
        <c:lblAlgn val="ctr"/>
        <c:lblOffset val="100"/>
        <c:noMultiLvlLbl val="0"/>
      </c:catAx>
      <c:valAx>
        <c:axId val="547783781"/>
        <c:scaling>
          <c:orientation val="minMax"/>
        </c:scaling>
        <c:delete val="0"/>
        <c:axPos val="l"/>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spc="20" baseline="0">
                <a:solidFill>
                  <a:schemeClr val="dk1">
                    <a:lumMod val="65000"/>
                    <a:lumOff val="35000"/>
                  </a:schemeClr>
                </a:solidFill>
                <a:latin typeface="+mn-lt"/>
                <a:ea typeface="+mn-ea"/>
                <a:cs typeface="+mn-cs"/>
              </a:defRPr>
            </a:pPr>
            <a:endParaRPr lang="zh-CN"/>
          </a:p>
        </c:txPr>
        <c:crossAx val="743847411"/>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dk1">
                  <a:lumMod val="65000"/>
                  <a:lumOff val="35000"/>
                </a:schemeClr>
              </a:solidFill>
              <a:latin typeface="+mn-lt"/>
              <a:ea typeface="+mn-ea"/>
              <a:cs typeface="+mn-cs"/>
            </a:defRPr>
          </a:pPr>
          <a:endParaRPr lang="zh-CN"/>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900"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900" kern="1200" spc="20" baseline="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C61FB8-5279-453F-85E8-9DD40D1B98C9}" type="datetimeFigureOut">
              <a:rPr lang="zh-CN" altLang="en-US" smtClean="0"/>
              <a:t>2024/6/3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09D6B-C502-40C3-AA9A-AB716B98D03F}" type="slidenum">
              <a:rPr lang="zh-CN" altLang="en-US" smtClean="0"/>
              <a:t>‹#›</a:t>
            </a:fld>
            <a:endParaRPr lang="zh-CN" altLang="en-US"/>
          </a:p>
        </p:txBody>
      </p:sp>
    </p:spTree>
    <p:extLst>
      <p:ext uri="{BB962C8B-B14F-4D97-AF65-F5344CB8AC3E}">
        <p14:creationId xmlns:p14="http://schemas.microsoft.com/office/powerpoint/2010/main" val="1295738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C09D6B-C502-40C3-AA9A-AB716B98D03F}" type="slidenum">
              <a:rPr lang="zh-CN" altLang="en-US" smtClean="0"/>
              <a:t>1</a:t>
            </a:fld>
            <a:endParaRPr lang="zh-CN" altLang="en-US"/>
          </a:p>
        </p:txBody>
      </p:sp>
    </p:spTree>
    <p:extLst>
      <p:ext uri="{BB962C8B-B14F-4D97-AF65-F5344CB8AC3E}">
        <p14:creationId xmlns:p14="http://schemas.microsoft.com/office/powerpoint/2010/main" val="3375852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C09D6B-C502-40C3-AA9A-AB716B98D03F}" type="slidenum">
              <a:rPr lang="zh-CN" altLang="en-US" smtClean="0"/>
              <a:t>2</a:t>
            </a:fld>
            <a:endParaRPr lang="zh-CN" altLang="en-US"/>
          </a:p>
        </p:txBody>
      </p:sp>
    </p:spTree>
    <p:extLst>
      <p:ext uri="{BB962C8B-B14F-4D97-AF65-F5344CB8AC3E}">
        <p14:creationId xmlns:p14="http://schemas.microsoft.com/office/powerpoint/2010/main" val="3494871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4C09D6B-C502-40C3-AA9A-AB716B98D03F}" type="slidenum">
              <a:rPr lang="zh-CN" altLang="en-US" smtClean="0"/>
              <a:t>3</a:t>
            </a:fld>
            <a:endParaRPr lang="zh-CN" altLang="en-US"/>
          </a:p>
        </p:txBody>
      </p:sp>
    </p:spTree>
    <p:extLst>
      <p:ext uri="{BB962C8B-B14F-4D97-AF65-F5344CB8AC3E}">
        <p14:creationId xmlns:p14="http://schemas.microsoft.com/office/powerpoint/2010/main" val="1751600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4C09D6B-C502-40C3-AA9A-AB716B98D03F}" type="slidenum">
              <a:rPr lang="zh-CN" altLang="en-US" smtClean="0"/>
              <a:t>6</a:t>
            </a:fld>
            <a:endParaRPr lang="zh-CN" altLang="en-US"/>
          </a:p>
        </p:txBody>
      </p:sp>
    </p:spTree>
    <p:extLst>
      <p:ext uri="{BB962C8B-B14F-4D97-AF65-F5344CB8AC3E}">
        <p14:creationId xmlns:p14="http://schemas.microsoft.com/office/powerpoint/2010/main" val="553148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4C09D6B-C502-40C3-AA9A-AB716B98D03F}" type="slidenum">
              <a:rPr lang="zh-CN" altLang="en-US" smtClean="0"/>
              <a:t>8</a:t>
            </a:fld>
            <a:endParaRPr lang="zh-CN" altLang="en-US"/>
          </a:p>
        </p:txBody>
      </p:sp>
    </p:spTree>
    <p:extLst>
      <p:ext uri="{BB962C8B-B14F-4D97-AF65-F5344CB8AC3E}">
        <p14:creationId xmlns:p14="http://schemas.microsoft.com/office/powerpoint/2010/main" val="2348774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4C09D6B-C502-40C3-AA9A-AB716B98D03F}" type="slidenum">
              <a:rPr lang="zh-CN" altLang="en-US" smtClean="0"/>
              <a:t>10</a:t>
            </a:fld>
            <a:endParaRPr lang="zh-CN" altLang="en-US"/>
          </a:p>
        </p:txBody>
      </p:sp>
    </p:spTree>
    <p:extLst>
      <p:ext uri="{BB962C8B-B14F-4D97-AF65-F5344CB8AC3E}">
        <p14:creationId xmlns:p14="http://schemas.microsoft.com/office/powerpoint/2010/main" val="1827346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4C09D6B-C502-40C3-AA9A-AB716B98D03F}" type="slidenum">
              <a:rPr lang="zh-CN" altLang="en-US" smtClean="0"/>
              <a:t>13</a:t>
            </a:fld>
            <a:endParaRPr lang="zh-CN" altLang="en-US"/>
          </a:p>
        </p:txBody>
      </p:sp>
    </p:spTree>
    <p:extLst>
      <p:ext uri="{BB962C8B-B14F-4D97-AF65-F5344CB8AC3E}">
        <p14:creationId xmlns:p14="http://schemas.microsoft.com/office/powerpoint/2010/main" val="825436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4C09D6B-C502-40C3-AA9A-AB716B98D03F}" type="slidenum">
              <a:rPr lang="zh-CN" altLang="en-US" smtClean="0"/>
              <a:t>17</a:t>
            </a:fld>
            <a:endParaRPr lang="zh-CN" altLang="en-US"/>
          </a:p>
        </p:txBody>
      </p:sp>
    </p:spTree>
    <p:extLst>
      <p:ext uri="{BB962C8B-B14F-4D97-AF65-F5344CB8AC3E}">
        <p14:creationId xmlns:p14="http://schemas.microsoft.com/office/powerpoint/2010/main" val="1086602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415075178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22861401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360034836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94560562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329950318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FD287A2-4003-442B-8D9A-1579E33951D3}" type="slidenum">
              <a:rPr lang="zh-CN" altLang="en-US" smtClean="0"/>
              <a:t>‹#›</a:t>
            </a:fld>
            <a:endParaRPr lang="zh-CN" altLang="en-US"/>
          </a:p>
        </p:txBody>
      </p:sp>
      <p:sp>
        <p:nvSpPr>
          <p:cNvPr id="11" name="TextBox 10"/>
          <p:cNvSpPr txBox="1"/>
          <p:nvPr userDrawn="1"/>
        </p:nvSpPr>
        <p:spPr>
          <a:xfrm>
            <a:off x="2034704" y="6739570"/>
            <a:ext cx="1224136"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http://www.ypppt.com/xiazai/</a:t>
            </a:r>
          </a:p>
        </p:txBody>
      </p:sp>
    </p:spTree>
    <p:extLst>
      <p:ext uri="{BB962C8B-B14F-4D97-AF65-F5344CB8AC3E}">
        <p14:creationId xmlns:p14="http://schemas.microsoft.com/office/powerpoint/2010/main" val="186789587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361439711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76852766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243271752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8034929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182337601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314968316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B4968-F4CB-46FD-8A0C-90B7D1382C6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8B62875-423E-4F2B-88B5-4B453C47DF9D}"/>
              </a:ext>
            </a:extLst>
          </p:cNvPr>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4" name="页脚占位符 3">
            <a:extLst>
              <a:ext uri="{FF2B5EF4-FFF2-40B4-BE49-F238E27FC236}">
                <a16:creationId xmlns:a16="http://schemas.microsoft.com/office/drawing/2014/main" id="{E71BAE12-D5B7-4008-B38D-5631DFA6CAD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F615C37-FFFB-4E89-8887-81790F55AD68}"/>
              </a:ext>
            </a:extLst>
          </p:cNvPr>
          <p:cNvSpPr>
            <a:spLocks noGrp="1"/>
          </p:cNvSpPr>
          <p:nvPr>
            <p:ph type="sldNum" sz="quarter" idx="12"/>
          </p:nvPr>
        </p:nvSpPr>
        <p:spPr/>
        <p:txBody>
          <a:bodyPr/>
          <a:lstStyle/>
          <a:p>
            <a:fld id="{7FD287A2-4003-442B-8D9A-1579E33951D3}" type="slidenum">
              <a:rPr lang="zh-CN" altLang="en-US" smtClean="0"/>
              <a:t>‹#›</a:t>
            </a:fld>
            <a:endParaRPr lang="zh-CN" altLang="en-US"/>
          </a:p>
        </p:txBody>
      </p:sp>
      <p:sp>
        <p:nvSpPr>
          <p:cNvPr id="11" name="图片占位符 10">
            <a:extLst>
              <a:ext uri="{FF2B5EF4-FFF2-40B4-BE49-F238E27FC236}">
                <a16:creationId xmlns:a16="http://schemas.microsoft.com/office/drawing/2014/main" id="{8716CA0F-905D-4D9F-907E-681E502C5B16}"/>
              </a:ext>
            </a:extLst>
          </p:cNvPr>
          <p:cNvSpPr>
            <a:spLocks noGrp="1"/>
          </p:cNvSpPr>
          <p:nvPr>
            <p:ph type="pic" sz="quarter" idx="14"/>
          </p:nvPr>
        </p:nvSpPr>
        <p:spPr>
          <a:xfrm flipH="1">
            <a:off x="2344057" y="1995488"/>
            <a:ext cx="6573838" cy="3511551"/>
          </a:xfrm>
          <a:custGeom>
            <a:avLst/>
            <a:gdLst>
              <a:gd name="connsiteX0" fmla="*/ 0 w 6573838"/>
              <a:gd name="connsiteY0" fmla="*/ 1 h 3511551"/>
              <a:gd name="connsiteX1" fmla="*/ 0 w 6573838"/>
              <a:gd name="connsiteY1" fmla="*/ 3511551 h 3511551"/>
              <a:gd name="connsiteX2" fmla="*/ 2317750 w 6573838"/>
              <a:gd name="connsiteY2" fmla="*/ 3511551 h 3511551"/>
              <a:gd name="connsiteX3" fmla="*/ 6573838 w 6573838"/>
              <a:gd name="connsiteY3" fmla="*/ 0 h 3511551"/>
              <a:gd name="connsiteX4" fmla="*/ 2317750 w 6573838"/>
              <a:gd name="connsiteY4" fmla="*/ 0 h 3511551"/>
              <a:gd name="connsiteX5" fmla="*/ 2317750 w 6573838"/>
              <a:gd name="connsiteY5" fmla="*/ 3511550 h 3511551"/>
              <a:gd name="connsiteX6" fmla="*/ 6573838 w 6573838"/>
              <a:gd name="connsiteY6" fmla="*/ 3511550 h 351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3838" h="3511551">
                <a:moveTo>
                  <a:pt x="0" y="1"/>
                </a:moveTo>
                <a:lnTo>
                  <a:pt x="0" y="3511551"/>
                </a:lnTo>
                <a:lnTo>
                  <a:pt x="2317750" y="3511551"/>
                </a:lnTo>
                <a:close/>
                <a:moveTo>
                  <a:pt x="6573838" y="0"/>
                </a:moveTo>
                <a:lnTo>
                  <a:pt x="2317750" y="0"/>
                </a:lnTo>
                <a:lnTo>
                  <a:pt x="2317750" y="3511550"/>
                </a:lnTo>
                <a:lnTo>
                  <a:pt x="6573838" y="3511550"/>
                </a:lnTo>
                <a:close/>
              </a:path>
            </a:pathLst>
          </a:custGeom>
        </p:spPr>
        <p:txBody>
          <a:bodyPr wrap="square">
            <a:noAutofit/>
          </a:bodyPr>
          <a:lstStyle/>
          <a:p>
            <a:endParaRPr lang="zh-CN" altLang="en-US" dirty="0"/>
          </a:p>
        </p:txBody>
      </p:sp>
    </p:spTree>
    <p:extLst>
      <p:ext uri="{BB962C8B-B14F-4D97-AF65-F5344CB8AC3E}">
        <p14:creationId xmlns:p14="http://schemas.microsoft.com/office/powerpoint/2010/main" val="89784284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B078EE5-8888-48B5-B529-5D0E3D999A4B}"/>
              </a:ext>
            </a:extLst>
          </p:cNvPr>
          <p:cNvSpPr>
            <a:spLocks noGrp="1"/>
          </p:cNvSpPr>
          <p:nvPr>
            <p:ph type="dt" sz="half" idx="10"/>
          </p:nvPr>
        </p:nvSpPr>
        <p:spPr/>
        <p:txBody>
          <a:bodyPr/>
          <a:lstStyle/>
          <a:p>
            <a:fld id="{5DD09C89-1EF7-456A-BB8A-F38A54B31343}" type="datetimeFigureOut">
              <a:rPr lang="zh-CN" altLang="en-US" smtClean="0"/>
              <a:t>2024/6/3</a:t>
            </a:fld>
            <a:endParaRPr lang="zh-CN" altLang="en-US"/>
          </a:p>
        </p:txBody>
      </p:sp>
      <p:sp>
        <p:nvSpPr>
          <p:cNvPr id="3" name="页脚占位符 2">
            <a:extLst>
              <a:ext uri="{FF2B5EF4-FFF2-40B4-BE49-F238E27FC236}">
                <a16:creationId xmlns:a16="http://schemas.microsoft.com/office/drawing/2014/main" id="{B48EDEE3-266F-4C0D-8014-C07D028AF4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001598D-BEE2-47A3-A6C6-936E210637B2}"/>
              </a:ext>
            </a:extLst>
          </p:cNvPr>
          <p:cNvSpPr>
            <a:spLocks noGrp="1"/>
          </p:cNvSpPr>
          <p:nvPr>
            <p:ph type="sldNum" sz="quarter" idx="12"/>
          </p:nvPr>
        </p:nvSpPr>
        <p:spPr/>
        <p:txBody>
          <a:body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287318314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5C109-6E7F-4EE7-9547-378CA2CD8E1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E0D97B8-5C88-489D-B394-16A0F3A744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544D6B5-C181-4298-A44C-F2F68F5E229A}"/>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F26A65F4-195B-4F7B-A2DE-866CC3A4CAF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D57D620-4813-48B6-9BE3-8716D9A84204}"/>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236004995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925260-270D-4C40-937E-DAE96783F8A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BBB1381-30B5-41DD-94C4-4C9C7DCED39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77F2485-D66D-4F7C-BE24-963E0B5BF1A9}"/>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599EFB9D-040C-4CF4-8F3D-B74C0AC544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E3F78E-8CDD-41FC-8483-2BFDE603E05E}"/>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212257839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0033DD-BD13-4992-BB50-A226FD9170A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13B22DB-0992-44BE-9A7A-4FAE9ECD58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8B3D084B-A27A-43D3-8A52-46A858A561AC}"/>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27A6EE1D-11DF-45D1-8EAD-EAEDE1F9E3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194689-E290-4869-B561-ACBA64CC97DE}"/>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247597486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714051-5552-4DCD-99F8-13E434A7903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56CF2EE-3F3B-461D-A326-D50441888CCF}"/>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D00870CA-5B76-4510-8B59-5ED528707B3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05D3D696-03B6-4478-93E6-BDCFB7554E2F}"/>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C62E5983-5B1C-451C-A85D-4C86E64B6AA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EA9D15-546D-4FC7-91DB-BECD787085D7}"/>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207465816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11DB8A-B9E7-4A4B-A2C3-9FC2BE4D259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CCE2A4A-A294-4C3D-8A20-F4E406F092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B128A93B-15CD-4A19-9765-F31D2385E8F0}"/>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1AC3449-B40A-4CD7-B173-4D9A63E7C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046D363-B48A-4518-A193-E4C6B994E466}"/>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A5A789F-6AE6-4344-8AC0-13BA21BC5E4A}"/>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8" name="页脚占位符 7">
            <a:extLst>
              <a:ext uri="{FF2B5EF4-FFF2-40B4-BE49-F238E27FC236}">
                <a16:creationId xmlns:a16="http://schemas.microsoft.com/office/drawing/2014/main" id="{01C9EB72-2D37-4159-BC33-02EED34479E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D96F454-9A28-42AC-AF16-AC28FABBB543}"/>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306851560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847D2-FF16-45B1-9FC6-A0004C82FFA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CAB4FC8-BC44-47BD-8380-31D9AAFFDCE6}"/>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4" name="页脚占位符 3">
            <a:extLst>
              <a:ext uri="{FF2B5EF4-FFF2-40B4-BE49-F238E27FC236}">
                <a16:creationId xmlns:a16="http://schemas.microsoft.com/office/drawing/2014/main" id="{1EF8E738-2AA2-4C2D-BE9D-DA0D1987781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BEDC3D5-8D3B-47BA-B806-05D6E6E14DE0}"/>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400257683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56A87E-9622-4648-BF56-66991711AF26}"/>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3" name="页脚占位符 2">
            <a:extLst>
              <a:ext uri="{FF2B5EF4-FFF2-40B4-BE49-F238E27FC236}">
                <a16:creationId xmlns:a16="http://schemas.microsoft.com/office/drawing/2014/main" id="{8FF22D26-14EA-4E7D-ADF6-3BA15B03BAA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79E27CF-717B-46EE-8882-4FBBF4EAB358}"/>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397361854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40EE30-453E-4CC3-9FA1-A5F76DA528D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CA03809-8A39-4A66-90B7-3B26BE2EAC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6C9916DE-EBF9-4E71-AB40-5900C6946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44FB564-C813-4605-AFCC-61F5E0CBC4A6}"/>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31A300A5-6C61-4BB6-A5EE-035AEE81BB9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33DF4E7-CD60-4A1E-B58D-EEF80D6A90D9}"/>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337057274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863BD-C10B-4669-9BB2-BBF1203B0B4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3DC9E9D-5B87-4562-BED2-CC2D90440E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32347CB-3B11-404C-915D-BE156CEED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5A02A7D-6AB2-4122-93EB-05385D96747B}"/>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3CDD0E8C-EA6C-4E9D-9905-AFA6372E15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BCCB704-BBF9-4860-ABBC-F9354A0A52EF}"/>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57444165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D79087-5D75-445D-B395-6FBD4C108F2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583A2BF-3A3A-4849-9B9D-45CA0A89983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CC508B4-3EB3-479B-9BCD-BC45FCF149B1}"/>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ACF1D20D-506B-4586-BC45-9B8AAD9B74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75B1D8-5A39-4F53-82D8-E4A3BB6BD2BC}"/>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144928097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A93DB20-550D-4D1C-9F1C-AD6758D4E02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BEC163D-979A-4849-B1B9-48AE30F4B23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EA5D424-6A14-441C-BE13-6E4D5285736C}"/>
              </a:ext>
            </a:extLst>
          </p:cNvPr>
          <p:cNvSpPr>
            <a:spLocks noGrp="1"/>
          </p:cNvSpPr>
          <p:nvPr>
            <p:ph type="dt" sz="half" idx="10"/>
          </p:nvPr>
        </p:nvSpPr>
        <p:spPr/>
        <p:txBody>
          <a:bodyPr/>
          <a:lstStyle/>
          <a:p>
            <a:fld id="{C6628B83-7438-4C47-A8A2-198295EA563D}"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E7611BC8-C917-4591-8A89-020F4708E7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5B288E-F546-4830-A198-EC87E5CB815B}"/>
              </a:ext>
            </a:extLst>
          </p:cNvPr>
          <p:cNvSpPr>
            <a:spLocks noGrp="1"/>
          </p:cNvSpPr>
          <p:nvPr>
            <p:ph type="sldNum" sz="quarter" idx="12"/>
          </p:nvPr>
        </p:nvSpPr>
        <p:spPr/>
        <p:txBody>
          <a:bodyPr/>
          <a:lstStyle/>
          <a:p>
            <a:fld id="{080F2971-B74E-4A4B-A77E-EDAC2DDC4734}" type="slidenum">
              <a:rPr lang="zh-CN" altLang="en-US" smtClean="0"/>
              <a:t>‹#›</a:t>
            </a:fld>
            <a:endParaRPr lang="zh-CN" altLang="en-US"/>
          </a:p>
        </p:txBody>
      </p:sp>
    </p:spTree>
    <p:extLst>
      <p:ext uri="{BB962C8B-B14F-4D97-AF65-F5344CB8AC3E}">
        <p14:creationId xmlns:p14="http://schemas.microsoft.com/office/powerpoint/2010/main" val="404558060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CEFC18-4CE9-4C8E-8ACA-FF234D4772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0DBDE49-3B04-4116-AD15-A1BB98E186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8A194E5-E5DF-4929-8737-43DE3681F22C}"/>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1C49D699-C57B-4CCC-BC92-5FBF817BB0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C3470E-3D6F-4C0B-ACDD-58864BD0BD4A}"/>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35245543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CCE09C-2BCD-4DFA-A383-7E469F1743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C2651D-94CE-46CA-A7E6-C131BBA6E29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BD7722-3777-4C7B-9884-766EFBAE2BEA}"/>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5594F8D4-4D97-492E-8C03-AD599CA1BF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23E43F-A1B3-4D0E-B9FE-8724F1F19B7E}"/>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57126511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46AEA8-69FB-485A-A6D0-E923966E827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FB1D528-887B-412B-8B8C-4441B200E8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AFA57418-F816-4A26-8C05-FF222BF7533D}"/>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1C65DB5E-F6E8-4E1A-BD92-61DC5DE363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CB86CB-121B-451C-8219-63DA4D0DC72C}"/>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383407822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63EE7-FFD3-4617-B36A-63D6F2B6996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D82208-45FC-4B37-8A1D-C938BF1FEDFB}"/>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9C5EB85-D9F5-4238-A87C-205868F1CAA2}"/>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A635A684-B774-45AB-AFC7-92205C297FA3}"/>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3078E007-EAA1-491E-BB59-F834B57D9AE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091F0B0-476C-42FC-B405-0C2098443EE7}"/>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21037967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22301-8C5D-4CC5-8F57-89E19AACA00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2F24CCF-5D82-4EA6-8BF9-0F707193A1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DBD1FBCD-58F4-414E-BC3B-FDB429108C29}"/>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7C1B5E-51FC-448E-A32F-32045D0946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4A6E68BD-0BB0-4394-9EB9-0351956273B5}"/>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B205475B-B795-4928-A2D2-B107C09FC159}"/>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8" name="页脚占位符 7">
            <a:extLst>
              <a:ext uri="{FF2B5EF4-FFF2-40B4-BE49-F238E27FC236}">
                <a16:creationId xmlns:a16="http://schemas.microsoft.com/office/drawing/2014/main" id="{18BEAA93-AFF5-478C-8DAF-297B31515C3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7A2D653-EC33-423C-9B0F-43DA0D78FA5A}"/>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10543034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E01F7-6B9B-411F-BCC0-A6F86D3C949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3307A42-B131-47ED-8D08-45FA2994985F}"/>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4" name="页脚占位符 3">
            <a:extLst>
              <a:ext uri="{FF2B5EF4-FFF2-40B4-BE49-F238E27FC236}">
                <a16:creationId xmlns:a16="http://schemas.microsoft.com/office/drawing/2014/main" id="{A64A2AC2-E339-4126-8E6B-FEFD07D6CD0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073F1B6-CE21-4298-B1FD-CD3038ED2D46}"/>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57852833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B3AE505-5568-4E21-81CD-F88E219B6DC0}"/>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3" name="页脚占位符 2">
            <a:extLst>
              <a:ext uri="{FF2B5EF4-FFF2-40B4-BE49-F238E27FC236}">
                <a16:creationId xmlns:a16="http://schemas.microsoft.com/office/drawing/2014/main" id="{AF791C6E-914F-4DE1-B714-906EF53B5D3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D6BF35A-F9D1-4548-80F8-71C6DFC7F8CF}"/>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9303093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63D78B-4C2E-4898-A409-193E018894B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5D312BD-D512-4762-AB25-901CB9DEAB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1DC32ED9-DB75-4D1A-A799-8895A7E05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3C95EAC4-27A9-4520-9ED5-50FC49418832}"/>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9A4DB333-E9FF-419D-BB97-16B2D1C4DC3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974F1E6-A4B6-4C1A-8EBC-2249C6CCD8E1}"/>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90927627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BBD14-46EE-49E0-A1B6-316931EB72F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774F9AE-7733-4EA8-853C-FE5F86461E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6FB200A-88C7-4F2F-99BA-35224A1AD7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F7FA795-E3CF-4B15-A0CB-0C88490A3032}"/>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94D2B61E-C123-468D-8640-393FEB62BD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BEEEF4-48B8-4C6D-BD6C-9005A9516C3F}"/>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61758724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87CEBC-9D48-411C-B14D-58A75EC7D36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CA57A1F-C394-4B7A-B8D7-9EBE199BE88A}"/>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BD3550C-DA01-4B7C-B5A0-35AF3B05FCA1}"/>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599BC8BC-3107-432F-9E3B-49B1A44095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70B260-5520-4AFC-9454-DA4A8DC40CB1}"/>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399711117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60DD682-22AD-4207-8CA9-97405FA5B7D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CBAA5E3-684C-4474-830C-956B65B1B27F}"/>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CBC17E-8028-4B37-933D-EACDC91F68D2}"/>
              </a:ext>
            </a:extLst>
          </p:cNvPr>
          <p:cNvSpPr>
            <a:spLocks noGrp="1"/>
          </p:cNvSpPr>
          <p:nvPr>
            <p:ph type="dt" sz="half" idx="10"/>
          </p:nvPr>
        </p:nvSpPr>
        <p:spPr/>
        <p:txBody>
          <a:bodyPr/>
          <a:lstStyle/>
          <a:p>
            <a:fld id="{2A21806D-6D9F-4875-BB71-62FBA3FF92F3}"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391D11CC-D66C-474B-8F30-DCB786576F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DBB461-A85E-4454-B6A1-C6EB62857675}"/>
              </a:ext>
            </a:extLst>
          </p:cNvPr>
          <p:cNvSpPr>
            <a:spLocks noGrp="1"/>
          </p:cNvSpPr>
          <p:nvPr>
            <p:ph type="sldNum" sz="quarter" idx="12"/>
          </p:nvPr>
        </p:nvSpPr>
        <p:spPr/>
        <p:txBody>
          <a:bodyPr/>
          <a:lstStyle/>
          <a:p>
            <a:fld id="{1310A8E5-50CC-4DCC-B633-9691C3220077}" type="slidenum">
              <a:rPr lang="zh-CN" altLang="en-US" smtClean="0"/>
              <a:t>‹#›</a:t>
            </a:fld>
            <a:endParaRPr lang="zh-CN" altLang="en-US"/>
          </a:p>
        </p:txBody>
      </p:sp>
    </p:spTree>
    <p:extLst>
      <p:ext uri="{BB962C8B-B14F-4D97-AF65-F5344CB8AC3E}">
        <p14:creationId xmlns:p14="http://schemas.microsoft.com/office/powerpoint/2010/main" val="116312811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EAE7CE-B2B4-4A1E-BC0F-FBBE7032819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BAF242F-17E1-4858-AED8-BE2B2E9D91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FBCBE38-124A-4B30-BEDE-63D944AC647E}"/>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2CFDA26C-BDDF-4AF0-ADC7-C7430968FA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C411B9-E1AA-40E1-8DEB-548C59DEBA9A}"/>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149666350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E9083-765B-4455-A920-A7BF31BBAE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A9D7C5D-1B2E-4138-BBBB-D11A4D289739}"/>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390D375-E174-4581-BA7A-505398C80D1B}"/>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32393AFA-30E7-4419-9E04-929EEF8486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FCBF63E-A9CC-4002-A522-E863D6D63143}"/>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310754525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EDA0A4-8ACC-4CEF-86FA-CF44D85FF96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AA1CA6C-63BD-461A-B75F-275D7FD5B2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2586B21-FB1D-4A4E-BD31-15E458E850E7}"/>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1064015D-F195-4736-B9EF-C20D4A2635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469163-C502-4197-B699-A78A9B9B03D8}"/>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287916325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61CC8-6CB8-4846-84D1-5080EFE9DC1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157C31-8500-481E-AC38-13E5CAD5458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14D100E-7AA2-4DEF-B40A-9A0F98EB5D10}"/>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AE085B7E-BF04-440D-B291-61202B4822B6}"/>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4E272F51-2BDF-4D18-9F73-D91E94B085A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C0C5BA-CE85-442B-96A4-227FD3136A0C}"/>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157567285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3BDDF-2603-49AA-8864-5D688B39C3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05AE646-1511-4CBC-BA0E-E9002DB4EA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B8F0E74A-D9D1-42FB-B592-FB68EE40293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4016BA2D-9D17-4198-8E37-592BF1FE4E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866046A-4353-4205-A2AD-A50ADC215FF3}"/>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7EAF3CB1-1CE1-480C-B1D3-A2455AFA024A}"/>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8" name="页脚占位符 7">
            <a:extLst>
              <a:ext uri="{FF2B5EF4-FFF2-40B4-BE49-F238E27FC236}">
                <a16:creationId xmlns:a16="http://schemas.microsoft.com/office/drawing/2014/main" id="{AF6D3DF1-2754-4496-B331-932BEB04F0A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629C8B-A81C-454D-9CE5-3D92138FC68C}"/>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99279662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9812FB-16E6-49FB-8EBD-32AFBDFEF12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83F0920-86FD-4A63-B12E-487F9FD55C41}"/>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4" name="页脚占位符 3">
            <a:extLst>
              <a:ext uri="{FF2B5EF4-FFF2-40B4-BE49-F238E27FC236}">
                <a16:creationId xmlns:a16="http://schemas.microsoft.com/office/drawing/2014/main" id="{C1A51486-212D-4ADF-8614-470509DEF81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2D8A0E0-89DB-4905-B779-5703F0D0151E}"/>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46532798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C2E19D2-4E9E-4C8E-911B-AE0D64DF2ABE}"/>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3" name="页脚占位符 2">
            <a:extLst>
              <a:ext uri="{FF2B5EF4-FFF2-40B4-BE49-F238E27FC236}">
                <a16:creationId xmlns:a16="http://schemas.microsoft.com/office/drawing/2014/main" id="{981EA290-4DBF-4F57-B7C8-55F0D4F6E2D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EAD5228-9728-4FAE-A1AE-D91454569DF1}"/>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73920165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D79B69-D3DF-4D57-86EF-39D88340A47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E4331B6-DA2D-4174-AA6D-FC96E6EB02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2FABDB5C-A5C5-4A2A-9353-19C6AC22F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A97D943-3DFA-4AEE-B480-EDD3FBBD59B7}"/>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0AAFEBDF-0B98-4B29-8816-6BDEAAB1079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69DDE2D-1467-443D-95AD-24636D2CDB64}"/>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406873610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6544F-D299-41C6-AD4E-0279D412A0D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D4C11A0-C6AC-4AF2-B5AE-F5D4BA8980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0DDB2C9-AD50-4D06-BDD8-7E5E4AB4F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D1EB0E4-4EC4-4A42-A098-1B90F0480354}"/>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C7EE5A3F-B3A6-46EB-A5B0-1BF5200F50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831B6AA-1C17-4EC6-91D0-57494533B686}"/>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102976517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36D1D-9A0E-4793-BD5B-6055C658BD4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5C7CF5F-FF98-4C3B-9806-4D3929AAACC5}"/>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916F8F6-4B99-49F9-A9BF-51F974A7AB0A}"/>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65B49089-276B-4526-8EEF-FD78D2248C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ED2CBF9-0EB6-4552-A727-208032689265}"/>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3286551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22FDB46-B1F9-4A11-A2BC-E162FAB7E95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03D3A43-07A9-4C41-BA8A-C7C90DA1C633}"/>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CA384C9-CCBC-4442-9E2D-E93032EFE5BD}"/>
              </a:ext>
            </a:extLst>
          </p:cNvPr>
          <p:cNvSpPr>
            <a:spLocks noGrp="1"/>
          </p:cNvSpPr>
          <p:nvPr>
            <p:ph type="dt" sz="half" idx="10"/>
          </p:nvPr>
        </p:nvSpPr>
        <p:spPr/>
        <p:txBody>
          <a:bodyPr/>
          <a:lstStyle/>
          <a:p>
            <a:fld id="{6CC27778-C868-4983-9AE1-40DCCCFF70B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9337FC81-43A1-42AF-B144-EA3A12A35D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480F0A9-006F-4497-8000-0938743CA28B}"/>
              </a:ext>
            </a:extLst>
          </p:cNvPr>
          <p:cNvSpPr>
            <a:spLocks noGrp="1"/>
          </p:cNvSpPr>
          <p:nvPr>
            <p:ph type="sldNum" sz="quarter" idx="12"/>
          </p:nvPr>
        </p:nvSpPr>
        <p:spPr/>
        <p:txBody>
          <a:bodyPr/>
          <a:lstStyle/>
          <a:p>
            <a:fld id="{64C72C63-21BB-4AC3-ADFD-BBD0BEC80CEB}" type="slidenum">
              <a:rPr lang="zh-CN" altLang="en-US" smtClean="0"/>
              <a:t>‹#›</a:t>
            </a:fld>
            <a:endParaRPr lang="zh-CN" altLang="en-US"/>
          </a:p>
        </p:txBody>
      </p:sp>
    </p:spTree>
    <p:extLst>
      <p:ext uri="{BB962C8B-B14F-4D97-AF65-F5344CB8AC3E}">
        <p14:creationId xmlns:p14="http://schemas.microsoft.com/office/powerpoint/2010/main" val="210344248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A3FFD-E5ED-4BDB-9066-C5660C198D6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B95FB11-EB40-4BEA-83A3-A3B0B1B8C8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EB1EC4A-02FB-4F58-83E6-6124D5371107}"/>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48EF6004-DF30-42B6-9FF0-DBB42A30C9D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43DC2D-F899-4CF3-AC74-FDBACB224C27}"/>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333193571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B58A0-D5D5-4948-A71C-53801B44A20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D22657C-C4E2-4F0A-82E9-E5008661A63B}"/>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19EB2F-1933-44C6-851B-439388369D2B}"/>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98E76340-BBC3-4A08-8432-7515907EAE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28A62D-0122-4881-A876-374F0023A45E}"/>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238744006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C17B41-DBA2-49A3-9264-766782F914F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8EF98CA-7C8E-49C8-A6B9-1506DF31C5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9D8FC291-49BA-4B3F-9C72-6B78635D9552}"/>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C66BC463-7ADB-4B25-AD33-CE6858D33B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19A6B9-7206-4769-B808-F7C012F2942B}"/>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234371071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83C286-2E36-4D8F-B3D8-1569FA0E4D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4AD50CA-F48A-49B8-BFAE-7BD6A3D71F5A}"/>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2E25A94-7DFD-47FF-9A9A-4795A569F69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F57E8ECA-B58B-4459-B205-35BEC87174A3}"/>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230260D2-60EC-48D3-8370-09DB07E7B1C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7C30A1C-5E8C-4779-9FAD-8A7FBF975FC2}"/>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250201275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78EC31-750B-4E88-A0EA-5A7FED553F5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740185F-27B2-4447-8DF5-478FCC1E52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486785DE-A085-4AAE-B3F0-F6CC83857EF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1572B07A-1621-4942-9BB8-1F3F25C9C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8193E850-214C-47E9-A661-84417E2167E5}"/>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F1F1919-37E5-484A-A222-472D50ECE3E1}"/>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8" name="页脚占位符 7">
            <a:extLst>
              <a:ext uri="{FF2B5EF4-FFF2-40B4-BE49-F238E27FC236}">
                <a16:creationId xmlns:a16="http://schemas.microsoft.com/office/drawing/2014/main" id="{8EF1A3AC-4074-4EA2-8580-ED2B666438D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11EE1C5-7C5C-432E-9F86-9241176AC97E}"/>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199508897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F97AD-B7EA-4177-AE99-65839DC82D6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3FD492D-1B16-40FC-A4FE-0F2968026F80}"/>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4" name="页脚占位符 3">
            <a:extLst>
              <a:ext uri="{FF2B5EF4-FFF2-40B4-BE49-F238E27FC236}">
                <a16:creationId xmlns:a16="http://schemas.microsoft.com/office/drawing/2014/main" id="{18ED931F-8ABE-4A05-8398-A6C3B0D29FB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D3D4ED2-0541-4D6F-98C3-7D8A37D679D7}"/>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215394338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1CDC3B1-305E-4855-B500-BAC08CC24952}"/>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3" name="页脚占位符 2">
            <a:extLst>
              <a:ext uri="{FF2B5EF4-FFF2-40B4-BE49-F238E27FC236}">
                <a16:creationId xmlns:a16="http://schemas.microsoft.com/office/drawing/2014/main" id="{C457E8CF-5EA2-4A4D-A70D-F0785D7F7AB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F487BEB-A460-4CE0-A8A2-A0D1AF842517}"/>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45972539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C47B2F-8CC4-4AC4-A028-EF5292A8E6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79708BF-76C9-4A04-9D87-74AB13E3C8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1F4C813-D377-438F-B16D-940C44A697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CB91392-9FF3-41B5-BE4E-E7B99EE93E0A}"/>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51B2D285-076E-4F01-B877-FF274A2FC01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A0A501-B03E-49AC-994D-B182B331FF0F}"/>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162937742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300CB2-A1A0-46E4-8E0F-1087F6CB1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2D561D9-7901-4249-AF8D-1CB0FA8E3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0BF7A93-1FC8-4526-A537-086C66D8B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C3561FE-A38A-4497-A431-23C26AE6D712}"/>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6" name="页脚占位符 5">
            <a:extLst>
              <a:ext uri="{FF2B5EF4-FFF2-40B4-BE49-F238E27FC236}">
                <a16:creationId xmlns:a16="http://schemas.microsoft.com/office/drawing/2014/main" id="{ABA0A425-4993-42BD-827A-D9C6BE647B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4E78827-1EC2-45E5-A613-612EED954540}"/>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321011610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D9B06-C2F9-4604-B574-7245AFA6186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2C0F6EC-E3C7-48BE-BA28-06E383F74DCC}"/>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4E25AA6-B4C8-4DA3-9121-656502C46103}"/>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6CB708BF-E08C-45DF-B23D-D779C19FB2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95FE25D-86F8-4723-AA12-6CF80068EF0B}"/>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156040838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EF4521-B3D5-4A31-B15E-B0DFF3AFC9E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D0FECB4-7836-4DAD-962C-C65CE0B5888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0F26D81-9A11-4F4C-A618-C12428A601DA}"/>
              </a:ext>
            </a:extLst>
          </p:cNvPr>
          <p:cNvSpPr>
            <a:spLocks noGrp="1"/>
          </p:cNvSpPr>
          <p:nvPr>
            <p:ph type="dt" sz="half" idx="10"/>
          </p:nvPr>
        </p:nvSpPr>
        <p:spPr/>
        <p:txBody>
          <a:bodyPr/>
          <a:lstStyle/>
          <a:p>
            <a:fld id="{CD8682E5-6889-4D71-9A08-95DA3A63756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F9E08468-B19A-4536-A0C8-897EC85F32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DB3696-F329-48B9-AE69-93C1763DB981}"/>
              </a:ext>
            </a:extLst>
          </p:cNvPr>
          <p:cNvSpPr>
            <a:spLocks noGrp="1"/>
          </p:cNvSpPr>
          <p:nvPr>
            <p:ph type="sldNum" sz="quarter" idx="12"/>
          </p:nvPr>
        </p:nvSpPr>
        <p:spPr/>
        <p:txBody>
          <a:bodyPr/>
          <a:lstStyle/>
          <a:p>
            <a:fld id="{F14CD762-760C-4A7B-A895-7121F8EE777F}" type="slidenum">
              <a:rPr lang="zh-CN" altLang="en-US" smtClean="0"/>
              <a:t>‹#›</a:t>
            </a:fld>
            <a:endParaRPr lang="zh-CN" altLang="en-US"/>
          </a:p>
        </p:txBody>
      </p:sp>
    </p:spTree>
    <p:extLst>
      <p:ext uri="{BB962C8B-B14F-4D97-AF65-F5344CB8AC3E}">
        <p14:creationId xmlns:p14="http://schemas.microsoft.com/office/powerpoint/2010/main" val="336872649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914400"/>
            <a:fld id="{2E3AAC11-D570-4EA9-AFC0-30FB72BA45EB}" type="datetimeFigureOut">
              <a:rPr lang="zh-CN" altLang="en-US" smtClean="0">
                <a:solidFill>
                  <a:prstClr val="black"/>
                </a:solidFill>
              </a:rPr>
              <a:pPr defTabSz="914400"/>
              <a:t>2024/6/3</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914400"/>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914400"/>
            <a:fld id="{55ECCFAA-F4FB-487C-9F1E-C8836D0C3DC9}" type="slidenum">
              <a:rPr lang="zh-CN" altLang="en-US" smtClean="0">
                <a:solidFill>
                  <a:prstClr val="black"/>
                </a:solidFill>
              </a:rPr>
              <a:pPr defTabSz="914400"/>
              <a:t>‹#›</a:t>
            </a:fld>
            <a:endParaRPr lang="zh-CN" altLang="en-US">
              <a:solidFill>
                <a:prstClr val="black"/>
              </a:solidFill>
            </a:endParaRPr>
          </a:p>
        </p:txBody>
      </p:sp>
    </p:spTree>
    <p:extLst>
      <p:ext uri="{BB962C8B-B14F-4D97-AF65-F5344CB8AC3E}">
        <p14:creationId xmlns:p14="http://schemas.microsoft.com/office/powerpoint/2010/main" val="15090957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914400"/>
            <a:fld id="{2E3AAC11-D570-4EA9-AFC0-30FB72BA45EB}" type="datetimeFigureOut">
              <a:rPr lang="zh-CN" altLang="en-US" smtClean="0">
                <a:solidFill>
                  <a:prstClr val="black"/>
                </a:solidFill>
              </a:rPr>
              <a:pPr defTabSz="914400"/>
              <a:t>2024/6/3</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914400"/>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914400"/>
            <a:fld id="{55ECCFAA-F4FB-487C-9F1E-C8836D0C3DC9}" type="slidenum">
              <a:rPr lang="zh-CN" altLang="en-US" smtClean="0">
                <a:solidFill>
                  <a:prstClr val="black"/>
                </a:solidFill>
              </a:rPr>
              <a:pPr defTabSz="914400"/>
              <a:t>‹#›</a:t>
            </a:fld>
            <a:endParaRPr lang="zh-CN" altLang="en-US">
              <a:solidFill>
                <a:prstClr val="black"/>
              </a:solidFill>
            </a:endParaRPr>
          </a:p>
        </p:txBody>
      </p:sp>
    </p:spTree>
    <p:extLst>
      <p:ext uri="{BB962C8B-B14F-4D97-AF65-F5344CB8AC3E}">
        <p14:creationId xmlns:p14="http://schemas.microsoft.com/office/powerpoint/2010/main" val="26652680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5613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61.xml"/><Relationship Id="rId2" Type="http://schemas.openxmlformats.org/officeDocument/2006/relationships/slideLayout" Target="../slideLayouts/slideLayout60.xml"/><Relationship Id="rId1" Type="http://schemas.openxmlformats.org/officeDocument/2006/relationships/slideLayout" Target="../slideLayouts/slideLayout59.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D09C89-1EF7-456A-BB8A-F38A54B31343}" type="datetimeFigureOut">
              <a:rPr lang="zh-CN" altLang="en-US" smtClean="0"/>
              <a:t>2024/6/3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D287A2-4003-442B-8D9A-1579E33951D3}" type="slidenum">
              <a:rPr lang="zh-CN" altLang="en-US" smtClean="0"/>
              <a:t>‹#›</a:t>
            </a:fld>
            <a:endParaRPr lang="zh-CN" altLang="en-US"/>
          </a:p>
        </p:txBody>
      </p:sp>
    </p:spTree>
    <p:extLst>
      <p:ext uri="{BB962C8B-B14F-4D97-AF65-F5344CB8AC3E}">
        <p14:creationId xmlns:p14="http://schemas.microsoft.com/office/powerpoint/2010/main" val="148740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732" r:id="rId6"/>
    <p:sldLayoutId id="2147483678" r:id="rId7"/>
    <p:sldLayoutId id="2147483679" r:id="rId8"/>
    <p:sldLayoutId id="2147483680" r:id="rId9"/>
    <p:sldLayoutId id="2147483681" r:id="rId10"/>
    <p:sldLayoutId id="2147483682" r:id="rId11"/>
    <p:sldLayoutId id="2147483683" r:id="rId12"/>
    <p:sldLayoutId id="2147483654" r:id="rId13"/>
    <p:sldLayoutId id="2147483655" r:id="rId14"/>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069AC04-D96E-4E42-BC91-3188379E55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5BD5606-4108-47EA-A87C-0B84A5C78F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0509BA5-D369-4775-907C-7BF1EAD7A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628B83-7438-4C47-A8A2-198295EA563D}"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9848BEB6-093D-4717-936A-8E4DA8BD0F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D01104A-6959-418B-A1D9-438C0FB59B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0F2971-B74E-4A4B-A77E-EDAC2DDC4734}" type="slidenum">
              <a:rPr lang="zh-CN" altLang="en-US" smtClean="0"/>
              <a:t>‹#›</a:t>
            </a:fld>
            <a:endParaRPr lang="zh-CN" altLang="en-US"/>
          </a:p>
        </p:txBody>
      </p:sp>
      <p:sp>
        <p:nvSpPr>
          <p:cNvPr id="8" name="文本框 7">
            <a:extLst>
              <a:ext uri="{FF2B5EF4-FFF2-40B4-BE49-F238E27FC236}">
                <a16:creationId xmlns:a16="http://schemas.microsoft.com/office/drawing/2014/main" id="{5CD3BB11-253B-4F8D-97C3-29D7C02997A6}"/>
              </a:ext>
            </a:extLst>
          </p:cNvPr>
          <p:cNvSpPr txBox="1"/>
          <p:nvPr/>
        </p:nvSpPr>
        <p:spPr>
          <a:xfrm flipH="1">
            <a:off x="1055325" y="401306"/>
            <a:ext cx="3351118" cy="338554"/>
          </a:xfrm>
          <a:prstGeom prst="rect">
            <a:avLst/>
          </a:prstGeom>
          <a:noFill/>
        </p:spPr>
        <p:txBody>
          <a:bodyPr wrap="square" rtlCol="0">
            <a:spAutoFit/>
          </a:bodyPr>
          <a:lstStyle/>
          <a:p>
            <a:r>
              <a:rPr lang="zh-CN" altLang="en-US" sz="1600" dirty="0">
                <a:solidFill>
                  <a:srgbClr val="002060"/>
                </a:solidFill>
                <a:latin typeface="思源黑体 CN Normal" panose="020B0400000000000000" pitchFamily="34" charset="-122"/>
                <a:ea typeface="思源黑体 CN Normal" panose="020B0400000000000000" pitchFamily="34" charset="-122"/>
              </a:rPr>
              <a:t>项目介绍概述 </a:t>
            </a:r>
            <a:r>
              <a:rPr lang="en-US" altLang="zh-CN" sz="1200" dirty="0">
                <a:solidFill>
                  <a:srgbClr val="002060"/>
                </a:solidFill>
                <a:latin typeface="思源黑体 CN Normal" panose="020B0400000000000000" pitchFamily="34" charset="-122"/>
                <a:ea typeface="思源黑体 CN Normal" panose="020B0400000000000000" pitchFamily="34" charset="-122"/>
              </a:rPr>
              <a:t>Project introduction</a:t>
            </a:r>
            <a:endParaRPr lang="zh-CN" altLang="en-US" sz="1200" dirty="0">
              <a:solidFill>
                <a:srgbClr val="002060"/>
              </a:solidFill>
              <a:latin typeface="思源黑体 CN Normal" panose="020B0400000000000000" pitchFamily="34" charset="-122"/>
              <a:ea typeface="思源黑体 CN Normal" panose="020B0400000000000000" pitchFamily="34" charset="-122"/>
            </a:endParaRPr>
          </a:p>
        </p:txBody>
      </p:sp>
      <p:sp>
        <p:nvSpPr>
          <p:cNvPr id="11" name="矩形 10">
            <a:extLst>
              <a:ext uri="{FF2B5EF4-FFF2-40B4-BE49-F238E27FC236}">
                <a16:creationId xmlns:a16="http://schemas.microsoft.com/office/drawing/2014/main" id="{899AAF42-C07F-4F5E-AB03-BC178A69DC35}"/>
              </a:ext>
            </a:extLst>
          </p:cNvPr>
          <p:cNvSpPr/>
          <p:nvPr userDrawn="1"/>
        </p:nvSpPr>
        <p:spPr>
          <a:xfrm>
            <a:off x="1" y="379859"/>
            <a:ext cx="695324" cy="360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538D00F5-06D7-463D-856D-9FECEB54E835}"/>
              </a:ext>
            </a:extLst>
          </p:cNvPr>
          <p:cNvGrpSpPr/>
          <p:nvPr userDrawn="1"/>
        </p:nvGrpSpPr>
        <p:grpSpPr>
          <a:xfrm>
            <a:off x="695325" y="379860"/>
            <a:ext cx="360000" cy="360000"/>
            <a:chOff x="695325" y="379860"/>
            <a:chExt cx="360000" cy="360000"/>
          </a:xfrm>
        </p:grpSpPr>
        <p:sp>
          <p:nvSpPr>
            <p:cNvPr id="9" name="矩形 8">
              <a:extLst>
                <a:ext uri="{FF2B5EF4-FFF2-40B4-BE49-F238E27FC236}">
                  <a16:creationId xmlns:a16="http://schemas.microsoft.com/office/drawing/2014/main" id="{7D037D59-2406-4B2F-82BD-1C41310F32F9}"/>
                </a:ext>
              </a:extLst>
            </p:cNvPr>
            <p:cNvSpPr/>
            <p:nvPr/>
          </p:nvSpPr>
          <p:spPr>
            <a:xfrm>
              <a:off x="695325" y="379860"/>
              <a:ext cx="360000" cy="360000"/>
            </a:xfrm>
            <a:prstGeom prst="rect">
              <a:avLst/>
            </a:prstGeom>
            <a:solidFill>
              <a:srgbClr val="00206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6EF7C5A0-3742-4116-98F5-5DAA984F2FAF}"/>
                </a:ext>
              </a:extLst>
            </p:cNvPr>
            <p:cNvSpPr txBox="1"/>
            <p:nvPr/>
          </p:nvSpPr>
          <p:spPr>
            <a:xfrm>
              <a:off x="695325" y="421361"/>
              <a:ext cx="360000" cy="276999"/>
            </a:xfrm>
            <a:prstGeom prst="rect">
              <a:avLst/>
            </a:prstGeom>
            <a:noFill/>
          </p:spPr>
          <p:txBody>
            <a:bodyPr wrap="square" rtlCol="0">
              <a:spAutoFit/>
            </a:bodyPr>
            <a:lstStyle/>
            <a:p>
              <a:pPr algn="ctr"/>
              <a:r>
                <a:rPr lang="en-US" altLang="zh-CN" sz="1200" dirty="0">
                  <a:solidFill>
                    <a:schemeClr val="bg1"/>
                  </a:solidFill>
                  <a:latin typeface="思源黑体 CN Normal" panose="020B0400000000000000" pitchFamily="34" charset="-122"/>
                  <a:ea typeface="思源黑体 CN Normal" panose="020B0400000000000000" pitchFamily="34" charset="-122"/>
                </a:rPr>
                <a:t>01</a:t>
              </a:r>
            </a:p>
          </p:txBody>
        </p:sp>
      </p:grpSp>
    </p:spTree>
    <p:extLst>
      <p:ext uri="{BB962C8B-B14F-4D97-AF65-F5344CB8AC3E}">
        <p14:creationId xmlns:p14="http://schemas.microsoft.com/office/powerpoint/2010/main" val="41075205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250" fill="hold"/>
                                        <p:tgtEl>
                                          <p:spTgt spid="12"/>
                                        </p:tgtEl>
                                        <p:attrNameLst>
                                          <p:attrName>ppt_x</p:attrName>
                                        </p:attrNameLst>
                                      </p:cBhvr>
                                      <p:tavLst>
                                        <p:tav tm="0">
                                          <p:val>
                                            <p:strVal val="0-#ppt_w/2"/>
                                          </p:val>
                                        </p:tav>
                                        <p:tav tm="100000">
                                          <p:val>
                                            <p:strVal val="#ppt_x"/>
                                          </p:val>
                                        </p:tav>
                                      </p:tavLst>
                                    </p:anim>
                                    <p:anim calcmode="lin" valueType="num">
                                      <p:cBhvr additive="base">
                                        <p:cTn id="8" dur="125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fill="hold"/>
                                        <p:tgtEl>
                                          <p:spTgt spid="8"/>
                                        </p:tgtEl>
                                        <p:attrNameLst>
                                          <p:attrName>ppt_x</p:attrName>
                                        </p:attrNameLst>
                                      </p:cBhvr>
                                      <p:tavLst>
                                        <p:tav tm="0">
                                          <p:val>
                                            <p:strVal val="0-#ppt_w/2"/>
                                          </p:val>
                                        </p:tav>
                                        <p:tav tm="100000">
                                          <p:val>
                                            <p:strVal val="#ppt_x"/>
                                          </p:val>
                                        </p:tav>
                                      </p:tavLst>
                                    </p:anim>
                                    <p:anim calcmode="lin" valueType="num">
                                      <p:cBhvr additive="base">
                                        <p:cTn id="12" dur="2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35B349E-74DC-4353-A9A1-BD98BA12D9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C08C071-61EF-4D8C-8BE4-EA73F3FE5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C4966E0-9A21-47D5-B3D7-DCD6FD24E5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21806D-6D9F-4875-BB71-62FBA3FF92F3}"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3D1A0E91-09C2-4D8C-8BCE-44396D1D4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2E111EB-471B-45C9-A4F9-35D41C4AF8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10A8E5-50CC-4DCC-B633-9691C3220077}" type="slidenum">
              <a:rPr lang="zh-CN" altLang="en-US" smtClean="0"/>
              <a:t>‹#›</a:t>
            </a:fld>
            <a:endParaRPr lang="zh-CN" altLang="en-US"/>
          </a:p>
        </p:txBody>
      </p:sp>
      <p:sp>
        <p:nvSpPr>
          <p:cNvPr id="8" name="文本框 7">
            <a:extLst>
              <a:ext uri="{FF2B5EF4-FFF2-40B4-BE49-F238E27FC236}">
                <a16:creationId xmlns:a16="http://schemas.microsoft.com/office/drawing/2014/main" id="{74B76DD4-1DF0-48C9-B48C-5930F0FCF48F}"/>
              </a:ext>
            </a:extLst>
          </p:cNvPr>
          <p:cNvSpPr txBox="1"/>
          <p:nvPr userDrawn="1"/>
        </p:nvSpPr>
        <p:spPr>
          <a:xfrm flipH="1">
            <a:off x="1055324" y="401306"/>
            <a:ext cx="3895047" cy="338554"/>
          </a:xfrm>
          <a:prstGeom prst="rect">
            <a:avLst/>
          </a:prstGeom>
          <a:noFill/>
        </p:spPr>
        <p:txBody>
          <a:bodyPr wrap="square" rtlCol="0">
            <a:spAutoFit/>
          </a:bodyPr>
          <a:lstStyle/>
          <a:p>
            <a:r>
              <a:rPr lang="zh-CN" altLang="en-US" sz="1600" dirty="0">
                <a:solidFill>
                  <a:srgbClr val="002060"/>
                </a:solidFill>
                <a:latin typeface="思源黑体 CN Normal" panose="020B0400000000000000" pitchFamily="34" charset="-122"/>
                <a:ea typeface="思源黑体 CN Normal" panose="020B0400000000000000" pitchFamily="34" charset="-122"/>
              </a:rPr>
              <a:t>项目运营展示 </a:t>
            </a:r>
            <a:r>
              <a:rPr lang="en-US" altLang="zh-CN" sz="1200" dirty="0">
                <a:solidFill>
                  <a:srgbClr val="002060"/>
                </a:solidFill>
                <a:latin typeface="思源黑体 CN Normal" panose="020B0400000000000000" pitchFamily="34" charset="-122"/>
                <a:ea typeface="思源黑体 CN Normal" panose="020B0400000000000000" pitchFamily="34" charset="-122"/>
              </a:rPr>
              <a:t>Project operation demonstration</a:t>
            </a:r>
            <a:endParaRPr lang="zh-CN" altLang="en-US" sz="1200" dirty="0">
              <a:solidFill>
                <a:srgbClr val="002060"/>
              </a:solidFill>
              <a:latin typeface="思源黑体 CN Normal" panose="020B0400000000000000" pitchFamily="34" charset="-122"/>
              <a:ea typeface="思源黑体 CN Normal" panose="020B0400000000000000" pitchFamily="34" charset="-122"/>
            </a:endParaRPr>
          </a:p>
        </p:txBody>
      </p:sp>
      <p:sp>
        <p:nvSpPr>
          <p:cNvPr id="9" name="矩形 8">
            <a:extLst>
              <a:ext uri="{FF2B5EF4-FFF2-40B4-BE49-F238E27FC236}">
                <a16:creationId xmlns:a16="http://schemas.microsoft.com/office/drawing/2014/main" id="{C8084DB8-0FA8-43BB-8374-3FE26A5FB52A}"/>
              </a:ext>
            </a:extLst>
          </p:cNvPr>
          <p:cNvSpPr/>
          <p:nvPr userDrawn="1"/>
        </p:nvSpPr>
        <p:spPr>
          <a:xfrm>
            <a:off x="1" y="379859"/>
            <a:ext cx="695324" cy="360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7639C19F-43D8-4BA5-A5A4-A9FBF161E2B5}"/>
              </a:ext>
            </a:extLst>
          </p:cNvPr>
          <p:cNvGrpSpPr/>
          <p:nvPr userDrawn="1"/>
        </p:nvGrpSpPr>
        <p:grpSpPr>
          <a:xfrm>
            <a:off x="695325" y="379860"/>
            <a:ext cx="360000" cy="360000"/>
            <a:chOff x="695325" y="379860"/>
            <a:chExt cx="360000" cy="360000"/>
          </a:xfrm>
        </p:grpSpPr>
        <p:sp>
          <p:nvSpPr>
            <p:cNvPr id="11" name="矩形 10">
              <a:extLst>
                <a:ext uri="{FF2B5EF4-FFF2-40B4-BE49-F238E27FC236}">
                  <a16:creationId xmlns:a16="http://schemas.microsoft.com/office/drawing/2014/main" id="{0427BAB4-C7F1-4987-A703-BBD63A2B6F4B}"/>
                </a:ext>
              </a:extLst>
            </p:cNvPr>
            <p:cNvSpPr/>
            <p:nvPr/>
          </p:nvSpPr>
          <p:spPr>
            <a:xfrm>
              <a:off x="695325" y="379860"/>
              <a:ext cx="360000" cy="360000"/>
            </a:xfrm>
            <a:prstGeom prst="rect">
              <a:avLst/>
            </a:prstGeom>
            <a:solidFill>
              <a:srgbClr val="00206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3E50DFFB-FF0D-43BA-A8FE-776436DDFBAB}"/>
                </a:ext>
              </a:extLst>
            </p:cNvPr>
            <p:cNvSpPr txBox="1"/>
            <p:nvPr/>
          </p:nvSpPr>
          <p:spPr>
            <a:xfrm>
              <a:off x="695325" y="421361"/>
              <a:ext cx="360000" cy="276999"/>
            </a:xfrm>
            <a:prstGeom prst="rect">
              <a:avLst/>
            </a:prstGeom>
            <a:noFill/>
          </p:spPr>
          <p:txBody>
            <a:bodyPr wrap="square" rtlCol="0">
              <a:spAutoFit/>
            </a:bodyPr>
            <a:lstStyle/>
            <a:p>
              <a:pPr algn="ctr"/>
              <a:r>
                <a:rPr lang="en-US" altLang="zh-CN" sz="1200" dirty="0">
                  <a:solidFill>
                    <a:schemeClr val="bg1"/>
                  </a:solidFill>
                  <a:latin typeface="思源黑体 CN Normal" panose="020B0400000000000000" pitchFamily="34" charset="-122"/>
                  <a:ea typeface="思源黑体 CN Normal" panose="020B0400000000000000" pitchFamily="34" charset="-122"/>
                </a:rPr>
                <a:t>02</a:t>
              </a:r>
            </a:p>
          </p:txBody>
        </p:sp>
      </p:grpSp>
    </p:spTree>
    <p:extLst>
      <p:ext uri="{BB962C8B-B14F-4D97-AF65-F5344CB8AC3E}">
        <p14:creationId xmlns:p14="http://schemas.microsoft.com/office/powerpoint/2010/main" val="100006925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250" fill="hold"/>
                                        <p:tgtEl>
                                          <p:spTgt spid="10"/>
                                        </p:tgtEl>
                                        <p:attrNameLst>
                                          <p:attrName>ppt_x</p:attrName>
                                        </p:attrNameLst>
                                      </p:cBhvr>
                                      <p:tavLst>
                                        <p:tav tm="0">
                                          <p:val>
                                            <p:strVal val="0-#ppt_w/2"/>
                                          </p:val>
                                        </p:tav>
                                        <p:tav tm="100000">
                                          <p:val>
                                            <p:strVal val="#ppt_x"/>
                                          </p:val>
                                        </p:tav>
                                      </p:tavLst>
                                    </p:anim>
                                    <p:anim calcmode="lin" valueType="num">
                                      <p:cBhvr additive="base">
                                        <p:cTn id="8" dur="125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fill="hold"/>
                                        <p:tgtEl>
                                          <p:spTgt spid="8"/>
                                        </p:tgtEl>
                                        <p:attrNameLst>
                                          <p:attrName>ppt_x</p:attrName>
                                        </p:attrNameLst>
                                      </p:cBhvr>
                                      <p:tavLst>
                                        <p:tav tm="0">
                                          <p:val>
                                            <p:strVal val="0-#ppt_w/2"/>
                                          </p:val>
                                        </p:tav>
                                        <p:tav tm="100000">
                                          <p:val>
                                            <p:strVal val="#ppt_x"/>
                                          </p:val>
                                        </p:tav>
                                      </p:tavLst>
                                    </p:anim>
                                    <p:anim calcmode="lin" valueType="num">
                                      <p:cBhvr additive="base">
                                        <p:cTn id="12" dur="2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B2B3080-B7C6-4FF4-A322-0D96C68FD2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755081B-840D-44B2-A60D-6EBD24969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94987DE-5E17-4521-A387-062910A04E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C27778-C868-4983-9AE1-40DCCCFF70B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A3ED480D-9EB3-4BED-92C6-0FFC6184E0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450D2AA-2385-438C-807F-2CF809AFF7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C72C63-21BB-4AC3-ADFD-BBD0BEC80CEB}" type="slidenum">
              <a:rPr lang="zh-CN" altLang="en-US" smtClean="0"/>
              <a:t>‹#›</a:t>
            </a:fld>
            <a:endParaRPr lang="zh-CN" altLang="en-US"/>
          </a:p>
        </p:txBody>
      </p:sp>
      <p:sp>
        <p:nvSpPr>
          <p:cNvPr id="8" name="文本框 7">
            <a:extLst>
              <a:ext uri="{FF2B5EF4-FFF2-40B4-BE49-F238E27FC236}">
                <a16:creationId xmlns:a16="http://schemas.microsoft.com/office/drawing/2014/main" id="{6E406DB5-A7C0-4651-A423-90429E780E61}"/>
              </a:ext>
            </a:extLst>
          </p:cNvPr>
          <p:cNvSpPr txBox="1"/>
          <p:nvPr userDrawn="1"/>
        </p:nvSpPr>
        <p:spPr>
          <a:xfrm flipH="1">
            <a:off x="1055323" y="401306"/>
            <a:ext cx="4346670" cy="338554"/>
          </a:xfrm>
          <a:prstGeom prst="rect">
            <a:avLst/>
          </a:prstGeom>
          <a:noFill/>
        </p:spPr>
        <p:txBody>
          <a:bodyPr wrap="square" rtlCol="0">
            <a:spAutoFit/>
          </a:bodyPr>
          <a:lstStyle/>
          <a:p>
            <a:r>
              <a:rPr lang="zh-CN" altLang="en-US" sz="1600" dirty="0">
                <a:solidFill>
                  <a:srgbClr val="002060"/>
                </a:solidFill>
                <a:latin typeface="思源黑体 CN Normal" panose="020B0400000000000000" pitchFamily="34" charset="-122"/>
                <a:ea typeface="思源黑体 CN Normal" panose="020B0400000000000000" pitchFamily="34" charset="-122"/>
              </a:rPr>
              <a:t>投资回报分析</a:t>
            </a:r>
            <a:r>
              <a:rPr lang="zh-CN" altLang="en-US" sz="1600" baseline="0" dirty="0">
                <a:solidFill>
                  <a:srgbClr val="002060"/>
                </a:solidFill>
                <a:latin typeface="思源黑体 CN Normal" panose="020B0400000000000000" pitchFamily="34" charset="-122"/>
                <a:ea typeface="思源黑体 CN Normal" panose="020B0400000000000000" pitchFamily="34" charset="-122"/>
              </a:rPr>
              <a:t> </a:t>
            </a:r>
            <a:r>
              <a:rPr lang="en-US" altLang="zh-CN" sz="1200" dirty="0">
                <a:solidFill>
                  <a:srgbClr val="002060"/>
                </a:solidFill>
                <a:latin typeface="思源黑体 CN Normal" panose="020B0400000000000000" pitchFamily="34" charset="-122"/>
                <a:ea typeface="思源黑体 CN Normal" panose="020B0400000000000000" pitchFamily="34" charset="-122"/>
              </a:rPr>
              <a:t>Return on investment analysis</a:t>
            </a:r>
          </a:p>
        </p:txBody>
      </p:sp>
      <p:sp>
        <p:nvSpPr>
          <p:cNvPr id="9" name="矩形 8">
            <a:extLst>
              <a:ext uri="{FF2B5EF4-FFF2-40B4-BE49-F238E27FC236}">
                <a16:creationId xmlns:a16="http://schemas.microsoft.com/office/drawing/2014/main" id="{D27C7657-CE0C-48FC-AFBD-9C756C8AF1D5}"/>
              </a:ext>
            </a:extLst>
          </p:cNvPr>
          <p:cNvSpPr/>
          <p:nvPr userDrawn="1"/>
        </p:nvSpPr>
        <p:spPr>
          <a:xfrm>
            <a:off x="1" y="379859"/>
            <a:ext cx="695324" cy="360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2A20427A-D3C7-4E26-AE1E-CE68E062BDF1}"/>
              </a:ext>
            </a:extLst>
          </p:cNvPr>
          <p:cNvGrpSpPr/>
          <p:nvPr userDrawn="1"/>
        </p:nvGrpSpPr>
        <p:grpSpPr>
          <a:xfrm>
            <a:off x="695325" y="379860"/>
            <a:ext cx="360000" cy="360000"/>
            <a:chOff x="695325" y="379860"/>
            <a:chExt cx="360000" cy="360000"/>
          </a:xfrm>
        </p:grpSpPr>
        <p:sp>
          <p:nvSpPr>
            <p:cNvPr id="11" name="矩形 10">
              <a:extLst>
                <a:ext uri="{FF2B5EF4-FFF2-40B4-BE49-F238E27FC236}">
                  <a16:creationId xmlns:a16="http://schemas.microsoft.com/office/drawing/2014/main" id="{EC5D5551-D6BF-483F-9C0C-4463D5077DDA}"/>
                </a:ext>
              </a:extLst>
            </p:cNvPr>
            <p:cNvSpPr/>
            <p:nvPr/>
          </p:nvSpPr>
          <p:spPr>
            <a:xfrm>
              <a:off x="695325" y="379860"/>
              <a:ext cx="360000" cy="360000"/>
            </a:xfrm>
            <a:prstGeom prst="rect">
              <a:avLst/>
            </a:prstGeom>
            <a:solidFill>
              <a:srgbClr val="00206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AECAEC5-555C-44AC-AAE7-0C0F06C82FF5}"/>
                </a:ext>
              </a:extLst>
            </p:cNvPr>
            <p:cNvSpPr txBox="1"/>
            <p:nvPr/>
          </p:nvSpPr>
          <p:spPr>
            <a:xfrm>
              <a:off x="695325" y="421361"/>
              <a:ext cx="360000" cy="276999"/>
            </a:xfrm>
            <a:prstGeom prst="rect">
              <a:avLst/>
            </a:prstGeom>
            <a:noFill/>
          </p:spPr>
          <p:txBody>
            <a:bodyPr wrap="square" rtlCol="0">
              <a:spAutoFit/>
            </a:bodyPr>
            <a:lstStyle/>
            <a:p>
              <a:pPr algn="ctr"/>
              <a:r>
                <a:rPr lang="en-US" altLang="zh-CN" sz="1200" dirty="0">
                  <a:solidFill>
                    <a:schemeClr val="bg1"/>
                  </a:solidFill>
                  <a:latin typeface="思源黑体 CN Normal" panose="020B0400000000000000" pitchFamily="34" charset="-122"/>
                  <a:ea typeface="思源黑体 CN Normal" panose="020B0400000000000000" pitchFamily="34" charset="-122"/>
                </a:rPr>
                <a:t>03</a:t>
              </a:r>
            </a:p>
          </p:txBody>
        </p:sp>
      </p:grpSp>
    </p:spTree>
    <p:extLst>
      <p:ext uri="{BB962C8B-B14F-4D97-AF65-F5344CB8AC3E}">
        <p14:creationId xmlns:p14="http://schemas.microsoft.com/office/powerpoint/2010/main" val="417904983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250" fill="hold"/>
                                        <p:tgtEl>
                                          <p:spTgt spid="10"/>
                                        </p:tgtEl>
                                        <p:attrNameLst>
                                          <p:attrName>ppt_x</p:attrName>
                                        </p:attrNameLst>
                                      </p:cBhvr>
                                      <p:tavLst>
                                        <p:tav tm="0">
                                          <p:val>
                                            <p:strVal val="0-#ppt_w/2"/>
                                          </p:val>
                                        </p:tav>
                                        <p:tav tm="100000">
                                          <p:val>
                                            <p:strVal val="#ppt_x"/>
                                          </p:val>
                                        </p:tav>
                                      </p:tavLst>
                                    </p:anim>
                                    <p:anim calcmode="lin" valueType="num">
                                      <p:cBhvr additive="base">
                                        <p:cTn id="8" dur="125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fill="hold"/>
                                        <p:tgtEl>
                                          <p:spTgt spid="8"/>
                                        </p:tgtEl>
                                        <p:attrNameLst>
                                          <p:attrName>ppt_x</p:attrName>
                                        </p:attrNameLst>
                                      </p:cBhvr>
                                      <p:tavLst>
                                        <p:tav tm="0">
                                          <p:val>
                                            <p:strVal val="0-#ppt_w/2"/>
                                          </p:val>
                                        </p:tav>
                                        <p:tav tm="100000">
                                          <p:val>
                                            <p:strVal val="#ppt_x"/>
                                          </p:val>
                                        </p:tav>
                                      </p:tavLst>
                                    </p:anim>
                                    <p:anim calcmode="lin" valueType="num">
                                      <p:cBhvr additive="base">
                                        <p:cTn id="12" dur="2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BF4E42-FEFA-45AD-BD25-7331FA9F9A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2B567F0-9E31-4D5D-B93A-184088126A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7973EFC-B895-4A7B-ACD2-70B81FA2F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8682E5-6889-4D71-9A08-95DA3A637564}" type="datetimeFigureOut">
              <a:rPr lang="zh-CN" altLang="en-US" smtClean="0"/>
              <a:t>2024/6/3</a:t>
            </a:fld>
            <a:endParaRPr lang="zh-CN" altLang="en-US"/>
          </a:p>
        </p:txBody>
      </p:sp>
      <p:sp>
        <p:nvSpPr>
          <p:cNvPr id="5" name="页脚占位符 4">
            <a:extLst>
              <a:ext uri="{FF2B5EF4-FFF2-40B4-BE49-F238E27FC236}">
                <a16:creationId xmlns:a16="http://schemas.microsoft.com/office/drawing/2014/main" id="{A7DCF9FF-490D-45B2-BD53-5F81066A3E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41AE72C-4A07-4ED4-A60C-9A2C73EE1D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4CD762-760C-4A7B-A895-7121F8EE777F}" type="slidenum">
              <a:rPr lang="zh-CN" altLang="en-US" smtClean="0"/>
              <a:t>‹#›</a:t>
            </a:fld>
            <a:endParaRPr lang="zh-CN" altLang="en-US"/>
          </a:p>
        </p:txBody>
      </p:sp>
      <p:sp>
        <p:nvSpPr>
          <p:cNvPr id="8" name="文本框 7">
            <a:extLst>
              <a:ext uri="{FF2B5EF4-FFF2-40B4-BE49-F238E27FC236}">
                <a16:creationId xmlns:a16="http://schemas.microsoft.com/office/drawing/2014/main" id="{9A699B2A-0707-411B-937B-29F24461252F}"/>
              </a:ext>
            </a:extLst>
          </p:cNvPr>
          <p:cNvSpPr txBox="1"/>
          <p:nvPr userDrawn="1"/>
        </p:nvSpPr>
        <p:spPr>
          <a:xfrm flipH="1">
            <a:off x="1055323" y="401306"/>
            <a:ext cx="4346670" cy="338554"/>
          </a:xfrm>
          <a:prstGeom prst="rect">
            <a:avLst/>
          </a:prstGeom>
          <a:noFill/>
        </p:spPr>
        <p:txBody>
          <a:bodyPr wrap="square" rtlCol="0">
            <a:spAutoFit/>
          </a:bodyPr>
          <a:lstStyle/>
          <a:p>
            <a:r>
              <a:rPr lang="zh-CN" altLang="en-US" sz="1600" dirty="0">
                <a:solidFill>
                  <a:srgbClr val="002060"/>
                </a:solidFill>
                <a:latin typeface="思源黑体 CN Normal" panose="020B0400000000000000" pitchFamily="34" charset="-122"/>
                <a:ea typeface="思源黑体 CN Normal" panose="020B0400000000000000" pitchFamily="34" charset="-122"/>
              </a:rPr>
              <a:t>未来发展规划</a:t>
            </a:r>
            <a:r>
              <a:rPr lang="zh-CN" altLang="en-US" sz="1600" baseline="0" dirty="0">
                <a:solidFill>
                  <a:srgbClr val="002060"/>
                </a:solidFill>
                <a:latin typeface="思源黑体 CN Normal" panose="020B0400000000000000" pitchFamily="34" charset="-122"/>
                <a:ea typeface="思源黑体 CN Normal" panose="020B0400000000000000" pitchFamily="34" charset="-122"/>
              </a:rPr>
              <a:t> </a:t>
            </a:r>
            <a:r>
              <a:rPr lang="en-US" altLang="zh-CN" sz="1200" dirty="0">
                <a:solidFill>
                  <a:srgbClr val="002060"/>
                </a:solidFill>
                <a:latin typeface="思源黑体 CN Normal" panose="020B0400000000000000" pitchFamily="34" charset="-122"/>
                <a:ea typeface="思源黑体 CN Normal" panose="020B0400000000000000" pitchFamily="34" charset="-122"/>
              </a:rPr>
              <a:t>Future development planning</a:t>
            </a:r>
          </a:p>
        </p:txBody>
      </p:sp>
      <p:sp>
        <p:nvSpPr>
          <p:cNvPr id="9" name="矩形 8">
            <a:extLst>
              <a:ext uri="{FF2B5EF4-FFF2-40B4-BE49-F238E27FC236}">
                <a16:creationId xmlns:a16="http://schemas.microsoft.com/office/drawing/2014/main" id="{C0DE1250-AE33-47BE-9285-5C0A52817787}"/>
              </a:ext>
            </a:extLst>
          </p:cNvPr>
          <p:cNvSpPr/>
          <p:nvPr userDrawn="1"/>
        </p:nvSpPr>
        <p:spPr>
          <a:xfrm>
            <a:off x="1" y="379859"/>
            <a:ext cx="695324" cy="360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89110185-464E-4816-B69D-8C478E7675C4}"/>
              </a:ext>
            </a:extLst>
          </p:cNvPr>
          <p:cNvGrpSpPr/>
          <p:nvPr userDrawn="1"/>
        </p:nvGrpSpPr>
        <p:grpSpPr>
          <a:xfrm>
            <a:off x="695325" y="379860"/>
            <a:ext cx="360000" cy="360000"/>
            <a:chOff x="695325" y="379860"/>
            <a:chExt cx="360000" cy="360000"/>
          </a:xfrm>
        </p:grpSpPr>
        <p:sp>
          <p:nvSpPr>
            <p:cNvPr id="11" name="矩形 10">
              <a:extLst>
                <a:ext uri="{FF2B5EF4-FFF2-40B4-BE49-F238E27FC236}">
                  <a16:creationId xmlns:a16="http://schemas.microsoft.com/office/drawing/2014/main" id="{BE92A40A-1CF9-49BC-9475-D78043A1B985}"/>
                </a:ext>
              </a:extLst>
            </p:cNvPr>
            <p:cNvSpPr/>
            <p:nvPr/>
          </p:nvSpPr>
          <p:spPr>
            <a:xfrm>
              <a:off x="695325" y="379860"/>
              <a:ext cx="360000" cy="360000"/>
            </a:xfrm>
            <a:prstGeom prst="rect">
              <a:avLst/>
            </a:prstGeom>
            <a:solidFill>
              <a:srgbClr val="00206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52B2261-C9A9-426B-AF26-4F26B2D64EA2}"/>
                </a:ext>
              </a:extLst>
            </p:cNvPr>
            <p:cNvSpPr txBox="1"/>
            <p:nvPr/>
          </p:nvSpPr>
          <p:spPr>
            <a:xfrm>
              <a:off x="695325" y="421361"/>
              <a:ext cx="360000" cy="276999"/>
            </a:xfrm>
            <a:prstGeom prst="rect">
              <a:avLst/>
            </a:prstGeom>
            <a:noFill/>
          </p:spPr>
          <p:txBody>
            <a:bodyPr wrap="square" rtlCol="0">
              <a:spAutoFit/>
            </a:bodyPr>
            <a:lstStyle/>
            <a:p>
              <a:pPr algn="ctr"/>
              <a:r>
                <a:rPr lang="en-US" altLang="zh-CN" sz="1200" dirty="0">
                  <a:solidFill>
                    <a:schemeClr val="bg1"/>
                  </a:solidFill>
                  <a:latin typeface="思源黑体 CN Normal" panose="020B0400000000000000" pitchFamily="34" charset="-122"/>
                  <a:ea typeface="思源黑体 CN Normal" panose="020B0400000000000000" pitchFamily="34" charset="-122"/>
                </a:rPr>
                <a:t>04</a:t>
              </a:r>
            </a:p>
          </p:txBody>
        </p:sp>
      </p:grpSp>
    </p:spTree>
    <p:extLst>
      <p:ext uri="{BB962C8B-B14F-4D97-AF65-F5344CB8AC3E}">
        <p14:creationId xmlns:p14="http://schemas.microsoft.com/office/powerpoint/2010/main" val="19521765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250" fill="hold"/>
                                        <p:tgtEl>
                                          <p:spTgt spid="10"/>
                                        </p:tgtEl>
                                        <p:attrNameLst>
                                          <p:attrName>ppt_x</p:attrName>
                                        </p:attrNameLst>
                                      </p:cBhvr>
                                      <p:tavLst>
                                        <p:tav tm="0">
                                          <p:val>
                                            <p:strVal val="0-#ppt_w/2"/>
                                          </p:val>
                                        </p:tav>
                                        <p:tav tm="100000">
                                          <p:val>
                                            <p:strVal val="#ppt_x"/>
                                          </p:val>
                                        </p:tav>
                                      </p:tavLst>
                                    </p:anim>
                                    <p:anim calcmode="lin" valueType="num">
                                      <p:cBhvr additive="base">
                                        <p:cTn id="8" dur="125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fill="hold"/>
                                        <p:tgtEl>
                                          <p:spTgt spid="8"/>
                                        </p:tgtEl>
                                        <p:attrNameLst>
                                          <p:attrName>ppt_x</p:attrName>
                                        </p:attrNameLst>
                                      </p:cBhvr>
                                      <p:tavLst>
                                        <p:tav tm="0">
                                          <p:val>
                                            <p:strVal val="0-#ppt_w/2"/>
                                          </p:val>
                                        </p:tav>
                                        <p:tav tm="100000">
                                          <p:val>
                                            <p:strVal val="#ppt_x"/>
                                          </p:val>
                                        </p:tav>
                                      </p:tavLst>
                                    </p:anim>
                                    <p:anim calcmode="lin" valueType="num">
                                      <p:cBhvr additive="base">
                                        <p:cTn id="12" dur="2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8976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62A5E3A8-E1D8-44DB-900B-5F3BB4A23478}"/>
              </a:ext>
            </a:extLst>
          </p:cNvPr>
          <p:cNvPicPr>
            <a:picLocks noChangeAspect="1"/>
          </p:cNvPicPr>
          <p:nvPr/>
        </p:nvPicPr>
        <p:blipFill>
          <a:blip r:embed="rId3" cstate="screen">
            <a:extLst>
              <a:ext uri="{BEBA8EAE-BF5A-486C-A8C5-ECC9F3942E4B}">
                <a14:imgProps xmlns:a14="http://schemas.microsoft.com/office/drawing/2010/main">
                  <a14:imgLayer>
                    <a14:imgEffect>
                      <a14:saturation sat="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矩形 9">
            <a:extLst>
              <a:ext uri="{FF2B5EF4-FFF2-40B4-BE49-F238E27FC236}">
                <a16:creationId xmlns:a16="http://schemas.microsoft.com/office/drawing/2014/main" id="{E28066DE-507C-48FC-96F8-F7C450627FD4}"/>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a:extLst>
              <a:ext uri="{FF2B5EF4-FFF2-40B4-BE49-F238E27FC236}">
                <a16:creationId xmlns:a16="http://schemas.microsoft.com/office/drawing/2014/main" id="{4C6770AC-F56F-89C4-F9DE-4316D1347AB0}"/>
              </a:ext>
            </a:extLst>
          </p:cNvPr>
          <p:cNvPicPr>
            <a:picLocks noChangeAspect="1"/>
          </p:cNvPicPr>
          <p:nvPr/>
        </p:nvPicPr>
        <p:blipFill>
          <a:blip r:embed="rId4"/>
          <a:stretch>
            <a:fillRect/>
          </a:stretch>
        </p:blipFill>
        <p:spPr>
          <a:xfrm>
            <a:off x="-17693" y="901844"/>
            <a:ext cx="6836260" cy="5127195"/>
          </a:xfrm>
          <a:prstGeom prst="rect">
            <a:avLst/>
          </a:prstGeom>
        </p:spPr>
      </p:pic>
      <p:sp>
        <p:nvSpPr>
          <p:cNvPr id="49" name="任意多边形: 形状 48">
            <a:extLst>
              <a:ext uri="{FF2B5EF4-FFF2-40B4-BE49-F238E27FC236}">
                <a16:creationId xmlns:a16="http://schemas.microsoft.com/office/drawing/2014/main" id="{03EC524D-F060-4EC0-94C1-917E5C85897D}"/>
              </a:ext>
            </a:extLst>
          </p:cNvPr>
          <p:cNvSpPr/>
          <p:nvPr/>
        </p:nvSpPr>
        <p:spPr>
          <a:xfrm flipH="1" flipV="1">
            <a:off x="3318531" y="0"/>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cs typeface="+mn-ea"/>
              <a:sym typeface="+mn-lt"/>
            </a:endParaRPr>
          </a:p>
        </p:txBody>
      </p:sp>
      <p:cxnSp>
        <p:nvCxnSpPr>
          <p:cNvPr id="29" name="直接连接符 28">
            <a:extLst>
              <a:ext uri="{FF2B5EF4-FFF2-40B4-BE49-F238E27FC236}">
                <a16:creationId xmlns:a16="http://schemas.microsoft.com/office/drawing/2014/main" id="{8BD98536-ABFE-4501-8F6D-85761D3B12FE}"/>
              </a:ext>
            </a:extLst>
          </p:cNvPr>
          <p:cNvCxnSpPr>
            <a:cxnSpLocks/>
          </p:cNvCxnSpPr>
          <p:nvPr/>
        </p:nvCxnSpPr>
        <p:spPr>
          <a:xfrm flipH="1">
            <a:off x="4871545" y="-29935"/>
            <a:ext cx="318036" cy="551863"/>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64DC8B84-0050-4364-B277-76E98EF61134}"/>
              </a:ext>
            </a:extLst>
          </p:cNvPr>
          <p:cNvCxnSpPr>
            <a:cxnSpLocks/>
          </p:cNvCxnSpPr>
          <p:nvPr/>
        </p:nvCxnSpPr>
        <p:spPr>
          <a:xfrm flipH="1">
            <a:off x="5963274" y="5860508"/>
            <a:ext cx="574850" cy="9974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3579A5A-4ADF-43D5-90FC-9F8F2FECAB11}"/>
              </a:ext>
            </a:extLst>
          </p:cNvPr>
          <p:cNvCxnSpPr>
            <a:cxnSpLocks/>
          </p:cNvCxnSpPr>
          <p:nvPr/>
        </p:nvCxnSpPr>
        <p:spPr>
          <a:xfrm flipH="1">
            <a:off x="6071959" y="5670728"/>
            <a:ext cx="466166" cy="80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6413C8C-3E7D-402F-80EB-C3BC34FACCBA}"/>
              </a:ext>
            </a:extLst>
          </p:cNvPr>
          <p:cNvCxnSpPr>
            <a:cxnSpLocks/>
          </p:cNvCxnSpPr>
          <p:nvPr/>
        </p:nvCxnSpPr>
        <p:spPr>
          <a:xfrm flipH="1">
            <a:off x="239343" y="5860494"/>
            <a:ext cx="357481" cy="62030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0F30EEF1-8F55-439B-ADA0-771AB20AAE06}"/>
              </a:ext>
            </a:extLst>
          </p:cNvPr>
          <p:cNvSpPr txBox="1"/>
          <p:nvPr/>
        </p:nvSpPr>
        <p:spPr>
          <a:xfrm>
            <a:off x="7198468" y="2125395"/>
            <a:ext cx="4380831" cy="1754326"/>
          </a:xfrm>
          <a:prstGeom prst="rect">
            <a:avLst/>
          </a:prstGeom>
          <a:noFill/>
        </p:spPr>
        <p:txBody>
          <a:bodyPr wrap="square" rtlCol="0">
            <a:spAutoFit/>
          </a:bodyPr>
          <a:lstStyle/>
          <a:p>
            <a:pPr algn="r"/>
            <a:r>
              <a:rPr lang="zh-CN" altLang="en-US" sz="5400" dirty="0">
                <a:solidFill>
                  <a:schemeClr val="bg1"/>
                </a:solidFill>
                <a:cs typeface="+mn-ea"/>
                <a:sym typeface="+mn-lt"/>
              </a:rPr>
              <a:t>贵州茅台杜邦分析</a:t>
            </a:r>
            <a:endParaRPr lang="zh-CN" altLang="en-US" sz="5400" dirty="0">
              <a:solidFill>
                <a:schemeClr val="bg1"/>
              </a:solidFill>
              <a:effectLst>
                <a:reflection blurRad="19050" stA="60000" endPos="20000" dist="31750" dir="5400000" sy="-100000" algn="bl" rotWithShape="0"/>
              </a:effectLst>
              <a:cs typeface="+mn-ea"/>
              <a:sym typeface="+mn-lt"/>
            </a:endParaRPr>
          </a:p>
        </p:txBody>
      </p:sp>
      <p:sp>
        <p:nvSpPr>
          <p:cNvPr id="54" name="文本框 53">
            <a:extLst>
              <a:ext uri="{FF2B5EF4-FFF2-40B4-BE49-F238E27FC236}">
                <a16:creationId xmlns:a16="http://schemas.microsoft.com/office/drawing/2014/main" id="{F4B5C9EB-AF68-44EE-AEDB-1BE5BD607DD5}"/>
              </a:ext>
            </a:extLst>
          </p:cNvPr>
          <p:cNvSpPr txBox="1"/>
          <p:nvPr/>
        </p:nvSpPr>
        <p:spPr>
          <a:xfrm>
            <a:off x="6837784" y="3864772"/>
            <a:ext cx="4741515" cy="430887"/>
          </a:xfrm>
          <a:prstGeom prst="rect">
            <a:avLst/>
          </a:prstGeom>
          <a:noFill/>
        </p:spPr>
        <p:txBody>
          <a:bodyPr wrap="square" rtlCol="0">
            <a:spAutoFit/>
          </a:bodyPr>
          <a:lstStyle/>
          <a:p>
            <a:pPr algn="r"/>
            <a:r>
              <a:rPr lang="en-US" altLang="zh-CN" sz="1100" dirty="0">
                <a:solidFill>
                  <a:schemeClr val="bg1"/>
                </a:solidFill>
                <a:cs typeface="+mn-ea"/>
                <a:sym typeface="+mn-lt"/>
              </a:rPr>
              <a:t>Kweichow Moutai repays debts
Capability analysis</a:t>
            </a:r>
          </a:p>
        </p:txBody>
      </p:sp>
      <p:sp>
        <p:nvSpPr>
          <p:cNvPr id="56" name="文本框 55">
            <a:extLst>
              <a:ext uri="{FF2B5EF4-FFF2-40B4-BE49-F238E27FC236}">
                <a16:creationId xmlns:a16="http://schemas.microsoft.com/office/drawing/2014/main" id="{99AB581D-4642-474D-B34A-1D539E7D1030}"/>
              </a:ext>
            </a:extLst>
          </p:cNvPr>
          <p:cNvSpPr txBox="1"/>
          <p:nvPr/>
        </p:nvSpPr>
        <p:spPr>
          <a:xfrm>
            <a:off x="10417454" y="1718651"/>
            <a:ext cx="1161845" cy="523220"/>
          </a:xfrm>
          <a:prstGeom prst="rect">
            <a:avLst/>
          </a:prstGeom>
          <a:noFill/>
        </p:spPr>
        <p:txBody>
          <a:bodyPr wrap="square" rtlCol="0">
            <a:spAutoFit/>
          </a:bodyPr>
          <a:lstStyle/>
          <a:p>
            <a:pPr algn="r"/>
            <a:r>
              <a:rPr lang="en-US" altLang="zh-CN" sz="2800" dirty="0">
                <a:solidFill>
                  <a:schemeClr val="bg1"/>
                </a:solidFill>
                <a:cs typeface="+mn-ea"/>
                <a:sym typeface="+mn-lt"/>
              </a:rPr>
              <a:t>2024</a:t>
            </a:r>
            <a:endParaRPr lang="zh-CN" altLang="en-US" sz="2800" dirty="0">
              <a:solidFill>
                <a:schemeClr val="bg1"/>
              </a:solidFill>
              <a:cs typeface="+mn-ea"/>
              <a:sym typeface="+mn-lt"/>
            </a:endParaRPr>
          </a:p>
        </p:txBody>
      </p:sp>
      <p:cxnSp>
        <p:nvCxnSpPr>
          <p:cNvPr id="78" name="直接连接符 77">
            <a:extLst>
              <a:ext uri="{FF2B5EF4-FFF2-40B4-BE49-F238E27FC236}">
                <a16:creationId xmlns:a16="http://schemas.microsoft.com/office/drawing/2014/main" id="{8BEA3969-B199-4B24-A319-59958E769B67}"/>
              </a:ext>
            </a:extLst>
          </p:cNvPr>
          <p:cNvCxnSpPr>
            <a:cxnSpLocks/>
          </p:cNvCxnSpPr>
          <p:nvPr/>
        </p:nvCxnSpPr>
        <p:spPr>
          <a:xfrm flipH="1">
            <a:off x="7099499" y="521928"/>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平行四边形 39">
            <a:extLst>
              <a:ext uri="{FF2B5EF4-FFF2-40B4-BE49-F238E27FC236}">
                <a16:creationId xmlns:a16="http://schemas.microsoft.com/office/drawing/2014/main" id="{FFDF1D6F-52F5-439F-A5E7-51E81DD96648}"/>
              </a:ext>
            </a:extLst>
          </p:cNvPr>
          <p:cNvSpPr/>
          <p:nvPr/>
        </p:nvSpPr>
        <p:spPr>
          <a:xfrm>
            <a:off x="4066493" y="2023293"/>
            <a:ext cx="2722753" cy="2811415"/>
          </a:xfrm>
          <a:prstGeom prst="parallelogram">
            <a:avLst>
              <a:gd name="adj" fmla="val 58651"/>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pic>
        <p:nvPicPr>
          <p:cNvPr id="2" name="图片 1">
            <a:extLst>
              <a:ext uri="{FF2B5EF4-FFF2-40B4-BE49-F238E27FC236}">
                <a16:creationId xmlns:a16="http://schemas.microsoft.com/office/drawing/2014/main" id="{BA8D956D-22DF-41CC-678A-8A46CE601767}"/>
              </a:ext>
            </a:extLst>
          </p:cNvPr>
          <p:cNvPicPr>
            <a:picLocks noChangeAspect="1"/>
          </p:cNvPicPr>
          <p:nvPr/>
        </p:nvPicPr>
        <p:blipFill>
          <a:blip r:embed="rId5"/>
          <a:stretch>
            <a:fillRect/>
          </a:stretch>
        </p:blipFill>
        <p:spPr>
          <a:xfrm>
            <a:off x="119658" y="16809"/>
            <a:ext cx="3152775" cy="781050"/>
          </a:xfrm>
          <a:prstGeom prst="rect">
            <a:avLst/>
          </a:prstGeom>
        </p:spPr>
      </p:pic>
      <p:sp>
        <p:nvSpPr>
          <p:cNvPr id="5" name="文本框 4">
            <a:extLst>
              <a:ext uri="{FF2B5EF4-FFF2-40B4-BE49-F238E27FC236}">
                <a16:creationId xmlns:a16="http://schemas.microsoft.com/office/drawing/2014/main" id="{1BE86888-752B-A80A-C165-7B49AC8C575A}"/>
              </a:ext>
            </a:extLst>
          </p:cNvPr>
          <p:cNvSpPr txBox="1"/>
          <p:nvPr/>
        </p:nvSpPr>
        <p:spPr>
          <a:xfrm>
            <a:off x="8701548" y="4234543"/>
            <a:ext cx="3067664" cy="923330"/>
          </a:xfrm>
          <a:prstGeom prst="rect">
            <a:avLst/>
          </a:prstGeom>
          <a:noFill/>
        </p:spPr>
        <p:txBody>
          <a:bodyPr wrap="square" rtlCol="0">
            <a:spAutoFit/>
          </a:bodyPr>
          <a:lstStyle/>
          <a:p>
            <a:r>
              <a:rPr lang="zh-CN" altLang="en-US" dirty="0">
                <a:solidFill>
                  <a:schemeClr val="bg1"/>
                </a:solidFill>
                <a:latin typeface="宋体" panose="02010600030101010101" pitchFamily="2" charset="-122"/>
                <a:ea typeface="宋体" panose="02010600030101010101" pitchFamily="2" charset="-122"/>
              </a:rPr>
              <a:t>小组成员：刘才圣 唐志明 翟梓颖 曹新宇 樊瑞扬 </a:t>
            </a:r>
            <a:endParaRPr lang="en-US" altLang="zh-CN" dirty="0">
              <a:solidFill>
                <a:schemeClr val="bg1"/>
              </a:solidFill>
              <a:latin typeface="宋体" panose="02010600030101010101" pitchFamily="2" charset="-122"/>
              <a:ea typeface="宋体" panose="02010600030101010101" pitchFamily="2" charset="-122"/>
            </a:endParaRPr>
          </a:p>
          <a:p>
            <a:r>
              <a:rPr lang="zh-CN" altLang="en-US" dirty="0">
                <a:solidFill>
                  <a:schemeClr val="bg1"/>
                </a:solidFill>
                <a:latin typeface="宋体" panose="02010600030101010101" pitchFamily="2" charset="-122"/>
                <a:ea typeface="宋体" panose="02010600030101010101" pitchFamily="2" charset="-122"/>
              </a:rPr>
              <a:t>高国林 胡小峰 欧一波 </a:t>
            </a:r>
          </a:p>
        </p:txBody>
      </p:sp>
    </p:spTree>
    <p:extLst>
      <p:ext uri="{BB962C8B-B14F-4D97-AF65-F5344CB8AC3E}">
        <p14:creationId xmlns:p14="http://schemas.microsoft.com/office/powerpoint/2010/main" val="84249907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decel="100000" fill="hold" grpId="0" nodeType="after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750" fill="hold"/>
                                            <p:tgtEl>
                                              <p:spTgt spid="49"/>
                                            </p:tgtEl>
                                            <p:attrNameLst>
                                              <p:attrName>ppt_x</p:attrName>
                                            </p:attrNameLst>
                                          </p:cBhvr>
                                          <p:tavLst>
                                            <p:tav tm="0">
                                              <p:val>
                                                <p:strVal val="1+#ppt_w/2"/>
                                              </p:val>
                                            </p:tav>
                                            <p:tav tm="100000">
                                              <p:val>
                                                <p:strVal val="#ppt_x"/>
                                              </p:val>
                                            </p:tav>
                                          </p:tavLst>
                                        </p:anim>
                                        <p:anim calcmode="lin" valueType="num">
                                          <p:cBhvr additive="base">
                                            <p:cTn id="13" dur="750" fill="hold"/>
                                            <p:tgtEl>
                                              <p:spTgt spid="4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50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750" fill="hold"/>
                                            <p:tgtEl>
                                              <p:spTgt spid="40"/>
                                            </p:tgtEl>
                                            <p:attrNameLst>
                                              <p:attrName>ppt_x</p:attrName>
                                            </p:attrNameLst>
                                          </p:cBhvr>
                                          <p:tavLst>
                                            <p:tav tm="0">
                                              <p:val>
                                                <p:strVal val="0-#ppt_w/2"/>
                                              </p:val>
                                            </p:tav>
                                            <p:tav tm="100000">
                                              <p:val>
                                                <p:strVal val="#ppt_x"/>
                                              </p:val>
                                            </p:tav>
                                          </p:tavLst>
                                        </p:anim>
                                        <p:anim calcmode="lin" valueType="num">
                                          <p:cBhvr additive="base">
                                            <p:cTn id="17" dur="75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750"/>
                                </p:stCondLst>
                                <p:childTnLst>
                                  <p:par>
                                    <p:cTn id="19" presetID="22" presetClass="entr" presetSubtype="2" fill="hold" grpId="0" nodeType="after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wipe(right)">
                                          <p:cBhvr>
                                            <p:cTn id="21" dur="750"/>
                                            <p:tgtEl>
                                              <p:spTgt spid="56"/>
                                            </p:tgtEl>
                                          </p:cBhvr>
                                        </p:animEffect>
                                      </p:childTnLst>
                                    </p:cTn>
                                  </p:par>
                                  <p:par>
                                    <p:cTn id="22" presetID="22" presetClass="entr" presetSubtype="2" fill="hold" grpId="0" nodeType="withEffect">
                                      <p:stCondLst>
                                        <p:cond delay="250"/>
                                      </p:stCondLst>
                                      <p:childTnLst>
                                        <p:set>
                                          <p:cBhvr>
                                            <p:cTn id="23" dur="1" fill="hold">
                                              <p:stCondLst>
                                                <p:cond delay="0"/>
                                              </p:stCondLst>
                                            </p:cTn>
                                            <p:tgtEl>
                                              <p:spTgt spid="46"/>
                                            </p:tgtEl>
                                            <p:attrNameLst>
                                              <p:attrName>style.visibility</p:attrName>
                                            </p:attrNameLst>
                                          </p:cBhvr>
                                          <p:to>
                                            <p:strVal val="visible"/>
                                          </p:to>
                                        </p:set>
                                        <p:animEffect transition="in" filter="wipe(right)">
                                          <p:cBhvr>
                                            <p:cTn id="24" dur="750"/>
                                            <p:tgtEl>
                                              <p:spTgt spid="46"/>
                                            </p:tgtEl>
                                          </p:cBhvr>
                                        </p:animEffect>
                                      </p:childTnLst>
                                    </p:cTn>
                                  </p:par>
                                  <p:par>
                                    <p:cTn id="25" presetID="22" presetClass="entr" presetSubtype="2" fill="hold" grpId="0" nodeType="withEffect">
                                      <p:stCondLst>
                                        <p:cond delay="750"/>
                                      </p:stCondLst>
                                      <p:childTnLst>
                                        <p:set>
                                          <p:cBhvr>
                                            <p:cTn id="26" dur="1" fill="hold">
                                              <p:stCondLst>
                                                <p:cond delay="0"/>
                                              </p:stCondLst>
                                            </p:cTn>
                                            <p:tgtEl>
                                              <p:spTgt spid="54"/>
                                            </p:tgtEl>
                                            <p:attrNameLst>
                                              <p:attrName>style.visibility</p:attrName>
                                            </p:attrNameLst>
                                          </p:cBhvr>
                                          <p:to>
                                            <p:strVal val="visible"/>
                                          </p:to>
                                        </p:set>
                                        <p:animEffect transition="in" filter="wipe(right)">
                                          <p:cBhvr>
                                            <p:cTn id="27" dur="750"/>
                                            <p:tgtEl>
                                              <p:spTgt spid="54"/>
                                            </p:tgtEl>
                                          </p:cBhvr>
                                        </p:animEffect>
                                      </p:childTnLst>
                                    </p:cTn>
                                  </p:par>
                                </p:childTnLst>
                              </p:cTn>
                            </p:par>
                            <p:par>
                              <p:cTn id="28" fill="hold">
                                <p:stCondLst>
                                  <p:cond delay="3250"/>
                                </p:stCondLst>
                                <p:childTnLst>
                                  <p:par>
                                    <p:cTn id="29" presetID="42"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750"/>
                                            <p:tgtEl>
                                              <p:spTgt spid="5"/>
                                            </p:tgtEl>
                                          </p:cBhvr>
                                        </p:animEffect>
                                        <p:anim calcmode="lin" valueType="num">
                                          <p:cBhvr>
                                            <p:cTn id="32" dur="750" fill="hold"/>
                                            <p:tgtEl>
                                              <p:spTgt spid="5"/>
                                            </p:tgtEl>
                                            <p:attrNameLst>
                                              <p:attrName>ppt_x</p:attrName>
                                            </p:attrNameLst>
                                          </p:cBhvr>
                                          <p:tavLst>
                                            <p:tav tm="0">
                                              <p:val>
                                                <p:strVal val="#ppt_x"/>
                                              </p:val>
                                            </p:tav>
                                            <p:tav tm="100000">
                                              <p:val>
                                                <p:strVal val="#ppt_x"/>
                                              </p:val>
                                            </p:tav>
                                          </p:tavLst>
                                        </p:anim>
                                        <p:anim calcmode="lin" valueType="num">
                                          <p:cBhvr>
                                            <p:cTn id="33" dur="750" fill="hold"/>
                                            <p:tgtEl>
                                              <p:spTgt spid="5"/>
                                            </p:tgtEl>
                                            <p:attrNameLst>
                                              <p:attrName>ppt_y</p:attrName>
                                            </p:attrNameLst>
                                          </p:cBhvr>
                                          <p:tavLst>
                                            <p:tav tm="0">
                                              <p:val>
                                                <p:strVal val="#ppt_y+.1"/>
                                              </p:val>
                                            </p:tav>
                                            <p:tav tm="100000">
                                              <p:val>
                                                <p:strVal val="#ppt_y"/>
                                              </p:val>
                                            </p:tav>
                                          </p:tavLst>
                                        </p:anim>
                                      </p:childTnLst>
                                    </p:cTn>
                                  </p:par>
                                  <p:par>
                                    <p:cTn id="34" presetID="2" presetClass="entr" presetSubtype="1" accel="40000" fill="hold" nodeType="withEffect" p14:presetBounceEnd="60000">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14:bounceEnd="60000">
                                          <p:cBhvr additive="base">
                                            <p:cTn id="36" dur="750" fill="hold"/>
                                            <p:tgtEl>
                                              <p:spTgt spid="29"/>
                                            </p:tgtEl>
                                            <p:attrNameLst>
                                              <p:attrName>ppt_x</p:attrName>
                                            </p:attrNameLst>
                                          </p:cBhvr>
                                          <p:tavLst>
                                            <p:tav tm="0">
                                              <p:val>
                                                <p:strVal val="#ppt_x"/>
                                              </p:val>
                                            </p:tav>
                                            <p:tav tm="100000">
                                              <p:val>
                                                <p:strVal val="#ppt_x"/>
                                              </p:val>
                                            </p:tav>
                                          </p:tavLst>
                                        </p:anim>
                                        <p:anim calcmode="lin" valueType="num" p14:bounceEnd="60000">
                                          <p:cBhvr additive="base">
                                            <p:cTn id="37" dur="750" fill="hold"/>
                                            <p:tgtEl>
                                              <p:spTgt spid="29"/>
                                            </p:tgtEl>
                                            <p:attrNameLst>
                                              <p:attrName>ppt_y</p:attrName>
                                            </p:attrNameLst>
                                          </p:cBhvr>
                                          <p:tavLst>
                                            <p:tav tm="0">
                                              <p:val>
                                                <p:strVal val="0-#ppt_h/2"/>
                                              </p:val>
                                            </p:tav>
                                            <p:tav tm="100000">
                                              <p:val>
                                                <p:strVal val="#ppt_y"/>
                                              </p:val>
                                            </p:tav>
                                          </p:tavLst>
                                        </p:anim>
                                      </p:childTnLst>
                                    </p:cTn>
                                  </p:par>
                                  <p:par>
                                    <p:cTn id="38" presetID="2" presetClass="entr" presetSubtype="1" accel="40000" fill="hold" nodeType="withEffect" p14:presetBounceEnd="60000">
                                      <p:stCondLst>
                                        <p:cond delay="250"/>
                                      </p:stCondLst>
                                      <p:childTnLst>
                                        <p:set>
                                          <p:cBhvr>
                                            <p:cTn id="39" dur="1" fill="hold">
                                              <p:stCondLst>
                                                <p:cond delay="0"/>
                                              </p:stCondLst>
                                            </p:cTn>
                                            <p:tgtEl>
                                              <p:spTgt spid="78"/>
                                            </p:tgtEl>
                                            <p:attrNameLst>
                                              <p:attrName>style.visibility</p:attrName>
                                            </p:attrNameLst>
                                          </p:cBhvr>
                                          <p:to>
                                            <p:strVal val="visible"/>
                                          </p:to>
                                        </p:set>
                                        <p:anim calcmode="lin" valueType="num" p14:bounceEnd="60000">
                                          <p:cBhvr additive="base">
                                            <p:cTn id="40" dur="750" fill="hold"/>
                                            <p:tgtEl>
                                              <p:spTgt spid="78"/>
                                            </p:tgtEl>
                                            <p:attrNameLst>
                                              <p:attrName>ppt_x</p:attrName>
                                            </p:attrNameLst>
                                          </p:cBhvr>
                                          <p:tavLst>
                                            <p:tav tm="0">
                                              <p:val>
                                                <p:strVal val="#ppt_x"/>
                                              </p:val>
                                            </p:tav>
                                            <p:tav tm="100000">
                                              <p:val>
                                                <p:strVal val="#ppt_x"/>
                                              </p:val>
                                            </p:tav>
                                          </p:tavLst>
                                        </p:anim>
                                        <p:anim calcmode="lin" valueType="num" p14:bounceEnd="60000">
                                          <p:cBhvr additive="base">
                                            <p:cTn id="41" dur="750" fill="hold"/>
                                            <p:tgtEl>
                                              <p:spTgt spid="78"/>
                                            </p:tgtEl>
                                            <p:attrNameLst>
                                              <p:attrName>ppt_y</p:attrName>
                                            </p:attrNameLst>
                                          </p:cBhvr>
                                          <p:tavLst>
                                            <p:tav tm="0">
                                              <p:val>
                                                <p:strVal val="0-#ppt_h/2"/>
                                              </p:val>
                                            </p:tav>
                                            <p:tav tm="100000">
                                              <p:val>
                                                <p:strVal val="#ppt_y"/>
                                              </p:val>
                                            </p:tav>
                                          </p:tavLst>
                                        </p:anim>
                                      </p:childTnLst>
                                    </p:cTn>
                                  </p:par>
                                  <p:par>
                                    <p:cTn id="42" presetID="2" presetClass="entr" presetSubtype="4" accel="40000" fill="hold" nodeType="withEffect" p14:presetBounceEnd="60000">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14:bounceEnd="60000">
                                          <p:cBhvr additive="base">
                                            <p:cTn id="44" dur="750" fill="hold"/>
                                            <p:tgtEl>
                                              <p:spTgt spid="32"/>
                                            </p:tgtEl>
                                            <p:attrNameLst>
                                              <p:attrName>ppt_x</p:attrName>
                                            </p:attrNameLst>
                                          </p:cBhvr>
                                          <p:tavLst>
                                            <p:tav tm="0">
                                              <p:val>
                                                <p:strVal val="#ppt_x"/>
                                              </p:val>
                                            </p:tav>
                                            <p:tav tm="100000">
                                              <p:val>
                                                <p:strVal val="#ppt_x"/>
                                              </p:val>
                                            </p:tav>
                                          </p:tavLst>
                                        </p:anim>
                                        <p:anim calcmode="lin" valueType="num" p14:bounceEnd="60000">
                                          <p:cBhvr additive="base">
                                            <p:cTn id="45" dur="750" fill="hold"/>
                                            <p:tgtEl>
                                              <p:spTgt spid="32"/>
                                            </p:tgtEl>
                                            <p:attrNameLst>
                                              <p:attrName>ppt_y</p:attrName>
                                            </p:attrNameLst>
                                          </p:cBhvr>
                                          <p:tavLst>
                                            <p:tav tm="0">
                                              <p:val>
                                                <p:strVal val="1+#ppt_h/2"/>
                                              </p:val>
                                            </p:tav>
                                            <p:tav tm="100000">
                                              <p:val>
                                                <p:strVal val="#ppt_y"/>
                                              </p:val>
                                            </p:tav>
                                          </p:tavLst>
                                        </p:anim>
                                      </p:childTnLst>
                                    </p:cTn>
                                  </p:par>
                                  <p:par>
                                    <p:cTn id="46" presetID="2" presetClass="entr" presetSubtype="4" accel="40000" fill="hold" nodeType="withEffect" p14:presetBounceEnd="60000">
                                      <p:stCondLst>
                                        <p:cond delay="250"/>
                                      </p:stCondLst>
                                      <p:childTnLst>
                                        <p:set>
                                          <p:cBhvr>
                                            <p:cTn id="47" dur="1" fill="hold">
                                              <p:stCondLst>
                                                <p:cond delay="0"/>
                                              </p:stCondLst>
                                            </p:cTn>
                                            <p:tgtEl>
                                              <p:spTgt spid="35"/>
                                            </p:tgtEl>
                                            <p:attrNameLst>
                                              <p:attrName>style.visibility</p:attrName>
                                            </p:attrNameLst>
                                          </p:cBhvr>
                                          <p:to>
                                            <p:strVal val="visible"/>
                                          </p:to>
                                        </p:set>
                                        <p:anim calcmode="lin" valueType="num" p14:bounceEnd="60000">
                                          <p:cBhvr additive="base">
                                            <p:cTn id="48" dur="750" fill="hold"/>
                                            <p:tgtEl>
                                              <p:spTgt spid="35"/>
                                            </p:tgtEl>
                                            <p:attrNameLst>
                                              <p:attrName>ppt_x</p:attrName>
                                            </p:attrNameLst>
                                          </p:cBhvr>
                                          <p:tavLst>
                                            <p:tav tm="0">
                                              <p:val>
                                                <p:strVal val="#ppt_x"/>
                                              </p:val>
                                            </p:tav>
                                            <p:tav tm="100000">
                                              <p:val>
                                                <p:strVal val="#ppt_x"/>
                                              </p:val>
                                            </p:tav>
                                          </p:tavLst>
                                        </p:anim>
                                        <p:anim calcmode="lin" valueType="num" p14:bounceEnd="60000">
                                          <p:cBhvr additive="base">
                                            <p:cTn id="49" dur="75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6" grpId="0"/>
          <p:bldP spid="54" grpId="0"/>
          <p:bldP spid="56" grpId="0"/>
          <p:bldP spid="40" grpId="0" animBg="1"/>
          <p:bldP spid="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decel="100000" fill="hold" grpId="0" nodeType="after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750" fill="hold"/>
                                            <p:tgtEl>
                                              <p:spTgt spid="49"/>
                                            </p:tgtEl>
                                            <p:attrNameLst>
                                              <p:attrName>ppt_x</p:attrName>
                                            </p:attrNameLst>
                                          </p:cBhvr>
                                          <p:tavLst>
                                            <p:tav tm="0">
                                              <p:val>
                                                <p:strVal val="1+#ppt_w/2"/>
                                              </p:val>
                                            </p:tav>
                                            <p:tav tm="100000">
                                              <p:val>
                                                <p:strVal val="#ppt_x"/>
                                              </p:val>
                                            </p:tav>
                                          </p:tavLst>
                                        </p:anim>
                                        <p:anim calcmode="lin" valueType="num">
                                          <p:cBhvr additive="base">
                                            <p:cTn id="13" dur="750" fill="hold"/>
                                            <p:tgtEl>
                                              <p:spTgt spid="4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50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750" fill="hold"/>
                                            <p:tgtEl>
                                              <p:spTgt spid="40"/>
                                            </p:tgtEl>
                                            <p:attrNameLst>
                                              <p:attrName>ppt_x</p:attrName>
                                            </p:attrNameLst>
                                          </p:cBhvr>
                                          <p:tavLst>
                                            <p:tav tm="0">
                                              <p:val>
                                                <p:strVal val="0-#ppt_w/2"/>
                                              </p:val>
                                            </p:tav>
                                            <p:tav tm="100000">
                                              <p:val>
                                                <p:strVal val="#ppt_x"/>
                                              </p:val>
                                            </p:tav>
                                          </p:tavLst>
                                        </p:anim>
                                        <p:anim calcmode="lin" valueType="num">
                                          <p:cBhvr additive="base">
                                            <p:cTn id="17" dur="75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750"/>
                                </p:stCondLst>
                                <p:childTnLst>
                                  <p:par>
                                    <p:cTn id="19" presetID="22" presetClass="entr" presetSubtype="2" fill="hold" grpId="0" nodeType="after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wipe(right)">
                                          <p:cBhvr>
                                            <p:cTn id="21" dur="750"/>
                                            <p:tgtEl>
                                              <p:spTgt spid="56"/>
                                            </p:tgtEl>
                                          </p:cBhvr>
                                        </p:animEffect>
                                      </p:childTnLst>
                                    </p:cTn>
                                  </p:par>
                                  <p:par>
                                    <p:cTn id="22" presetID="22" presetClass="entr" presetSubtype="2" fill="hold" grpId="0" nodeType="withEffect">
                                      <p:stCondLst>
                                        <p:cond delay="250"/>
                                      </p:stCondLst>
                                      <p:childTnLst>
                                        <p:set>
                                          <p:cBhvr>
                                            <p:cTn id="23" dur="1" fill="hold">
                                              <p:stCondLst>
                                                <p:cond delay="0"/>
                                              </p:stCondLst>
                                            </p:cTn>
                                            <p:tgtEl>
                                              <p:spTgt spid="46"/>
                                            </p:tgtEl>
                                            <p:attrNameLst>
                                              <p:attrName>style.visibility</p:attrName>
                                            </p:attrNameLst>
                                          </p:cBhvr>
                                          <p:to>
                                            <p:strVal val="visible"/>
                                          </p:to>
                                        </p:set>
                                        <p:animEffect transition="in" filter="wipe(right)">
                                          <p:cBhvr>
                                            <p:cTn id="24" dur="750"/>
                                            <p:tgtEl>
                                              <p:spTgt spid="46"/>
                                            </p:tgtEl>
                                          </p:cBhvr>
                                        </p:animEffect>
                                      </p:childTnLst>
                                    </p:cTn>
                                  </p:par>
                                  <p:par>
                                    <p:cTn id="25" presetID="22" presetClass="entr" presetSubtype="2" fill="hold" grpId="0" nodeType="withEffect">
                                      <p:stCondLst>
                                        <p:cond delay="750"/>
                                      </p:stCondLst>
                                      <p:childTnLst>
                                        <p:set>
                                          <p:cBhvr>
                                            <p:cTn id="26" dur="1" fill="hold">
                                              <p:stCondLst>
                                                <p:cond delay="0"/>
                                              </p:stCondLst>
                                            </p:cTn>
                                            <p:tgtEl>
                                              <p:spTgt spid="54"/>
                                            </p:tgtEl>
                                            <p:attrNameLst>
                                              <p:attrName>style.visibility</p:attrName>
                                            </p:attrNameLst>
                                          </p:cBhvr>
                                          <p:to>
                                            <p:strVal val="visible"/>
                                          </p:to>
                                        </p:set>
                                        <p:animEffect transition="in" filter="wipe(right)">
                                          <p:cBhvr>
                                            <p:cTn id="27" dur="750"/>
                                            <p:tgtEl>
                                              <p:spTgt spid="54"/>
                                            </p:tgtEl>
                                          </p:cBhvr>
                                        </p:animEffect>
                                      </p:childTnLst>
                                    </p:cTn>
                                  </p:par>
                                </p:childTnLst>
                              </p:cTn>
                            </p:par>
                            <p:par>
                              <p:cTn id="28" fill="hold">
                                <p:stCondLst>
                                  <p:cond delay="3250"/>
                                </p:stCondLst>
                                <p:childTnLst>
                                  <p:par>
                                    <p:cTn id="29" presetID="42"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750"/>
                                            <p:tgtEl>
                                              <p:spTgt spid="5"/>
                                            </p:tgtEl>
                                          </p:cBhvr>
                                        </p:animEffect>
                                        <p:anim calcmode="lin" valueType="num">
                                          <p:cBhvr>
                                            <p:cTn id="32" dur="750" fill="hold"/>
                                            <p:tgtEl>
                                              <p:spTgt spid="5"/>
                                            </p:tgtEl>
                                            <p:attrNameLst>
                                              <p:attrName>ppt_x</p:attrName>
                                            </p:attrNameLst>
                                          </p:cBhvr>
                                          <p:tavLst>
                                            <p:tav tm="0">
                                              <p:val>
                                                <p:strVal val="#ppt_x"/>
                                              </p:val>
                                            </p:tav>
                                            <p:tav tm="100000">
                                              <p:val>
                                                <p:strVal val="#ppt_x"/>
                                              </p:val>
                                            </p:tav>
                                          </p:tavLst>
                                        </p:anim>
                                        <p:anim calcmode="lin" valueType="num">
                                          <p:cBhvr>
                                            <p:cTn id="33" dur="750" fill="hold"/>
                                            <p:tgtEl>
                                              <p:spTgt spid="5"/>
                                            </p:tgtEl>
                                            <p:attrNameLst>
                                              <p:attrName>ppt_y</p:attrName>
                                            </p:attrNameLst>
                                          </p:cBhvr>
                                          <p:tavLst>
                                            <p:tav tm="0">
                                              <p:val>
                                                <p:strVal val="#ppt_y+.1"/>
                                              </p:val>
                                            </p:tav>
                                            <p:tav tm="100000">
                                              <p:val>
                                                <p:strVal val="#ppt_y"/>
                                              </p:val>
                                            </p:tav>
                                          </p:tavLst>
                                        </p:anim>
                                      </p:childTnLst>
                                    </p:cTn>
                                  </p:par>
                                  <p:par>
                                    <p:cTn id="34" presetID="2" presetClass="entr" presetSubtype="1" accel="4000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additive="base">
                                            <p:cTn id="36" dur="750" fill="hold"/>
                                            <p:tgtEl>
                                              <p:spTgt spid="29"/>
                                            </p:tgtEl>
                                            <p:attrNameLst>
                                              <p:attrName>ppt_x</p:attrName>
                                            </p:attrNameLst>
                                          </p:cBhvr>
                                          <p:tavLst>
                                            <p:tav tm="0">
                                              <p:val>
                                                <p:strVal val="#ppt_x"/>
                                              </p:val>
                                            </p:tav>
                                            <p:tav tm="100000">
                                              <p:val>
                                                <p:strVal val="#ppt_x"/>
                                              </p:val>
                                            </p:tav>
                                          </p:tavLst>
                                        </p:anim>
                                        <p:anim calcmode="lin" valueType="num">
                                          <p:cBhvr additive="base">
                                            <p:cTn id="37" dur="750" fill="hold"/>
                                            <p:tgtEl>
                                              <p:spTgt spid="29"/>
                                            </p:tgtEl>
                                            <p:attrNameLst>
                                              <p:attrName>ppt_y</p:attrName>
                                            </p:attrNameLst>
                                          </p:cBhvr>
                                          <p:tavLst>
                                            <p:tav tm="0">
                                              <p:val>
                                                <p:strVal val="0-#ppt_h/2"/>
                                              </p:val>
                                            </p:tav>
                                            <p:tav tm="100000">
                                              <p:val>
                                                <p:strVal val="#ppt_y"/>
                                              </p:val>
                                            </p:tav>
                                          </p:tavLst>
                                        </p:anim>
                                      </p:childTnLst>
                                    </p:cTn>
                                  </p:par>
                                  <p:par>
                                    <p:cTn id="38" presetID="2" presetClass="entr" presetSubtype="1" accel="40000" fill="hold" nodeType="withEffect">
                                      <p:stCondLst>
                                        <p:cond delay="250"/>
                                      </p:stCondLst>
                                      <p:childTnLst>
                                        <p:set>
                                          <p:cBhvr>
                                            <p:cTn id="39" dur="1" fill="hold">
                                              <p:stCondLst>
                                                <p:cond delay="0"/>
                                              </p:stCondLst>
                                            </p:cTn>
                                            <p:tgtEl>
                                              <p:spTgt spid="78"/>
                                            </p:tgtEl>
                                            <p:attrNameLst>
                                              <p:attrName>style.visibility</p:attrName>
                                            </p:attrNameLst>
                                          </p:cBhvr>
                                          <p:to>
                                            <p:strVal val="visible"/>
                                          </p:to>
                                        </p:set>
                                        <p:anim calcmode="lin" valueType="num">
                                          <p:cBhvr additive="base">
                                            <p:cTn id="40" dur="750" fill="hold"/>
                                            <p:tgtEl>
                                              <p:spTgt spid="78"/>
                                            </p:tgtEl>
                                            <p:attrNameLst>
                                              <p:attrName>ppt_x</p:attrName>
                                            </p:attrNameLst>
                                          </p:cBhvr>
                                          <p:tavLst>
                                            <p:tav tm="0">
                                              <p:val>
                                                <p:strVal val="#ppt_x"/>
                                              </p:val>
                                            </p:tav>
                                            <p:tav tm="100000">
                                              <p:val>
                                                <p:strVal val="#ppt_x"/>
                                              </p:val>
                                            </p:tav>
                                          </p:tavLst>
                                        </p:anim>
                                        <p:anim calcmode="lin" valueType="num">
                                          <p:cBhvr additive="base">
                                            <p:cTn id="41" dur="750" fill="hold"/>
                                            <p:tgtEl>
                                              <p:spTgt spid="78"/>
                                            </p:tgtEl>
                                            <p:attrNameLst>
                                              <p:attrName>ppt_y</p:attrName>
                                            </p:attrNameLst>
                                          </p:cBhvr>
                                          <p:tavLst>
                                            <p:tav tm="0">
                                              <p:val>
                                                <p:strVal val="0-#ppt_h/2"/>
                                              </p:val>
                                            </p:tav>
                                            <p:tav tm="100000">
                                              <p:val>
                                                <p:strVal val="#ppt_y"/>
                                              </p:val>
                                            </p:tav>
                                          </p:tavLst>
                                        </p:anim>
                                      </p:childTnLst>
                                    </p:cTn>
                                  </p:par>
                                  <p:par>
                                    <p:cTn id="42" presetID="2" presetClass="entr" presetSubtype="4" accel="40000" fill="hold" nodeType="with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750" fill="hold"/>
                                            <p:tgtEl>
                                              <p:spTgt spid="32"/>
                                            </p:tgtEl>
                                            <p:attrNameLst>
                                              <p:attrName>ppt_x</p:attrName>
                                            </p:attrNameLst>
                                          </p:cBhvr>
                                          <p:tavLst>
                                            <p:tav tm="0">
                                              <p:val>
                                                <p:strVal val="#ppt_x"/>
                                              </p:val>
                                            </p:tav>
                                            <p:tav tm="100000">
                                              <p:val>
                                                <p:strVal val="#ppt_x"/>
                                              </p:val>
                                            </p:tav>
                                          </p:tavLst>
                                        </p:anim>
                                        <p:anim calcmode="lin" valueType="num">
                                          <p:cBhvr additive="base">
                                            <p:cTn id="45" dur="750" fill="hold"/>
                                            <p:tgtEl>
                                              <p:spTgt spid="32"/>
                                            </p:tgtEl>
                                            <p:attrNameLst>
                                              <p:attrName>ppt_y</p:attrName>
                                            </p:attrNameLst>
                                          </p:cBhvr>
                                          <p:tavLst>
                                            <p:tav tm="0">
                                              <p:val>
                                                <p:strVal val="1+#ppt_h/2"/>
                                              </p:val>
                                            </p:tav>
                                            <p:tav tm="100000">
                                              <p:val>
                                                <p:strVal val="#ppt_y"/>
                                              </p:val>
                                            </p:tav>
                                          </p:tavLst>
                                        </p:anim>
                                      </p:childTnLst>
                                    </p:cTn>
                                  </p:par>
                                  <p:par>
                                    <p:cTn id="46" presetID="2" presetClass="entr" presetSubtype="4" accel="40000" fill="hold" nodeType="withEffect">
                                      <p:stCondLst>
                                        <p:cond delay="250"/>
                                      </p:stCondLst>
                                      <p:childTnLst>
                                        <p:set>
                                          <p:cBhvr>
                                            <p:cTn id="47" dur="1" fill="hold">
                                              <p:stCondLst>
                                                <p:cond delay="0"/>
                                              </p:stCondLst>
                                            </p:cTn>
                                            <p:tgtEl>
                                              <p:spTgt spid="35"/>
                                            </p:tgtEl>
                                            <p:attrNameLst>
                                              <p:attrName>style.visibility</p:attrName>
                                            </p:attrNameLst>
                                          </p:cBhvr>
                                          <p:to>
                                            <p:strVal val="visible"/>
                                          </p:to>
                                        </p:set>
                                        <p:anim calcmode="lin" valueType="num">
                                          <p:cBhvr additive="base">
                                            <p:cTn id="48" dur="750" fill="hold"/>
                                            <p:tgtEl>
                                              <p:spTgt spid="35"/>
                                            </p:tgtEl>
                                            <p:attrNameLst>
                                              <p:attrName>ppt_x</p:attrName>
                                            </p:attrNameLst>
                                          </p:cBhvr>
                                          <p:tavLst>
                                            <p:tav tm="0">
                                              <p:val>
                                                <p:strVal val="#ppt_x"/>
                                              </p:val>
                                            </p:tav>
                                            <p:tav tm="100000">
                                              <p:val>
                                                <p:strVal val="#ppt_x"/>
                                              </p:val>
                                            </p:tav>
                                          </p:tavLst>
                                        </p:anim>
                                        <p:anim calcmode="lin" valueType="num">
                                          <p:cBhvr additive="base">
                                            <p:cTn id="49" dur="75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6" grpId="0"/>
          <p:bldP spid="54" grpId="0"/>
          <p:bldP spid="56" grpId="0"/>
          <p:bldP spid="40" grpId="0" animBg="1"/>
          <p:bldP spid="5"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图片 73">
            <a:extLst>
              <a:ext uri="{FF2B5EF4-FFF2-40B4-BE49-F238E27FC236}">
                <a16:creationId xmlns:a16="http://schemas.microsoft.com/office/drawing/2014/main" id="{9DFC981C-104A-467B-8D1F-CC780D681AFD}"/>
              </a:ext>
            </a:extLst>
          </p:cNvPr>
          <p:cNvPicPr>
            <a:picLocks noChangeAspect="1"/>
          </p:cNvPicPr>
          <p:nvPr/>
        </p:nvPicPr>
        <p:blipFill>
          <a:blip r:embed="rId3" cstate="screen">
            <a:extLst>
              <a:ext uri="{BEBA8EAE-BF5A-486C-A8C5-ECC9F3942E4B}">
                <a14:imgProps xmlns:a14="http://schemas.microsoft.com/office/drawing/2010/main">
                  <a14:imgLayer>
                    <a14:imgEffect>
                      <a14:saturation sat="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5" name="矩形 74">
            <a:extLst>
              <a:ext uri="{FF2B5EF4-FFF2-40B4-BE49-F238E27FC236}">
                <a16:creationId xmlns:a16="http://schemas.microsoft.com/office/drawing/2014/main" id="{DD9EE919-4F0B-4A3F-A92F-01AABA3980E5}"/>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 name="矩形 4">
            <a:extLst>
              <a:ext uri="{FF2B5EF4-FFF2-40B4-BE49-F238E27FC236}">
                <a16:creationId xmlns:a16="http://schemas.microsoft.com/office/drawing/2014/main" id="{D1011B95-79F3-44A0-A9E8-128B4370ADEE}"/>
              </a:ext>
            </a:extLst>
          </p:cNvPr>
          <p:cNvSpPr/>
          <p:nvPr/>
        </p:nvSpPr>
        <p:spPr>
          <a:xfrm>
            <a:off x="652792" y="1056283"/>
            <a:ext cx="10801348" cy="5211882"/>
          </a:xfrm>
          <a:prstGeom prst="rect">
            <a:avLst/>
          </a:prstGeom>
          <a:solidFill>
            <a:srgbClr val="C0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a:extLst>
              <a:ext uri="{FF2B5EF4-FFF2-40B4-BE49-F238E27FC236}">
                <a16:creationId xmlns:a16="http://schemas.microsoft.com/office/drawing/2014/main" id="{1EB9E383-8E60-4E7E-9A6E-BE04ED248B3D}"/>
              </a:ext>
            </a:extLst>
          </p:cNvPr>
          <p:cNvSpPr txBox="1"/>
          <p:nvPr/>
        </p:nvSpPr>
        <p:spPr>
          <a:xfrm>
            <a:off x="4267200" y="184500"/>
            <a:ext cx="3657600" cy="830997"/>
          </a:xfrm>
          <a:prstGeom prst="rect">
            <a:avLst/>
          </a:prstGeom>
          <a:noFill/>
        </p:spPr>
        <p:txBody>
          <a:bodyPr wrap="square" rtlCol="0">
            <a:spAutoFit/>
          </a:bodyPr>
          <a:lstStyle/>
          <a:p>
            <a:pPr algn="ctr"/>
            <a:r>
              <a:rPr lang="en-US" altLang="zh-CN" sz="4800" b="1" dirty="0">
                <a:solidFill>
                  <a:srgbClr val="002060">
                    <a:alpha val="10000"/>
                  </a:srgbClr>
                </a:solidFill>
                <a:cs typeface="+mn-ea"/>
                <a:sym typeface="+mn-lt"/>
              </a:rPr>
              <a:t>CONTENTS</a:t>
            </a:r>
            <a:endParaRPr lang="zh-CN" altLang="en-US" sz="4800" b="1" dirty="0">
              <a:solidFill>
                <a:srgbClr val="002060">
                  <a:alpha val="10000"/>
                </a:srgbClr>
              </a:solidFill>
              <a:cs typeface="+mn-ea"/>
              <a:sym typeface="+mn-lt"/>
            </a:endParaRPr>
          </a:p>
        </p:txBody>
      </p:sp>
      <p:sp>
        <p:nvSpPr>
          <p:cNvPr id="6" name="文本框 5">
            <a:extLst>
              <a:ext uri="{FF2B5EF4-FFF2-40B4-BE49-F238E27FC236}">
                <a16:creationId xmlns:a16="http://schemas.microsoft.com/office/drawing/2014/main" id="{0EC0D13B-FD06-42C8-A804-CE69E3B3E20F}"/>
              </a:ext>
            </a:extLst>
          </p:cNvPr>
          <p:cNvSpPr txBox="1"/>
          <p:nvPr/>
        </p:nvSpPr>
        <p:spPr>
          <a:xfrm>
            <a:off x="5404282" y="360328"/>
            <a:ext cx="1371600" cy="769441"/>
          </a:xfrm>
          <a:prstGeom prst="rect">
            <a:avLst/>
          </a:prstGeom>
          <a:noFill/>
        </p:spPr>
        <p:txBody>
          <a:bodyPr wrap="square" rtlCol="0">
            <a:spAutoFit/>
          </a:bodyPr>
          <a:lstStyle/>
          <a:p>
            <a:pPr algn="ctr"/>
            <a:r>
              <a:rPr lang="zh-CN" altLang="en-US" sz="4400" b="1" dirty="0">
                <a:solidFill>
                  <a:srgbClr val="002060"/>
                </a:solidFill>
                <a:cs typeface="+mn-ea"/>
                <a:sym typeface="+mn-lt"/>
              </a:rPr>
              <a:t>目录</a:t>
            </a:r>
          </a:p>
        </p:txBody>
      </p:sp>
      <p:cxnSp>
        <p:nvCxnSpPr>
          <p:cNvPr id="36" name="直接连接符 35">
            <a:extLst>
              <a:ext uri="{FF2B5EF4-FFF2-40B4-BE49-F238E27FC236}">
                <a16:creationId xmlns:a16="http://schemas.microsoft.com/office/drawing/2014/main" id="{1433BD40-9454-4CE6-BA57-9120432FDBE1}"/>
              </a:ext>
            </a:extLst>
          </p:cNvPr>
          <p:cNvCxnSpPr>
            <a:cxnSpLocks/>
          </p:cNvCxnSpPr>
          <p:nvPr/>
        </p:nvCxnSpPr>
        <p:spPr>
          <a:xfrm flipH="1">
            <a:off x="982330" y="1102670"/>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81017E5-B17B-4FC7-A111-24F43138C4CB}"/>
              </a:ext>
            </a:extLst>
          </p:cNvPr>
          <p:cNvCxnSpPr>
            <a:cxnSpLocks/>
          </p:cNvCxnSpPr>
          <p:nvPr/>
        </p:nvCxnSpPr>
        <p:spPr>
          <a:xfrm flipH="1">
            <a:off x="11178639" y="4969029"/>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DB04C99-193D-495E-B789-FAE5C3D95809}"/>
              </a:ext>
            </a:extLst>
          </p:cNvPr>
          <p:cNvCxnSpPr>
            <a:cxnSpLocks/>
          </p:cNvCxnSpPr>
          <p:nvPr/>
        </p:nvCxnSpPr>
        <p:spPr>
          <a:xfrm flipH="1">
            <a:off x="5758183" y="1297850"/>
            <a:ext cx="675634" cy="0"/>
          </a:xfrm>
          <a:prstGeom prst="line">
            <a:avLst/>
          </a:prstGeom>
          <a:ln w="25400" cap="rnd">
            <a:solidFill>
              <a:srgbClr val="FF9900"/>
            </a:solidFill>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2C4A123F-340C-4B2B-A0C3-2D1EBE3FA390}"/>
              </a:ext>
            </a:extLst>
          </p:cNvPr>
          <p:cNvGrpSpPr/>
          <p:nvPr/>
        </p:nvGrpSpPr>
        <p:grpSpPr>
          <a:xfrm>
            <a:off x="5233807" y="1766223"/>
            <a:ext cx="1724386" cy="1926889"/>
            <a:chOff x="5782378" y="3073242"/>
            <a:chExt cx="1724386" cy="1926889"/>
          </a:xfrm>
        </p:grpSpPr>
        <p:sp>
          <p:nvSpPr>
            <p:cNvPr id="42" name="文本框 41">
              <a:extLst>
                <a:ext uri="{FF2B5EF4-FFF2-40B4-BE49-F238E27FC236}">
                  <a16:creationId xmlns:a16="http://schemas.microsoft.com/office/drawing/2014/main" id="{BFEA5475-676E-4ABF-8A8A-A47D2D6BC315}"/>
                </a:ext>
              </a:extLst>
            </p:cNvPr>
            <p:cNvSpPr txBox="1"/>
            <p:nvPr/>
          </p:nvSpPr>
          <p:spPr>
            <a:xfrm>
              <a:off x="6144980" y="3073242"/>
              <a:ext cx="999183" cy="769441"/>
            </a:xfrm>
            <a:prstGeom prst="rect">
              <a:avLst/>
            </a:prstGeom>
            <a:noFill/>
          </p:spPr>
          <p:txBody>
            <a:bodyPr wrap="square" rtlCol="0">
              <a:spAutoFit/>
            </a:bodyPr>
            <a:lstStyle/>
            <a:p>
              <a:pPr algn="ctr"/>
              <a:r>
                <a:rPr lang="en-US" altLang="zh-CN" sz="4400" dirty="0">
                  <a:solidFill>
                    <a:schemeClr val="bg1"/>
                  </a:solidFill>
                  <a:cs typeface="+mn-ea"/>
                  <a:sym typeface="+mn-lt"/>
                </a:rPr>
                <a:t>02.</a:t>
              </a:r>
            </a:p>
          </p:txBody>
        </p:sp>
        <p:sp>
          <p:nvSpPr>
            <p:cNvPr id="43" name="文本框 42">
              <a:extLst>
                <a:ext uri="{FF2B5EF4-FFF2-40B4-BE49-F238E27FC236}">
                  <a16:creationId xmlns:a16="http://schemas.microsoft.com/office/drawing/2014/main" id="{C34A7FB9-5ECF-4A3E-A028-78F41B653A30}"/>
                </a:ext>
              </a:extLst>
            </p:cNvPr>
            <p:cNvSpPr txBox="1"/>
            <p:nvPr/>
          </p:nvSpPr>
          <p:spPr>
            <a:xfrm flipH="1">
              <a:off x="5782378" y="3861358"/>
              <a:ext cx="1724386" cy="1138773"/>
            </a:xfrm>
            <a:prstGeom prst="rect">
              <a:avLst/>
            </a:prstGeom>
            <a:noFill/>
          </p:spPr>
          <p:txBody>
            <a:bodyPr wrap="square" rtlCol="0">
              <a:spAutoFit/>
            </a:bodyPr>
            <a:lstStyle/>
            <a:p>
              <a:pPr algn="ctr"/>
              <a:r>
                <a:rPr lang="zh-CN" altLang="en-US" sz="2000" dirty="0">
                  <a:solidFill>
                    <a:schemeClr val="bg1"/>
                  </a:solidFill>
                  <a:cs typeface="+mn-ea"/>
                  <a:sym typeface="+mn-lt"/>
                </a:rPr>
                <a:t>销售利润率</a:t>
              </a:r>
              <a:r>
                <a:rPr lang="en-US" altLang="zh-CN" sz="1200" dirty="0">
                  <a:solidFill>
                    <a:schemeClr val="bg1"/>
                  </a:solidFill>
                  <a:cs typeface="+mn-ea"/>
                  <a:sym typeface="+mn-lt"/>
                </a:rPr>
                <a:t>Profit margin on sales</a:t>
              </a:r>
            </a:p>
            <a:p>
              <a:pPr algn="ctr"/>
              <a:endParaRPr lang="en-US" altLang="zh-CN" sz="1200" dirty="0">
                <a:solidFill>
                  <a:schemeClr val="bg1"/>
                </a:solidFill>
                <a:cs typeface="+mn-ea"/>
                <a:sym typeface="+mn-lt"/>
              </a:endParaRPr>
            </a:p>
            <a:p>
              <a:pPr algn="ctr"/>
              <a:endParaRPr lang="zh-CN" altLang="en-US" sz="1200" dirty="0">
                <a:solidFill>
                  <a:schemeClr val="bg1"/>
                </a:solidFill>
                <a:cs typeface="+mn-ea"/>
                <a:sym typeface="+mn-lt"/>
              </a:endParaRPr>
            </a:p>
          </p:txBody>
        </p:sp>
      </p:grpSp>
      <p:grpSp>
        <p:nvGrpSpPr>
          <p:cNvPr id="50" name="组合 49">
            <a:extLst>
              <a:ext uri="{FF2B5EF4-FFF2-40B4-BE49-F238E27FC236}">
                <a16:creationId xmlns:a16="http://schemas.microsoft.com/office/drawing/2014/main" id="{0B5D8CCF-A93F-41E6-AF82-10462F99A7B8}"/>
              </a:ext>
            </a:extLst>
          </p:cNvPr>
          <p:cNvGrpSpPr/>
          <p:nvPr/>
        </p:nvGrpSpPr>
        <p:grpSpPr>
          <a:xfrm>
            <a:off x="7881047" y="1784898"/>
            <a:ext cx="2136198" cy="1357579"/>
            <a:chOff x="7219609" y="3208931"/>
            <a:chExt cx="2136198" cy="1357579"/>
          </a:xfrm>
        </p:grpSpPr>
        <p:sp>
          <p:nvSpPr>
            <p:cNvPr id="44" name="文本框 43">
              <a:extLst>
                <a:ext uri="{FF2B5EF4-FFF2-40B4-BE49-F238E27FC236}">
                  <a16:creationId xmlns:a16="http://schemas.microsoft.com/office/drawing/2014/main" id="{468ECBBE-50CB-4A9A-92B7-CA0ECC716112}"/>
                </a:ext>
              </a:extLst>
            </p:cNvPr>
            <p:cNvSpPr txBox="1"/>
            <p:nvPr/>
          </p:nvSpPr>
          <p:spPr>
            <a:xfrm>
              <a:off x="7902141" y="3208931"/>
              <a:ext cx="999183" cy="769441"/>
            </a:xfrm>
            <a:prstGeom prst="rect">
              <a:avLst/>
            </a:prstGeom>
            <a:noFill/>
          </p:spPr>
          <p:txBody>
            <a:bodyPr wrap="square" rtlCol="0">
              <a:spAutoFit/>
            </a:bodyPr>
            <a:lstStyle/>
            <a:p>
              <a:pPr algn="ctr"/>
              <a:r>
                <a:rPr lang="en-US" altLang="zh-CN" sz="4400" dirty="0">
                  <a:solidFill>
                    <a:schemeClr val="bg1"/>
                  </a:solidFill>
                  <a:cs typeface="+mn-ea"/>
                  <a:sym typeface="+mn-lt"/>
                </a:rPr>
                <a:t>03.</a:t>
              </a:r>
            </a:p>
          </p:txBody>
        </p:sp>
        <p:sp>
          <p:nvSpPr>
            <p:cNvPr id="45" name="文本框 44">
              <a:extLst>
                <a:ext uri="{FF2B5EF4-FFF2-40B4-BE49-F238E27FC236}">
                  <a16:creationId xmlns:a16="http://schemas.microsoft.com/office/drawing/2014/main" id="{9E397111-3B22-481A-810C-464A726AFB88}"/>
                </a:ext>
              </a:extLst>
            </p:cNvPr>
            <p:cNvSpPr txBox="1"/>
            <p:nvPr/>
          </p:nvSpPr>
          <p:spPr>
            <a:xfrm flipH="1">
              <a:off x="7219609" y="3981735"/>
              <a:ext cx="2136198" cy="584775"/>
            </a:xfrm>
            <a:prstGeom prst="rect">
              <a:avLst/>
            </a:prstGeom>
            <a:noFill/>
          </p:spPr>
          <p:txBody>
            <a:bodyPr wrap="square" rtlCol="0">
              <a:spAutoFit/>
            </a:bodyPr>
            <a:lstStyle/>
            <a:p>
              <a:pPr algn="ctr"/>
              <a:r>
                <a:rPr lang="zh-CN" altLang="en-US" sz="2000" dirty="0">
                  <a:solidFill>
                    <a:schemeClr val="bg1"/>
                  </a:solidFill>
                  <a:cs typeface="+mn-ea"/>
                  <a:sym typeface="+mn-lt"/>
                </a:rPr>
                <a:t>权益乘数</a:t>
              </a:r>
              <a:endParaRPr lang="en-US" altLang="zh-CN" sz="2000" dirty="0">
                <a:solidFill>
                  <a:schemeClr val="bg1"/>
                </a:solidFill>
                <a:cs typeface="+mn-ea"/>
                <a:sym typeface="+mn-lt"/>
              </a:endParaRPr>
            </a:p>
            <a:p>
              <a:pPr algn="ctr"/>
              <a:r>
                <a:rPr lang="en-US" altLang="zh-CN" sz="1200" dirty="0">
                  <a:solidFill>
                    <a:schemeClr val="bg1"/>
                  </a:solidFill>
                  <a:cs typeface="+mn-ea"/>
                  <a:sym typeface="+mn-lt"/>
                </a:rPr>
                <a:t>Equity multiplier</a:t>
              </a:r>
            </a:p>
          </p:txBody>
        </p:sp>
      </p:grpSp>
      <p:grpSp>
        <p:nvGrpSpPr>
          <p:cNvPr id="48" name="组合 47">
            <a:extLst>
              <a:ext uri="{FF2B5EF4-FFF2-40B4-BE49-F238E27FC236}">
                <a16:creationId xmlns:a16="http://schemas.microsoft.com/office/drawing/2014/main" id="{95A4A92B-5D72-4B2E-B9AE-F7C349E8C69C}"/>
              </a:ext>
            </a:extLst>
          </p:cNvPr>
          <p:cNvGrpSpPr/>
          <p:nvPr/>
        </p:nvGrpSpPr>
        <p:grpSpPr>
          <a:xfrm>
            <a:off x="2092719" y="1839104"/>
            <a:ext cx="1724386" cy="1842724"/>
            <a:chOff x="3517529" y="3018212"/>
            <a:chExt cx="1724386" cy="1842724"/>
          </a:xfrm>
        </p:grpSpPr>
        <p:sp>
          <p:nvSpPr>
            <p:cNvPr id="30" name="文本框 29">
              <a:extLst>
                <a:ext uri="{FF2B5EF4-FFF2-40B4-BE49-F238E27FC236}">
                  <a16:creationId xmlns:a16="http://schemas.microsoft.com/office/drawing/2014/main" id="{5A0F4D58-EB00-4647-B5B3-F8514727611A}"/>
                </a:ext>
              </a:extLst>
            </p:cNvPr>
            <p:cNvSpPr txBox="1"/>
            <p:nvPr/>
          </p:nvSpPr>
          <p:spPr>
            <a:xfrm>
              <a:off x="3888652" y="3018212"/>
              <a:ext cx="999183" cy="769441"/>
            </a:xfrm>
            <a:prstGeom prst="rect">
              <a:avLst/>
            </a:prstGeom>
            <a:noFill/>
          </p:spPr>
          <p:txBody>
            <a:bodyPr wrap="square" rtlCol="0">
              <a:spAutoFit/>
            </a:bodyPr>
            <a:lstStyle/>
            <a:p>
              <a:pPr algn="ctr"/>
              <a:r>
                <a:rPr lang="en-US" altLang="zh-CN" sz="4400" dirty="0">
                  <a:solidFill>
                    <a:schemeClr val="bg1"/>
                  </a:solidFill>
                  <a:cs typeface="+mn-ea"/>
                  <a:sym typeface="+mn-lt"/>
                </a:rPr>
                <a:t>01.</a:t>
              </a:r>
            </a:p>
          </p:txBody>
        </p:sp>
        <p:sp>
          <p:nvSpPr>
            <p:cNvPr id="35" name="文本框 34">
              <a:extLst>
                <a:ext uri="{FF2B5EF4-FFF2-40B4-BE49-F238E27FC236}">
                  <a16:creationId xmlns:a16="http://schemas.microsoft.com/office/drawing/2014/main" id="{05165CDE-62DD-41BB-ABA2-CAF324DE7A8D}"/>
                </a:ext>
              </a:extLst>
            </p:cNvPr>
            <p:cNvSpPr txBox="1"/>
            <p:nvPr/>
          </p:nvSpPr>
          <p:spPr>
            <a:xfrm flipH="1">
              <a:off x="3517529" y="3722163"/>
              <a:ext cx="1724386" cy="1138773"/>
            </a:xfrm>
            <a:prstGeom prst="rect">
              <a:avLst/>
            </a:prstGeom>
            <a:noFill/>
          </p:spPr>
          <p:txBody>
            <a:bodyPr wrap="square" rtlCol="0">
              <a:spAutoFit/>
            </a:bodyPr>
            <a:lstStyle/>
            <a:p>
              <a:pPr algn="ctr"/>
              <a:r>
                <a:rPr lang="zh-CN" altLang="en-US" sz="2000" dirty="0">
                  <a:solidFill>
                    <a:schemeClr val="bg1"/>
                  </a:solidFill>
                  <a:cs typeface="+mn-ea"/>
                  <a:sym typeface="+mn-lt"/>
                </a:rPr>
                <a:t>杜邦分析图</a:t>
              </a:r>
              <a:r>
                <a:rPr lang="en-US" altLang="zh-CN" sz="1200" dirty="0">
                  <a:solidFill>
                    <a:schemeClr val="bg1"/>
                  </a:solidFill>
                  <a:cs typeface="+mn-ea"/>
                  <a:sym typeface="+mn-lt"/>
                </a:rPr>
                <a:t>DuPont analysis diagram</a:t>
              </a:r>
            </a:p>
            <a:p>
              <a:pPr algn="ctr"/>
              <a:endParaRPr lang="en-US" altLang="zh-CN" sz="1200" dirty="0">
                <a:solidFill>
                  <a:schemeClr val="bg1"/>
                </a:solidFill>
                <a:cs typeface="+mn-ea"/>
                <a:sym typeface="+mn-lt"/>
              </a:endParaRPr>
            </a:p>
            <a:p>
              <a:pPr algn="ctr"/>
              <a:endParaRPr lang="zh-CN" altLang="en-US" sz="1200" dirty="0">
                <a:solidFill>
                  <a:schemeClr val="bg1"/>
                </a:solidFill>
                <a:cs typeface="+mn-ea"/>
                <a:sym typeface="+mn-lt"/>
              </a:endParaRPr>
            </a:p>
          </p:txBody>
        </p:sp>
      </p:grpSp>
      <p:sp>
        <p:nvSpPr>
          <p:cNvPr id="56" name="矩形 55">
            <a:extLst>
              <a:ext uri="{FF2B5EF4-FFF2-40B4-BE49-F238E27FC236}">
                <a16:creationId xmlns:a16="http://schemas.microsoft.com/office/drawing/2014/main" id="{654C7D92-4B2B-4C7E-9ED4-187570BE803F}"/>
              </a:ext>
            </a:extLst>
          </p:cNvPr>
          <p:cNvSpPr/>
          <p:nvPr/>
        </p:nvSpPr>
        <p:spPr>
          <a:xfrm>
            <a:off x="1251901" y="1571042"/>
            <a:ext cx="9688200" cy="427513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8" name="直接连接符 57">
            <a:extLst>
              <a:ext uri="{FF2B5EF4-FFF2-40B4-BE49-F238E27FC236}">
                <a16:creationId xmlns:a16="http://schemas.microsoft.com/office/drawing/2014/main" id="{983D54CE-69AD-45D7-AB62-752CEB6EC23C}"/>
              </a:ext>
            </a:extLst>
          </p:cNvPr>
          <p:cNvCxnSpPr>
            <a:cxnSpLocks/>
          </p:cNvCxnSpPr>
          <p:nvPr/>
        </p:nvCxnSpPr>
        <p:spPr>
          <a:xfrm flipH="1">
            <a:off x="4193433" y="6038620"/>
            <a:ext cx="159018" cy="275932"/>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461C66F-E097-4EDC-8D47-D85B35D37B8A}"/>
              </a:ext>
            </a:extLst>
          </p:cNvPr>
          <p:cNvCxnSpPr>
            <a:cxnSpLocks/>
          </p:cNvCxnSpPr>
          <p:nvPr/>
        </p:nvCxnSpPr>
        <p:spPr>
          <a:xfrm flipH="1">
            <a:off x="10313248" y="1102670"/>
            <a:ext cx="159018" cy="2759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C5F03EA1-B513-4899-BF09-FBA98B8179C5}"/>
              </a:ext>
            </a:extLst>
          </p:cNvPr>
          <p:cNvCxnSpPr>
            <a:cxnSpLocks/>
          </p:cNvCxnSpPr>
          <p:nvPr/>
        </p:nvCxnSpPr>
        <p:spPr>
          <a:xfrm flipH="1">
            <a:off x="4267200" y="5979938"/>
            <a:ext cx="159018" cy="275932"/>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847EB52-1D41-44F5-B729-53CB7A12401F}"/>
              </a:ext>
            </a:extLst>
          </p:cNvPr>
          <p:cNvCxnSpPr>
            <a:cxnSpLocks/>
          </p:cNvCxnSpPr>
          <p:nvPr/>
        </p:nvCxnSpPr>
        <p:spPr>
          <a:xfrm>
            <a:off x="4426218" y="2071534"/>
            <a:ext cx="0" cy="1074022"/>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C8F284E9-26ED-4D76-85CB-49F987411396}"/>
              </a:ext>
            </a:extLst>
          </p:cNvPr>
          <p:cNvCxnSpPr>
            <a:cxnSpLocks/>
          </p:cNvCxnSpPr>
          <p:nvPr/>
        </p:nvCxnSpPr>
        <p:spPr>
          <a:xfrm>
            <a:off x="7588323" y="1998653"/>
            <a:ext cx="0" cy="1074022"/>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92C406FB-8FC2-6DA9-0735-D42DAFCDC192}"/>
              </a:ext>
            </a:extLst>
          </p:cNvPr>
          <p:cNvGrpSpPr/>
          <p:nvPr/>
        </p:nvGrpSpPr>
        <p:grpSpPr>
          <a:xfrm>
            <a:off x="3564025" y="3770736"/>
            <a:ext cx="1724386" cy="1473392"/>
            <a:chOff x="3517529" y="3018212"/>
            <a:chExt cx="1724386" cy="1473392"/>
          </a:xfrm>
        </p:grpSpPr>
        <p:sp>
          <p:nvSpPr>
            <p:cNvPr id="3" name="文本框 2">
              <a:extLst>
                <a:ext uri="{FF2B5EF4-FFF2-40B4-BE49-F238E27FC236}">
                  <a16:creationId xmlns:a16="http://schemas.microsoft.com/office/drawing/2014/main" id="{D6865BB4-9A2F-DEF6-D27F-10008B42475D}"/>
                </a:ext>
              </a:extLst>
            </p:cNvPr>
            <p:cNvSpPr txBox="1"/>
            <p:nvPr/>
          </p:nvSpPr>
          <p:spPr>
            <a:xfrm>
              <a:off x="3888652" y="3018212"/>
              <a:ext cx="999183" cy="769441"/>
            </a:xfrm>
            <a:prstGeom prst="rect">
              <a:avLst/>
            </a:prstGeom>
            <a:noFill/>
          </p:spPr>
          <p:txBody>
            <a:bodyPr wrap="square" rtlCol="0">
              <a:spAutoFit/>
            </a:bodyPr>
            <a:lstStyle/>
            <a:p>
              <a:pPr algn="ctr"/>
              <a:r>
                <a:rPr lang="en-US" altLang="zh-CN" sz="4400" dirty="0">
                  <a:solidFill>
                    <a:schemeClr val="bg1"/>
                  </a:solidFill>
                  <a:cs typeface="+mn-ea"/>
                  <a:sym typeface="+mn-lt"/>
                </a:rPr>
                <a:t>04.</a:t>
              </a:r>
            </a:p>
          </p:txBody>
        </p:sp>
        <p:sp>
          <p:nvSpPr>
            <p:cNvPr id="4" name="文本框 3">
              <a:extLst>
                <a:ext uri="{FF2B5EF4-FFF2-40B4-BE49-F238E27FC236}">
                  <a16:creationId xmlns:a16="http://schemas.microsoft.com/office/drawing/2014/main" id="{A28D2F87-451B-2604-91DF-265E532DAC5B}"/>
                </a:ext>
              </a:extLst>
            </p:cNvPr>
            <p:cNvSpPr txBox="1"/>
            <p:nvPr/>
          </p:nvSpPr>
          <p:spPr>
            <a:xfrm flipH="1">
              <a:off x="3517529" y="3722163"/>
              <a:ext cx="1724386" cy="769441"/>
            </a:xfrm>
            <a:prstGeom prst="rect">
              <a:avLst/>
            </a:prstGeom>
            <a:noFill/>
          </p:spPr>
          <p:txBody>
            <a:bodyPr wrap="square" rtlCol="0">
              <a:spAutoFit/>
            </a:bodyPr>
            <a:lstStyle/>
            <a:p>
              <a:pPr algn="ctr"/>
              <a:r>
                <a:rPr lang="zh-CN" altLang="en-US" sz="2000" dirty="0">
                  <a:solidFill>
                    <a:schemeClr val="bg1"/>
                  </a:solidFill>
                  <a:cs typeface="+mn-ea"/>
                  <a:sym typeface="+mn-lt"/>
                </a:rPr>
                <a:t>资产结构</a:t>
              </a:r>
              <a:endParaRPr lang="en-US" altLang="zh-CN" sz="2000" dirty="0">
                <a:solidFill>
                  <a:schemeClr val="bg1"/>
                </a:solidFill>
                <a:cs typeface="+mn-ea"/>
                <a:sym typeface="+mn-lt"/>
              </a:endParaRPr>
            </a:p>
            <a:p>
              <a:pPr algn="ctr"/>
              <a:r>
                <a:rPr lang="en-US" altLang="zh-CN" sz="1200" dirty="0">
                  <a:solidFill>
                    <a:schemeClr val="bg1"/>
                  </a:solidFill>
                  <a:cs typeface="+mn-ea"/>
                  <a:sym typeface="+mn-lt"/>
                </a:rPr>
                <a:t>Asset structure</a:t>
              </a:r>
            </a:p>
            <a:p>
              <a:pPr algn="ctr"/>
              <a:endParaRPr lang="zh-CN" altLang="en-US" sz="1200" dirty="0">
                <a:solidFill>
                  <a:schemeClr val="bg1"/>
                </a:solidFill>
                <a:cs typeface="+mn-ea"/>
                <a:sym typeface="+mn-lt"/>
              </a:endParaRPr>
            </a:p>
          </p:txBody>
        </p:sp>
      </p:grpSp>
      <p:grpSp>
        <p:nvGrpSpPr>
          <p:cNvPr id="8" name="组合 7">
            <a:extLst>
              <a:ext uri="{FF2B5EF4-FFF2-40B4-BE49-F238E27FC236}">
                <a16:creationId xmlns:a16="http://schemas.microsoft.com/office/drawing/2014/main" id="{297F31F2-A2B8-293A-F9FE-C08B45A0F73D}"/>
              </a:ext>
            </a:extLst>
          </p:cNvPr>
          <p:cNvGrpSpPr/>
          <p:nvPr/>
        </p:nvGrpSpPr>
        <p:grpSpPr>
          <a:xfrm>
            <a:off x="6775882" y="3775139"/>
            <a:ext cx="1724386" cy="1473392"/>
            <a:chOff x="3517529" y="3018212"/>
            <a:chExt cx="1724386" cy="1473392"/>
          </a:xfrm>
        </p:grpSpPr>
        <p:sp>
          <p:nvSpPr>
            <p:cNvPr id="9" name="文本框 8">
              <a:extLst>
                <a:ext uri="{FF2B5EF4-FFF2-40B4-BE49-F238E27FC236}">
                  <a16:creationId xmlns:a16="http://schemas.microsoft.com/office/drawing/2014/main" id="{C100BBCC-1B61-3B3A-43C8-0B299378A5A8}"/>
                </a:ext>
              </a:extLst>
            </p:cNvPr>
            <p:cNvSpPr txBox="1"/>
            <p:nvPr/>
          </p:nvSpPr>
          <p:spPr>
            <a:xfrm>
              <a:off x="3888652" y="3018212"/>
              <a:ext cx="999183" cy="769441"/>
            </a:xfrm>
            <a:prstGeom prst="rect">
              <a:avLst/>
            </a:prstGeom>
            <a:noFill/>
          </p:spPr>
          <p:txBody>
            <a:bodyPr wrap="square" rtlCol="0">
              <a:spAutoFit/>
            </a:bodyPr>
            <a:lstStyle/>
            <a:p>
              <a:pPr algn="ctr"/>
              <a:r>
                <a:rPr lang="en-US" altLang="zh-CN" sz="4400" dirty="0">
                  <a:solidFill>
                    <a:schemeClr val="bg1"/>
                  </a:solidFill>
                  <a:cs typeface="+mn-ea"/>
                  <a:sym typeface="+mn-lt"/>
                </a:rPr>
                <a:t>05.</a:t>
              </a:r>
            </a:p>
          </p:txBody>
        </p:sp>
        <p:sp>
          <p:nvSpPr>
            <p:cNvPr id="10" name="文本框 9">
              <a:extLst>
                <a:ext uri="{FF2B5EF4-FFF2-40B4-BE49-F238E27FC236}">
                  <a16:creationId xmlns:a16="http://schemas.microsoft.com/office/drawing/2014/main" id="{A579CB10-4BB1-8E4F-4344-9F7B044E453F}"/>
                </a:ext>
              </a:extLst>
            </p:cNvPr>
            <p:cNvSpPr txBox="1"/>
            <p:nvPr/>
          </p:nvSpPr>
          <p:spPr>
            <a:xfrm flipH="1">
              <a:off x="3517529" y="3722163"/>
              <a:ext cx="1724386" cy="769441"/>
            </a:xfrm>
            <a:prstGeom prst="rect">
              <a:avLst/>
            </a:prstGeom>
            <a:noFill/>
          </p:spPr>
          <p:txBody>
            <a:bodyPr wrap="square" rtlCol="0">
              <a:spAutoFit/>
            </a:bodyPr>
            <a:lstStyle/>
            <a:p>
              <a:pPr algn="ctr"/>
              <a:r>
                <a:rPr lang="zh-CN" altLang="en-US" sz="2000" dirty="0">
                  <a:solidFill>
                    <a:schemeClr val="bg1"/>
                  </a:solidFill>
                  <a:cs typeface="+mn-ea"/>
                  <a:sym typeface="+mn-lt"/>
                </a:rPr>
                <a:t>资产周转情况</a:t>
              </a:r>
              <a:r>
                <a:rPr lang="en-US" altLang="zh-CN" sz="1200" dirty="0">
                  <a:solidFill>
                    <a:schemeClr val="bg1"/>
                  </a:solidFill>
                  <a:cs typeface="+mn-ea"/>
                  <a:sym typeface="+mn-lt"/>
                </a:rPr>
                <a:t>Asset turnover</a:t>
              </a:r>
            </a:p>
            <a:p>
              <a:pPr algn="ctr"/>
              <a:endParaRPr lang="zh-CN" altLang="en-US" sz="1200" dirty="0">
                <a:solidFill>
                  <a:schemeClr val="bg1"/>
                </a:solidFill>
                <a:cs typeface="+mn-ea"/>
                <a:sym typeface="+mn-lt"/>
              </a:endParaRPr>
            </a:p>
          </p:txBody>
        </p:sp>
      </p:grpSp>
      <p:cxnSp>
        <p:nvCxnSpPr>
          <p:cNvPr id="14" name="直接连接符 13">
            <a:extLst>
              <a:ext uri="{FF2B5EF4-FFF2-40B4-BE49-F238E27FC236}">
                <a16:creationId xmlns:a16="http://schemas.microsoft.com/office/drawing/2014/main" id="{D62A4D3F-E02D-D40C-DDEA-AC5FB4B7A081}"/>
              </a:ext>
            </a:extLst>
          </p:cNvPr>
          <p:cNvCxnSpPr>
            <a:cxnSpLocks/>
          </p:cNvCxnSpPr>
          <p:nvPr/>
        </p:nvCxnSpPr>
        <p:spPr>
          <a:xfrm>
            <a:off x="6090082" y="3937676"/>
            <a:ext cx="0" cy="1074022"/>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609226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250" fill="hold"/>
                                            <p:tgtEl>
                                              <p:spTgt spid="6"/>
                                            </p:tgtEl>
                                            <p:attrNameLst>
                                              <p:attrName>ppt_x</p:attrName>
                                            </p:attrNameLst>
                                          </p:cBhvr>
                                          <p:tavLst>
                                            <p:tav tm="0">
                                              <p:val>
                                                <p:strVal val="#ppt_x"/>
                                              </p:val>
                                            </p:tav>
                                            <p:tav tm="100000">
                                              <p:val>
                                                <p:strVal val="#ppt_x"/>
                                              </p:val>
                                            </p:tav>
                                          </p:tavLst>
                                        </p:anim>
                                        <p:anim calcmode="lin" valueType="num">
                                          <p:cBhvr additive="base">
                                            <p:cTn id="8" dur="1250" fill="hold"/>
                                            <p:tgtEl>
                                              <p:spTgt spid="6"/>
                                            </p:tgtEl>
                                            <p:attrNameLst>
                                              <p:attrName>ppt_y</p:attrName>
                                            </p:attrNameLst>
                                          </p:cBhvr>
                                          <p:tavLst>
                                            <p:tav tm="0">
                                              <p:val>
                                                <p:strVal val="0-#ppt_h/2"/>
                                              </p:val>
                                            </p:tav>
                                            <p:tav tm="100000">
                                              <p:val>
                                                <p:strVal val="#ppt_y"/>
                                              </p:val>
                                            </p:tav>
                                          </p:tavLst>
                                        </p:anim>
                                      </p:childTnLst>
                                    </p:cTn>
                                  </p:par>
                                  <p:par>
                                    <p:cTn id="9" presetID="47" presetClass="entr" presetSubtype="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250"/>
                                            <p:tgtEl>
                                              <p:spTgt spid="7"/>
                                            </p:tgtEl>
                                          </p:cBhvr>
                                        </p:animEffect>
                                        <p:anim calcmode="lin" valueType="num">
                                          <p:cBhvr>
                                            <p:cTn id="12" dur="1250" fill="hold"/>
                                            <p:tgtEl>
                                              <p:spTgt spid="7"/>
                                            </p:tgtEl>
                                            <p:attrNameLst>
                                              <p:attrName>ppt_x</p:attrName>
                                            </p:attrNameLst>
                                          </p:cBhvr>
                                          <p:tavLst>
                                            <p:tav tm="0">
                                              <p:val>
                                                <p:strVal val="#ppt_x"/>
                                              </p:val>
                                            </p:tav>
                                            <p:tav tm="100000">
                                              <p:val>
                                                <p:strVal val="#ppt_x"/>
                                              </p:val>
                                            </p:tav>
                                          </p:tavLst>
                                        </p:anim>
                                        <p:anim calcmode="lin" valueType="num">
                                          <p:cBhvr>
                                            <p:cTn id="13" dur="125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9" presetClass="entr" presetSubtype="0" decel="10000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750" fill="hold"/>
                                            <p:tgtEl>
                                              <p:spTgt spid="5"/>
                                            </p:tgtEl>
                                            <p:attrNameLst>
                                              <p:attrName>ppt_w</p:attrName>
                                            </p:attrNameLst>
                                          </p:cBhvr>
                                          <p:tavLst>
                                            <p:tav tm="0">
                                              <p:val>
                                                <p:fltVal val="0"/>
                                              </p:val>
                                            </p:tav>
                                            <p:tav tm="100000">
                                              <p:val>
                                                <p:strVal val="#ppt_w"/>
                                              </p:val>
                                            </p:tav>
                                          </p:tavLst>
                                        </p:anim>
                                        <p:anim calcmode="lin" valueType="num">
                                          <p:cBhvr>
                                            <p:cTn id="18" dur="1750" fill="hold"/>
                                            <p:tgtEl>
                                              <p:spTgt spid="5"/>
                                            </p:tgtEl>
                                            <p:attrNameLst>
                                              <p:attrName>ppt_h</p:attrName>
                                            </p:attrNameLst>
                                          </p:cBhvr>
                                          <p:tavLst>
                                            <p:tav tm="0">
                                              <p:val>
                                                <p:fltVal val="0"/>
                                              </p:val>
                                            </p:tav>
                                            <p:tav tm="100000">
                                              <p:val>
                                                <p:strVal val="#ppt_h"/>
                                              </p:val>
                                            </p:tav>
                                          </p:tavLst>
                                        </p:anim>
                                        <p:anim calcmode="lin" valueType="num">
                                          <p:cBhvr>
                                            <p:cTn id="19" dur="1750" fill="hold"/>
                                            <p:tgtEl>
                                              <p:spTgt spid="5"/>
                                            </p:tgtEl>
                                            <p:attrNameLst>
                                              <p:attrName>style.rotation</p:attrName>
                                            </p:attrNameLst>
                                          </p:cBhvr>
                                          <p:tavLst>
                                            <p:tav tm="0">
                                              <p:val>
                                                <p:fltVal val="360"/>
                                              </p:val>
                                            </p:tav>
                                            <p:tav tm="100000">
                                              <p:val>
                                                <p:fltVal val="0"/>
                                              </p:val>
                                            </p:tav>
                                          </p:tavLst>
                                        </p:anim>
                                        <p:animEffect transition="in" filter="fade">
                                          <p:cBhvr>
                                            <p:cTn id="20" dur="1750"/>
                                            <p:tgtEl>
                                              <p:spTgt spid="5"/>
                                            </p:tgtEl>
                                          </p:cBhvr>
                                        </p:animEffect>
                                      </p:childTnLst>
                                    </p:cTn>
                                  </p:par>
                                  <p:par>
                                    <p:cTn id="21" presetID="49" presetClass="entr" presetSubtype="0" decel="100000" fill="hold" grpId="0" nodeType="withEffect">
                                      <p:stCondLst>
                                        <p:cond delay="250"/>
                                      </p:stCondLst>
                                      <p:childTnLst>
                                        <p:set>
                                          <p:cBhvr>
                                            <p:cTn id="22" dur="1" fill="hold">
                                              <p:stCondLst>
                                                <p:cond delay="0"/>
                                              </p:stCondLst>
                                            </p:cTn>
                                            <p:tgtEl>
                                              <p:spTgt spid="56"/>
                                            </p:tgtEl>
                                            <p:attrNameLst>
                                              <p:attrName>style.visibility</p:attrName>
                                            </p:attrNameLst>
                                          </p:cBhvr>
                                          <p:to>
                                            <p:strVal val="visible"/>
                                          </p:to>
                                        </p:set>
                                        <p:anim calcmode="lin" valueType="num">
                                          <p:cBhvr>
                                            <p:cTn id="23" dur="1750" fill="hold"/>
                                            <p:tgtEl>
                                              <p:spTgt spid="56"/>
                                            </p:tgtEl>
                                            <p:attrNameLst>
                                              <p:attrName>ppt_w</p:attrName>
                                            </p:attrNameLst>
                                          </p:cBhvr>
                                          <p:tavLst>
                                            <p:tav tm="0">
                                              <p:val>
                                                <p:fltVal val="0"/>
                                              </p:val>
                                            </p:tav>
                                            <p:tav tm="100000">
                                              <p:val>
                                                <p:strVal val="#ppt_w"/>
                                              </p:val>
                                            </p:tav>
                                          </p:tavLst>
                                        </p:anim>
                                        <p:anim calcmode="lin" valueType="num">
                                          <p:cBhvr>
                                            <p:cTn id="24" dur="1750" fill="hold"/>
                                            <p:tgtEl>
                                              <p:spTgt spid="56"/>
                                            </p:tgtEl>
                                            <p:attrNameLst>
                                              <p:attrName>ppt_h</p:attrName>
                                            </p:attrNameLst>
                                          </p:cBhvr>
                                          <p:tavLst>
                                            <p:tav tm="0">
                                              <p:val>
                                                <p:fltVal val="0"/>
                                              </p:val>
                                            </p:tav>
                                            <p:tav tm="100000">
                                              <p:val>
                                                <p:strVal val="#ppt_h"/>
                                              </p:val>
                                            </p:tav>
                                          </p:tavLst>
                                        </p:anim>
                                        <p:anim calcmode="lin" valueType="num">
                                          <p:cBhvr>
                                            <p:cTn id="25" dur="1750" fill="hold"/>
                                            <p:tgtEl>
                                              <p:spTgt spid="56"/>
                                            </p:tgtEl>
                                            <p:attrNameLst>
                                              <p:attrName>style.rotation</p:attrName>
                                            </p:attrNameLst>
                                          </p:cBhvr>
                                          <p:tavLst>
                                            <p:tav tm="0">
                                              <p:val>
                                                <p:fltVal val="360"/>
                                              </p:val>
                                            </p:tav>
                                            <p:tav tm="100000">
                                              <p:val>
                                                <p:fltVal val="0"/>
                                              </p:val>
                                            </p:tav>
                                          </p:tavLst>
                                        </p:anim>
                                        <p:animEffect transition="in" filter="fade">
                                          <p:cBhvr>
                                            <p:cTn id="26" dur="1750"/>
                                            <p:tgtEl>
                                              <p:spTgt spid="56"/>
                                            </p:tgtEl>
                                          </p:cBhvr>
                                        </p:animEffect>
                                      </p:childTnLst>
                                    </p:cTn>
                                  </p:par>
                                </p:childTnLst>
                              </p:cTn>
                            </p:par>
                            <p:par>
                              <p:cTn id="27" fill="hold">
                                <p:stCondLst>
                                  <p:cond delay="3500"/>
                                </p:stCondLst>
                                <p:childTnLst>
                                  <p:par>
                                    <p:cTn id="28" presetID="16" presetClass="entr" presetSubtype="37"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barn(outVertical)">
                                          <p:cBhvr>
                                            <p:cTn id="30" dur="500"/>
                                            <p:tgtEl>
                                              <p:spTgt spid="39"/>
                                            </p:tgtEl>
                                          </p:cBhvr>
                                        </p:animEffect>
                                      </p:childTnLst>
                                    </p:cTn>
                                  </p:par>
                                </p:childTnLst>
                              </p:cTn>
                            </p:par>
                            <p:par>
                              <p:cTn id="31" fill="hold">
                                <p:stCondLst>
                                  <p:cond delay="4000"/>
                                </p:stCondLst>
                                <p:childTnLst>
                                  <p:par>
                                    <p:cTn id="32" presetID="16" presetClass="entr" presetSubtype="42" fill="hold" nodeType="after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barn(outHorizontal)">
                                          <p:cBhvr>
                                            <p:cTn id="34" dur="750"/>
                                            <p:tgtEl>
                                              <p:spTgt spid="62"/>
                                            </p:tgtEl>
                                          </p:cBhvr>
                                        </p:animEffect>
                                      </p:childTnLst>
                                    </p:cTn>
                                  </p:par>
                                  <p:par>
                                    <p:cTn id="35" presetID="16" presetClass="entr" presetSubtype="42"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barn(outHorizontal)">
                                          <p:cBhvr>
                                            <p:cTn id="37" dur="750"/>
                                            <p:tgtEl>
                                              <p:spTgt spid="67"/>
                                            </p:tgtEl>
                                          </p:cBhvr>
                                        </p:animEffect>
                                      </p:childTnLst>
                                    </p:cTn>
                                  </p:par>
                                </p:childTnLst>
                              </p:cTn>
                            </p:par>
                            <p:par>
                              <p:cTn id="38" fill="hold">
                                <p:stCondLst>
                                  <p:cond delay="4750"/>
                                </p:stCondLst>
                                <p:childTnLst>
                                  <p:par>
                                    <p:cTn id="39" presetID="22" presetClass="entr" presetSubtype="8"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left)">
                                          <p:cBhvr>
                                            <p:cTn id="41" dur="1000"/>
                                            <p:tgtEl>
                                              <p:spTgt spid="48"/>
                                            </p:tgtEl>
                                          </p:cBhvr>
                                        </p:animEffect>
                                      </p:childTnLst>
                                    </p:cTn>
                                  </p:par>
                                  <p:par>
                                    <p:cTn id="42" presetID="22" presetClass="entr" presetSubtype="8" fill="hold" nodeType="withEffect">
                                      <p:stCondLst>
                                        <p:cond delay="250"/>
                                      </p:stCondLst>
                                      <p:childTnLst>
                                        <p:set>
                                          <p:cBhvr>
                                            <p:cTn id="43" dur="1" fill="hold">
                                              <p:stCondLst>
                                                <p:cond delay="0"/>
                                              </p:stCondLst>
                                            </p:cTn>
                                            <p:tgtEl>
                                              <p:spTgt spid="49"/>
                                            </p:tgtEl>
                                            <p:attrNameLst>
                                              <p:attrName>style.visibility</p:attrName>
                                            </p:attrNameLst>
                                          </p:cBhvr>
                                          <p:to>
                                            <p:strVal val="visible"/>
                                          </p:to>
                                        </p:set>
                                        <p:animEffect transition="in" filter="wipe(left)">
                                          <p:cBhvr>
                                            <p:cTn id="44" dur="1000"/>
                                            <p:tgtEl>
                                              <p:spTgt spid="49"/>
                                            </p:tgtEl>
                                          </p:cBhvr>
                                        </p:animEffect>
                                      </p:childTnLst>
                                    </p:cTn>
                                  </p:par>
                                  <p:par>
                                    <p:cTn id="45" presetID="22" presetClass="entr" presetSubtype="8" fill="hold" nodeType="withEffect">
                                      <p:stCondLst>
                                        <p:cond delay="500"/>
                                      </p:stCondLst>
                                      <p:childTnLst>
                                        <p:set>
                                          <p:cBhvr>
                                            <p:cTn id="46" dur="1" fill="hold">
                                              <p:stCondLst>
                                                <p:cond delay="0"/>
                                              </p:stCondLst>
                                            </p:cTn>
                                            <p:tgtEl>
                                              <p:spTgt spid="50"/>
                                            </p:tgtEl>
                                            <p:attrNameLst>
                                              <p:attrName>style.visibility</p:attrName>
                                            </p:attrNameLst>
                                          </p:cBhvr>
                                          <p:to>
                                            <p:strVal val="visible"/>
                                          </p:to>
                                        </p:set>
                                        <p:animEffect transition="in" filter="wipe(left)">
                                          <p:cBhvr>
                                            <p:cTn id="47" dur="1000"/>
                                            <p:tgtEl>
                                              <p:spTgt spid="50"/>
                                            </p:tgtEl>
                                          </p:cBhvr>
                                        </p:animEffect>
                                      </p:childTnLst>
                                    </p:cTn>
                                  </p:par>
                                </p:childTnLst>
                              </p:cTn>
                            </p:par>
                            <p:par>
                              <p:cTn id="48" fill="hold">
                                <p:stCondLst>
                                  <p:cond delay="6250"/>
                                </p:stCondLst>
                                <p:childTnLst>
                                  <p:par>
                                    <p:cTn id="49" presetID="2" presetClass="entr" presetSubtype="1" accel="40000" fill="hold" nodeType="afterEffect" p14:presetBounceEnd="60000">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14:bounceEnd="60000">
                                          <p:cBhvr additive="base">
                                            <p:cTn id="51" dur="1500" fill="hold"/>
                                            <p:tgtEl>
                                              <p:spTgt spid="36"/>
                                            </p:tgtEl>
                                            <p:attrNameLst>
                                              <p:attrName>ppt_x</p:attrName>
                                            </p:attrNameLst>
                                          </p:cBhvr>
                                          <p:tavLst>
                                            <p:tav tm="0">
                                              <p:val>
                                                <p:strVal val="#ppt_x"/>
                                              </p:val>
                                            </p:tav>
                                            <p:tav tm="100000">
                                              <p:val>
                                                <p:strVal val="#ppt_x"/>
                                              </p:val>
                                            </p:tav>
                                          </p:tavLst>
                                        </p:anim>
                                        <p:anim calcmode="lin" valueType="num" p14:bounceEnd="60000">
                                          <p:cBhvr additive="base">
                                            <p:cTn id="52" dur="1500" fill="hold"/>
                                            <p:tgtEl>
                                              <p:spTgt spid="36"/>
                                            </p:tgtEl>
                                            <p:attrNameLst>
                                              <p:attrName>ppt_y</p:attrName>
                                            </p:attrNameLst>
                                          </p:cBhvr>
                                          <p:tavLst>
                                            <p:tav tm="0">
                                              <p:val>
                                                <p:strVal val="0-#ppt_h/2"/>
                                              </p:val>
                                            </p:tav>
                                            <p:tav tm="100000">
                                              <p:val>
                                                <p:strVal val="#ppt_y"/>
                                              </p:val>
                                            </p:tav>
                                          </p:tavLst>
                                        </p:anim>
                                      </p:childTnLst>
                                    </p:cTn>
                                  </p:par>
                                  <p:par>
                                    <p:cTn id="53" presetID="2" presetClass="entr" presetSubtype="1" accel="40000" fill="hold" nodeType="withEffect" p14:presetBounceEnd="60000">
                                      <p:stCondLst>
                                        <p:cond delay="500"/>
                                      </p:stCondLst>
                                      <p:childTnLst>
                                        <p:set>
                                          <p:cBhvr>
                                            <p:cTn id="54" dur="1" fill="hold">
                                              <p:stCondLst>
                                                <p:cond delay="0"/>
                                              </p:stCondLst>
                                            </p:cTn>
                                            <p:tgtEl>
                                              <p:spTgt spid="60"/>
                                            </p:tgtEl>
                                            <p:attrNameLst>
                                              <p:attrName>style.visibility</p:attrName>
                                            </p:attrNameLst>
                                          </p:cBhvr>
                                          <p:to>
                                            <p:strVal val="visible"/>
                                          </p:to>
                                        </p:set>
                                        <p:anim calcmode="lin" valueType="num" p14:bounceEnd="60000">
                                          <p:cBhvr additive="base">
                                            <p:cTn id="55" dur="1500" fill="hold"/>
                                            <p:tgtEl>
                                              <p:spTgt spid="60"/>
                                            </p:tgtEl>
                                            <p:attrNameLst>
                                              <p:attrName>ppt_x</p:attrName>
                                            </p:attrNameLst>
                                          </p:cBhvr>
                                          <p:tavLst>
                                            <p:tav tm="0">
                                              <p:val>
                                                <p:strVal val="#ppt_x"/>
                                              </p:val>
                                            </p:tav>
                                            <p:tav tm="100000">
                                              <p:val>
                                                <p:strVal val="#ppt_x"/>
                                              </p:val>
                                            </p:tav>
                                          </p:tavLst>
                                        </p:anim>
                                        <p:anim calcmode="lin" valueType="num" p14:bounceEnd="60000">
                                          <p:cBhvr additive="base">
                                            <p:cTn id="56" dur="1500" fill="hold"/>
                                            <p:tgtEl>
                                              <p:spTgt spid="60"/>
                                            </p:tgtEl>
                                            <p:attrNameLst>
                                              <p:attrName>ppt_y</p:attrName>
                                            </p:attrNameLst>
                                          </p:cBhvr>
                                          <p:tavLst>
                                            <p:tav tm="0">
                                              <p:val>
                                                <p:strVal val="0-#ppt_h/2"/>
                                              </p:val>
                                            </p:tav>
                                            <p:tav tm="100000">
                                              <p:val>
                                                <p:strVal val="#ppt_y"/>
                                              </p:val>
                                            </p:tav>
                                          </p:tavLst>
                                        </p:anim>
                                      </p:childTnLst>
                                    </p:cTn>
                                  </p:par>
                                  <p:par>
                                    <p:cTn id="57" presetID="2" presetClass="entr" presetSubtype="2" accel="40000" fill="hold" nodeType="withEffect" p14:presetBounceEnd="60000">
                                      <p:stCondLst>
                                        <p:cond delay="500"/>
                                      </p:stCondLst>
                                      <p:childTnLst>
                                        <p:set>
                                          <p:cBhvr>
                                            <p:cTn id="58" dur="1" fill="hold">
                                              <p:stCondLst>
                                                <p:cond delay="0"/>
                                              </p:stCondLst>
                                            </p:cTn>
                                            <p:tgtEl>
                                              <p:spTgt spid="37"/>
                                            </p:tgtEl>
                                            <p:attrNameLst>
                                              <p:attrName>style.visibility</p:attrName>
                                            </p:attrNameLst>
                                          </p:cBhvr>
                                          <p:to>
                                            <p:strVal val="visible"/>
                                          </p:to>
                                        </p:set>
                                        <p:anim calcmode="lin" valueType="num" p14:bounceEnd="60000">
                                          <p:cBhvr additive="base">
                                            <p:cTn id="59" dur="1500" fill="hold"/>
                                            <p:tgtEl>
                                              <p:spTgt spid="37"/>
                                            </p:tgtEl>
                                            <p:attrNameLst>
                                              <p:attrName>ppt_x</p:attrName>
                                            </p:attrNameLst>
                                          </p:cBhvr>
                                          <p:tavLst>
                                            <p:tav tm="0">
                                              <p:val>
                                                <p:strVal val="1+#ppt_w/2"/>
                                              </p:val>
                                            </p:tav>
                                            <p:tav tm="100000">
                                              <p:val>
                                                <p:strVal val="#ppt_x"/>
                                              </p:val>
                                            </p:tav>
                                          </p:tavLst>
                                        </p:anim>
                                        <p:anim calcmode="lin" valueType="num" p14:bounceEnd="60000">
                                          <p:cBhvr additive="base">
                                            <p:cTn id="60" dur="1500" fill="hold"/>
                                            <p:tgtEl>
                                              <p:spTgt spid="37"/>
                                            </p:tgtEl>
                                            <p:attrNameLst>
                                              <p:attrName>ppt_y</p:attrName>
                                            </p:attrNameLst>
                                          </p:cBhvr>
                                          <p:tavLst>
                                            <p:tav tm="0">
                                              <p:val>
                                                <p:strVal val="#ppt_y"/>
                                              </p:val>
                                            </p:tav>
                                            <p:tav tm="100000">
                                              <p:val>
                                                <p:strVal val="#ppt_y"/>
                                              </p:val>
                                            </p:tav>
                                          </p:tavLst>
                                        </p:anim>
                                      </p:childTnLst>
                                    </p:cTn>
                                  </p:par>
                                  <p:par>
                                    <p:cTn id="61" presetID="2" presetClass="entr" presetSubtype="4" accel="40000" fill="hold" nodeType="withEffect" p14:presetBounceEnd="60000">
                                      <p:stCondLst>
                                        <p:cond delay="250"/>
                                      </p:stCondLst>
                                      <p:childTnLst>
                                        <p:set>
                                          <p:cBhvr>
                                            <p:cTn id="62" dur="1" fill="hold">
                                              <p:stCondLst>
                                                <p:cond delay="0"/>
                                              </p:stCondLst>
                                            </p:cTn>
                                            <p:tgtEl>
                                              <p:spTgt spid="61"/>
                                            </p:tgtEl>
                                            <p:attrNameLst>
                                              <p:attrName>style.visibility</p:attrName>
                                            </p:attrNameLst>
                                          </p:cBhvr>
                                          <p:to>
                                            <p:strVal val="visible"/>
                                          </p:to>
                                        </p:set>
                                        <p:anim calcmode="lin" valueType="num" p14:bounceEnd="60000">
                                          <p:cBhvr additive="base">
                                            <p:cTn id="63" dur="1500" fill="hold"/>
                                            <p:tgtEl>
                                              <p:spTgt spid="61"/>
                                            </p:tgtEl>
                                            <p:attrNameLst>
                                              <p:attrName>ppt_x</p:attrName>
                                            </p:attrNameLst>
                                          </p:cBhvr>
                                          <p:tavLst>
                                            <p:tav tm="0">
                                              <p:val>
                                                <p:strVal val="#ppt_x"/>
                                              </p:val>
                                            </p:tav>
                                            <p:tav tm="100000">
                                              <p:val>
                                                <p:strVal val="#ppt_x"/>
                                              </p:val>
                                            </p:tav>
                                          </p:tavLst>
                                        </p:anim>
                                        <p:anim calcmode="lin" valueType="num" p14:bounceEnd="60000">
                                          <p:cBhvr additive="base">
                                            <p:cTn id="64" dur="1500" fill="hold"/>
                                            <p:tgtEl>
                                              <p:spTgt spid="61"/>
                                            </p:tgtEl>
                                            <p:attrNameLst>
                                              <p:attrName>ppt_y</p:attrName>
                                            </p:attrNameLst>
                                          </p:cBhvr>
                                          <p:tavLst>
                                            <p:tav tm="0">
                                              <p:val>
                                                <p:strVal val="1+#ppt_h/2"/>
                                              </p:val>
                                            </p:tav>
                                            <p:tav tm="100000">
                                              <p:val>
                                                <p:strVal val="#ppt_y"/>
                                              </p:val>
                                            </p:tav>
                                          </p:tavLst>
                                        </p:anim>
                                      </p:childTnLst>
                                    </p:cTn>
                                  </p:par>
                                  <p:par>
                                    <p:cTn id="65" presetID="2" presetClass="entr" presetSubtype="4" accel="40000" fill="hold" nodeType="withEffect" p14:presetBounceEnd="60000">
                                      <p:stCondLst>
                                        <p:cond delay="0"/>
                                      </p:stCondLst>
                                      <p:childTnLst>
                                        <p:set>
                                          <p:cBhvr>
                                            <p:cTn id="66" dur="1" fill="hold">
                                              <p:stCondLst>
                                                <p:cond delay="0"/>
                                              </p:stCondLst>
                                            </p:cTn>
                                            <p:tgtEl>
                                              <p:spTgt spid="58"/>
                                            </p:tgtEl>
                                            <p:attrNameLst>
                                              <p:attrName>style.visibility</p:attrName>
                                            </p:attrNameLst>
                                          </p:cBhvr>
                                          <p:to>
                                            <p:strVal val="visible"/>
                                          </p:to>
                                        </p:set>
                                        <p:anim calcmode="lin" valueType="num" p14:bounceEnd="60000">
                                          <p:cBhvr additive="base">
                                            <p:cTn id="67" dur="1500" fill="hold"/>
                                            <p:tgtEl>
                                              <p:spTgt spid="58"/>
                                            </p:tgtEl>
                                            <p:attrNameLst>
                                              <p:attrName>ppt_x</p:attrName>
                                            </p:attrNameLst>
                                          </p:cBhvr>
                                          <p:tavLst>
                                            <p:tav tm="0">
                                              <p:val>
                                                <p:strVal val="#ppt_x"/>
                                              </p:val>
                                            </p:tav>
                                            <p:tav tm="100000">
                                              <p:val>
                                                <p:strVal val="#ppt_x"/>
                                              </p:val>
                                            </p:tav>
                                          </p:tavLst>
                                        </p:anim>
                                        <p:anim calcmode="lin" valueType="num" p14:bounceEnd="60000">
                                          <p:cBhvr additive="base">
                                            <p:cTn id="68" dur="1500" fill="hold"/>
                                            <p:tgtEl>
                                              <p:spTgt spid="58"/>
                                            </p:tgtEl>
                                            <p:attrNameLst>
                                              <p:attrName>ppt_y</p:attrName>
                                            </p:attrNameLst>
                                          </p:cBhvr>
                                          <p:tavLst>
                                            <p:tav tm="0">
                                              <p:val>
                                                <p:strVal val="1+#ppt_h/2"/>
                                              </p:val>
                                            </p:tav>
                                            <p:tav tm="100000">
                                              <p:val>
                                                <p:strVal val="#ppt_y"/>
                                              </p:val>
                                            </p:tav>
                                          </p:tavLst>
                                        </p:anim>
                                      </p:childTnLst>
                                    </p:cTn>
                                  </p:par>
                                </p:childTnLst>
                              </p:cTn>
                            </p:par>
                            <p:par>
                              <p:cTn id="69" fill="hold">
                                <p:stCondLst>
                                  <p:cond delay="8250"/>
                                </p:stCondLst>
                                <p:childTnLst>
                                  <p:par>
                                    <p:cTn id="70" presetID="22" presetClass="entr" presetSubtype="8" fill="hold" nodeType="after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wipe(left)">
                                          <p:cBhvr>
                                            <p:cTn id="72" dur="1000"/>
                                            <p:tgtEl>
                                              <p:spTgt spid="2"/>
                                            </p:tgtEl>
                                          </p:cBhvr>
                                        </p:animEffect>
                                      </p:childTnLst>
                                    </p:cTn>
                                  </p:par>
                                </p:childTnLst>
                              </p:cTn>
                            </p:par>
                            <p:par>
                              <p:cTn id="73" fill="hold">
                                <p:stCondLst>
                                  <p:cond delay="9250"/>
                                </p:stCondLst>
                                <p:childTnLst>
                                  <p:par>
                                    <p:cTn id="74" presetID="22" presetClass="entr" presetSubtype="8" fill="hold" nodeType="after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wipe(left)">
                                          <p:cBhvr>
                                            <p:cTn id="76" dur="1000"/>
                                            <p:tgtEl>
                                              <p:spTgt spid="8"/>
                                            </p:tgtEl>
                                          </p:cBhvr>
                                        </p:animEffect>
                                      </p:childTnLst>
                                    </p:cTn>
                                  </p:par>
                                  <p:par>
                                    <p:cTn id="77" presetID="16" presetClass="entr" presetSubtype="42"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barn(outHorizontal)">
                                          <p:cBhvr>
                                            <p:cTn id="79"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6" grpId="0"/>
          <p:bldP spid="56"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250" fill="hold"/>
                                            <p:tgtEl>
                                              <p:spTgt spid="6"/>
                                            </p:tgtEl>
                                            <p:attrNameLst>
                                              <p:attrName>ppt_x</p:attrName>
                                            </p:attrNameLst>
                                          </p:cBhvr>
                                          <p:tavLst>
                                            <p:tav tm="0">
                                              <p:val>
                                                <p:strVal val="#ppt_x"/>
                                              </p:val>
                                            </p:tav>
                                            <p:tav tm="100000">
                                              <p:val>
                                                <p:strVal val="#ppt_x"/>
                                              </p:val>
                                            </p:tav>
                                          </p:tavLst>
                                        </p:anim>
                                        <p:anim calcmode="lin" valueType="num">
                                          <p:cBhvr additive="base">
                                            <p:cTn id="8" dur="1250" fill="hold"/>
                                            <p:tgtEl>
                                              <p:spTgt spid="6"/>
                                            </p:tgtEl>
                                            <p:attrNameLst>
                                              <p:attrName>ppt_y</p:attrName>
                                            </p:attrNameLst>
                                          </p:cBhvr>
                                          <p:tavLst>
                                            <p:tav tm="0">
                                              <p:val>
                                                <p:strVal val="0-#ppt_h/2"/>
                                              </p:val>
                                            </p:tav>
                                            <p:tav tm="100000">
                                              <p:val>
                                                <p:strVal val="#ppt_y"/>
                                              </p:val>
                                            </p:tav>
                                          </p:tavLst>
                                        </p:anim>
                                      </p:childTnLst>
                                    </p:cTn>
                                  </p:par>
                                  <p:par>
                                    <p:cTn id="9" presetID="47" presetClass="entr" presetSubtype="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250"/>
                                            <p:tgtEl>
                                              <p:spTgt spid="7"/>
                                            </p:tgtEl>
                                          </p:cBhvr>
                                        </p:animEffect>
                                        <p:anim calcmode="lin" valueType="num">
                                          <p:cBhvr>
                                            <p:cTn id="12" dur="1250" fill="hold"/>
                                            <p:tgtEl>
                                              <p:spTgt spid="7"/>
                                            </p:tgtEl>
                                            <p:attrNameLst>
                                              <p:attrName>ppt_x</p:attrName>
                                            </p:attrNameLst>
                                          </p:cBhvr>
                                          <p:tavLst>
                                            <p:tav tm="0">
                                              <p:val>
                                                <p:strVal val="#ppt_x"/>
                                              </p:val>
                                            </p:tav>
                                            <p:tav tm="100000">
                                              <p:val>
                                                <p:strVal val="#ppt_x"/>
                                              </p:val>
                                            </p:tav>
                                          </p:tavLst>
                                        </p:anim>
                                        <p:anim calcmode="lin" valueType="num">
                                          <p:cBhvr>
                                            <p:cTn id="13" dur="125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9" presetClass="entr" presetSubtype="0" decel="10000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750" fill="hold"/>
                                            <p:tgtEl>
                                              <p:spTgt spid="5"/>
                                            </p:tgtEl>
                                            <p:attrNameLst>
                                              <p:attrName>ppt_w</p:attrName>
                                            </p:attrNameLst>
                                          </p:cBhvr>
                                          <p:tavLst>
                                            <p:tav tm="0">
                                              <p:val>
                                                <p:fltVal val="0"/>
                                              </p:val>
                                            </p:tav>
                                            <p:tav tm="100000">
                                              <p:val>
                                                <p:strVal val="#ppt_w"/>
                                              </p:val>
                                            </p:tav>
                                          </p:tavLst>
                                        </p:anim>
                                        <p:anim calcmode="lin" valueType="num">
                                          <p:cBhvr>
                                            <p:cTn id="18" dur="1750" fill="hold"/>
                                            <p:tgtEl>
                                              <p:spTgt spid="5"/>
                                            </p:tgtEl>
                                            <p:attrNameLst>
                                              <p:attrName>ppt_h</p:attrName>
                                            </p:attrNameLst>
                                          </p:cBhvr>
                                          <p:tavLst>
                                            <p:tav tm="0">
                                              <p:val>
                                                <p:fltVal val="0"/>
                                              </p:val>
                                            </p:tav>
                                            <p:tav tm="100000">
                                              <p:val>
                                                <p:strVal val="#ppt_h"/>
                                              </p:val>
                                            </p:tav>
                                          </p:tavLst>
                                        </p:anim>
                                        <p:anim calcmode="lin" valueType="num">
                                          <p:cBhvr>
                                            <p:cTn id="19" dur="1750" fill="hold"/>
                                            <p:tgtEl>
                                              <p:spTgt spid="5"/>
                                            </p:tgtEl>
                                            <p:attrNameLst>
                                              <p:attrName>style.rotation</p:attrName>
                                            </p:attrNameLst>
                                          </p:cBhvr>
                                          <p:tavLst>
                                            <p:tav tm="0">
                                              <p:val>
                                                <p:fltVal val="360"/>
                                              </p:val>
                                            </p:tav>
                                            <p:tav tm="100000">
                                              <p:val>
                                                <p:fltVal val="0"/>
                                              </p:val>
                                            </p:tav>
                                          </p:tavLst>
                                        </p:anim>
                                        <p:animEffect transition="in" filter="fade">
                                          <p:cBhvr>
                                            <p:cTn id="20" dur="1750"/>
                                            <p:tgtEl>
                                              <p:spTgt spid="5"/>
                                            </p:tgtEl>
                                          </p:cBhvr>
                                        </p:animEffect>
                                      </p:childTnLst>
                                    </p:cTn>
                                  </p:par>
                                  <p:par>
                                    <p:cTn id="21" presetID="49" presetClass="entr" presetSubtype="0" decel="100000" fill="hold" grpId="0" nodeType="withEffect">
                                      <p:stCondLst>
                                        <p:cond delay="250"/>
                                      </p:stCondLst>
                                      <p:childTnLst>
                                        <p:set>
                                          <p:cBhvr>
                                            <p:cTn id="22" dur="1" fill="hold">
                                              <p:stCondLst>
                                                <p:cond delay="0"/>
                                              </p:stCondLst>
                                            </p:cTn>
                                            <p:tgtEl>
                                              <p:spTgt spid="56"/>
                                            </p:tgtEl>
                                            <p:attrNameLst>
                                              <p:attrName>style.visibility</p:attrName>
                                            </p:attrNameLst>
                                          </p:cBhvr>
                                          <p:to>
                                            <p:strVal val="visible"/>
                                          </p:to>
                                        </p:set>
                                        <p:anim calcmode="lin" valueType="num">
                                          <p:cBhvr>
                                            <p:cTn id="23" dur="1750" fill="hold"/>
                                            <p:tgtEl>
                                              <p:spTgt spid="56"/>
                                            </p:tgtEl>
                                            <p:attrNameLst>
                                              <p:attrName>ppt_w</p:attrName>
                                            </p:attrNameLst>
                                          </p:cBhvr>
                                          <p:tavLst>
                                            <p:tav tm="0">
                                              <p:val>
                                                <p:fltVal val="0"/>
                                              </p:val>
                                            </p:tav>
                                            <p:tav tm="100000">
                                              <p:val>
                                                <p:strVal val="#ppt_w"/>
                                              </p:val>
                                            </p:tav>
                                          </p:tavLst>
                                        </p:anim>
                                        <p:anim calcmode="lin" valueType="num">
                                          <p:cBhvr>
                                            <p:cTn id="24" dur="1750" fill="hold"/>
                                            <p:tgtEl>
                                              <p:spTgt spid="56"/>
                                            </p:tgtEl>
                                            <p:attrNameLst>
                                              <p:attrName>ppt_h</p:attrName>
                                            </p:attrNameLst>
                                          </p:cBhvr>
                                          <p:tavLst>
                                            <p:tav tm="0">
                                              <p:val>
                                                <p:fltVal val="0"/>
                                              </p:val>
                                            </p:tav>
                                            <p:tav tm="100000">
                                              <p:val>
                                                <p:strVal val="#ppt_h"/>
                                              </p:val>
                                            </p:tav>
                                          </p:tavLst>
                                        </p:anim>
                                        <p:anim calcmode="lin" valueType="num">
                                          <p:cBhvr>
                                            <p:cTn id="25" dur="1750" fill="hold"/>
                                            <p:tgtEl>
                                              <p:spTgt spid="56"/>
                                            </p:tgtEl>
                                            <p:attrNameLst>
                                              <p:attrName>style.rotation</p:attrName>
                                            </p:attrNameLst>
                                          </p:cBhvr>
                                          <p:tavLst>
                                            <p:tav tm="0">
                                              <p:val>
                                                <p:fltVal val="360"/>
                                              </p:val>
                                            </p:tav>
                                            <p:tav tm="100000">
                                              <p:val>
                                                <p:fltVal val="0"/>
                                              </p:val>
                                            </p:tav>
                                          </p:tavLst>
                                        </p:anim>
                                        <p:animEffect transition="in" filter="fade">
                                          <p:cBhvr>
                                            <p:cTn id="26" dur="1750"/>
                                            <p:tgtEl>
                                              <p:spTgt spid="56"/>
                                            </p:tgtEl>
                                          </p:cBhvr>
                                        </p:animEffect>
                                      </p:childTnLst>
                                    </p:cTn>
                                  </p:par>
                                </p:childTnLst>
                              </p:cTn>
                            </p:par>
                            <p:par>
                              <p:cTn id="27" fill="hold">
                                <p:stCondLst>
                                  <p:cond delay="3500"/>
                                </p:stCondLst>
                                <p:childTnLst>
                                  <p:par>
                                    <p:cTn id="28" presetID="16" presetClass="entr" presetSubtype="37"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barn(outVertical)">
                                          <p:cBhvr>
                                            <p:cTn id="30" dur="500"/>
                                            <p:tgtEl>
                                              <p:spTgt spid="39"/>
                                            </p:tgtEl>
                                          </p:cBhvr>
                                        </p:animEffect>
                                      </p:childTnLst>
                                    </p:cTn>
                                  </p:par>
                                </p:childTnLst>
                              </p:cTn>
                            </p:par>
                            <p:par>
                              <p:cTn id="31" fill="hold">
                                <p:stCondLst>
                                  <p:cond delay="4000"/>
                                </p:stCondLst>
                                <p:childTnLst>
                                  <p:par>
                                    <p:cTn id="32" presetID="16" presetClass="entr" presetSubtype="42" fill="hold" nodeType="after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barn(outHorizontal)">
                                          <p:cBhvr>
                                            <p:cTn id="34" dur="750"/>
                                            <p:tgtEl>
                                              <p:spTgt spid="62"/>
                                            </p:tgtEl>
                                          </p:cBhvr>
                                        </p:animEffect>
                                      </p:childTnLst>
                                    </p:cTn>
                                  </p:par>
                                  <p:par>
                                    <p:cTn id="35" presetID="16" presetClass="entr" presetSubtype="42"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barn(outHorizontal)">
                                          <p:cBhvr>
                                            <p:cTn id="37" dur="750"/>
                                            <p:tgtEl>
                                              <p:spTgt spid="67"/>
                                            </p:tgtEl>
                                          </p:cBhvr>
                                        </p:animEffect>
                                      </p:childTnLst>
                                    </p:cTn>
                                  </p:par>
                                </p:childTnLst>
                              </p:cTn>
                            </p:par>
                            <p:par>
                              <p:cTn id="38" fill="hold">
                                <p:stCondLst>
                                  <p:cond delay="4750"/>
                                </p:stCondLst>
                                <p:childTnLst>
                                  <p:par>
                                    <p:cTn id="39" presetID="22" presetClass="entr" presetSubtype="8"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left)">
                                          <p:cBhvr>
                                            <p:cTn id="41" dur="1000"/>
                                            <p:tgtEl>
                                              <p:spTgt spid="48"/>
                                            </p:tgtEl>
                                          </p:cBhvr>
                                        </p:animEffect>
                                      </p:childTnLst>
                                    </p:cTn>
                                  </p:par>
                                  <p:par>
                                    <p:cTn id="42" presetID="22" presetClass="entr" presetSubtype="8" fill="hold" nodeType="withEffect">
                                      <p:stCondLst>
                                        <p:cond delay="250"/>
                                      </p:stCondLst>
                                      <p:childTnLst>
                                        <p:set>
                                          <p:cBhvr>
                                            <p:cTn id="43" dur="1" fill="hold">
                                              <p:stCondLst>
                                                <p:cond delay="0"/>
                                              </p:stCondLst>
                                            </p:cTn>
                                            <p:tgtEl>
                                              <p:spTgt spid="49"/>
                                            </p:tgtEl>
                                            <p:attrNameLst>
                                              <p:attrName>style.visibility</p:attrName>
                                            </p:attrNameLst>
                                          </p:cBhvr>
                                          <p:to>
                                            <p:strVal val="visible"/>
                                          </p:to>
                                        </p:set>
                                        <p:animEffect transition="in" filter="wipe(left)">
                                          <p:cBhvr>
                                            <p:cTn id="44" dur="1000"/>
                                            <p:tgtEl>
                                              <p:spTgt spid="49"/>
                                            </p:tgtEl>
                                          </p:cBhvr>
                                        </p:animEffect>
                                      </p:childTnLst>
                                    </p:cTn>
                                  </p:par>
                                  <p:par>
                                    <p:cTn id="45" presetID="22" presetClass="entr" presetSubtype="8" fill="hold" nodeType="withEffect">
                                      <p:stCondLst>
                                        <p:cond delay="500"/>
                                      </p:stCondLst>
                                      <p:childTnLst>
                                        <p:set>
                                          <p:cBhvr>
                                            <p:cTn id="46" dur="1" fill="hold">
                                              <p:stCondLst>
                                                <p:cond delay="0"/>
                                              </p:stCondLst>
                                            </p:cTn>
                                            <p:tgtEl>
                                              <p:spTgt spid="50"/>
                                            </p:tgtEl>
                                            <p:attrNameLst>
                                              <p:attrName>style.visibility</p:attrName>
                                            </p:attrNameLst>
                                          </p:cBhvr>
                                          <p:to>
                                            <p:strVal val="visible"/>
                                          </p:to>
                                        </p:set>
                                        <p:animEffect transition="in" filter="wipe(left)">
                                          <p:cBhvr>
                                            <p:cTn id="47" dur="1000"/>
                                            <p:tgtEl>
                                              <p:spTgt spid="50"/>
                                            </p:tgtEl>
                                          </p:cBhvr>
                                        </p:animEffect>
                                      </p:childTnLst>
                                    </p:cTn>
                                  </p:par>
                                </p:childTnLst>
                              </p:cTn>
                            </p:par>
                            <p:par>
                              <p:cTn id="48" fill="hold">
                                <p:stCondLst>
                                  <p:cond delay="6250"/>
                                </p:stCondLst>
                                <p:childTnLst>
                                  <p:par>
                                    <p:cTn id="49" presetID="2" presetClass="entr" presetSubtype="1" accel="40000" fill="hold" nodeType="after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1500" fill="hold"/>
                                            <p:tgtEl>
                                              <p:spTgt spid="36"/>
                                            </p:tgtEl>
                                            <p:attrNameLst>
                                              <p:attrName>ppt_x</p:attrName>
                                            </p:attrNameLst>
                                          </p:cBhvr>
                                          <p:tavLst>
                                            <p:tav tm="0">
                                              <p:val>
                                                <p:strVal val="#ppt_x"/>
                                              </p:val>
                                            </p:tav>
                                            <p:tav tm="100000">
                                              <p:val>
                                                <p:strVal val="#ppt_x"/>
                                              </p:val>
                                            </p:tav>
                                          </p:tavLst>
                                        </p:anim>
                                        <p:anim calcmode="lin" valueType="num">
                                          <p:cBhvr additive="base">
                                            <p:cTn id="52" dur="1500" fill="hold"/>
                                            <p:tgtEl>
                                              <p:spTgt spid="36"/>
                                            </p:tgtEl>
                                            <p:attrNameLst>
                                              <p:attrName>ppt_y</p:attrName>
                                            </p:attrNameLst>
                                          </p:cBhvr>
                                          <p:tavLst>
                                            <p:tav tm="0">
                                              <p:val>
                                                <p:strVal val="0-#ppt_h/2"/>
                                              </p:val>
                                            </p:tav>
                                            <p:tav tm="100000">
                                              <p:val>
                                                <p:strVal val="#ppt_y"/>
                                              </p:val>
                                            </p:tav>
                                          </p:tavLst>
                                        </p:anim>
                                      </p:childTnLst>
                                    </p:cTn>
                                  </p:par>
                                  <p:par>
                                    <p:cTn id="53" presetID="2" presetClass="entr" presetSubtype="1" accel="40000" fill="hold" nodeType="withEffect">
                                      <p:stCondLst>
                                        <p:cond delay="500"/>
                                      </p:stCondLst>
                                      <p:childTnLst>
                                        <p:set>
                                          <p:cBhvr>
                                            <p:cTn id="54" dur="1" fill="hold">
                                              <p:stCondLst>
                                                <p:cond delay="0"/>
                                              </p:stCondLst>
                                            </p:cTn>
                                            <p:tgtEl>
                                              <p:spTgt spid="60"/>
                                            </p:tgtEl>
                                            <p:attrNameLst>
                                              <p:attrName>style.visibility</p:attrName>
                                            </p:attrNameLst>
                                          </p:cBhvr>
                                          <p:to>
                                            <p:strVal val="visible"/>
                                          </p:to>
                                        </p:set>
                                        <p:anim calcmode="lin" valueType="num">
                                          <p:cBhvr additive="base">
                                            <p:cTn id="55" dur="1500" fill="hold"/>
                                            <p:tgtEl>
                                              <p:spTgt spid="60"/>
                                            </p:tgtEl>
                                            <p:attrNameLst>
                                              <p:attrName>ppt_x</p:attrName>
                                            </p:attrNameLst>
                                          </p:cBhvr>
                                          <p:tavLst>
                                            <p:tav tm="0">
                                              <p:val>
                                                <p:strVal val="#ppt_x"/>
                                              </p:val>
                                            </p:tav>
                                            <p:tav tm="100000">
                                              <p:val>
                                                <p:strVal val="#ppt_x"/>
                                              </p:val>
                                            </p:tav>
                                          </p:tavLst>
                                        </p:anim>
                                        <p:anim calcmode="lin" valueType="num">
                                          <p:cBhvr additive="base">
                                            <p:cTn id="56" dur="1500" fill="hold"/>
                                            <p:tgtEl>
                                              <p:spTgt spid="60"/>
                                            </p:tgtEl>
                                            <p:attrNameLst>
                                              <p:attrName>ppt_y</p:attrName>
                                            </p:attrNameLst>
                                          </p:cBhvr>
                                          <p:tavLst>
                                            <p:tav tm="0">
                                              <p:val>
                                                <p:strVal val="0-#ppt_h/2"/>
                                              </p:val>
                                            </p:tav>
                                            <p:tav tm="100000">
                                              <p:val>
                                                <p:strVal val="#ppt_y"/>
                                              </p:val>
                                            </p:tav>
                                          </p:tavLst>
                                        </p:anim>
                                      </p:childTnLst>
                                    </p:cTn>
                                  </p:par>
                                  <p:par>
                                    <p:cTn id="57" presetID="2" presetClass="entr" presetSubtype="2" accel="40000" fill="hold" nodeType="withEffect">
                                      <p:stCondLst>
                                        <p:cond delay="500"/>
                                      </p:stCondLst>
                                      <p:childTnLst>
                                        <p:set>
                                          <p:cBhvr>
                                            <p:cTn id="58" dur="1" fill="hold">
                                              <p:stCondLst>
                                                <p:cond delay="0"/>
                                              </p:stCondLst>
                                            </p:cTn>
                                            <p:tgtEl>
                                              <p:spTgt spid="37"/>
                                            </p:tgtEl>
                                            <p:attrNameLst>
                                              <p:attrName>style.visibility</p:attrName>
                                            </p:attrNameLst>
                                          </p:cBhvr>
                                          <p:to>
                                            <p:strVal val="visible"/>
                                          </p:to>
                                        </p:set>
                                        <p:anim calcmode="lin" valueType="num">
                                          <p:cBhvr additive="base">
                                            <p:cTn id="59" dur="1500" fill="hold"/>
                                            <p:tgtEl>
                                              <p:spTgt spid="37"/>
                                            </p:tgtEl>
                                            <p:attrNameLst>
                                              <p:attrName>ppt_x</p:attrName>
                                            </p:attrNameLst>
                                          </p:cBhvr>
                                          <p:tavLst>
                                            <p:tav tm="0">
                                              <p:val>
                                                <p:strVal val="1+#ppt_w/2"/>
                                              </p:val>
                                            </p:tav>
                                            <p:tav tm="100000">
                                              <p:val>
                                                <p:strVal val="#ppt_x"/>
                                              </p:val>
                                            </p:tav>
                                          </p:tavLst>
                                        </p:anim>
                                        <p:anim calcmode="lin" valueType="num">
                                          <p:cBhvr additive="base">
                                            <p:cTn id="60" dur="1500" fill="hold"/>
                                            <p:tgtEl>
                                              <p:spTgt spid="37"/>
                                            </p:tgtEl>
                                            <p:attrNameLst>
                                              <p:attrName>ppt_y</p:attrName>
                                            </p:attrNameLst>
                                          </p:cBhvr>
                                          <p:tavLst>
                                            <p:tav tm="0">
                                              <p:val>
                                                <p:strVal val="#ppt_y"/>
                                              </p:val>
                                            </p:tav>
                                            <p:tav tm="100000">
                                              <p:val>
                                                <p:strVal val="#ppt_y"/>
                                              </p:val>
                                            </p:tav>
                                          </p:tavLst>
                                        </p:anim>
                                      </p:childTnLst>
                                    </p:cTn>
                                  </p:par>
                                  <p:par>
                                    <p:cTn id="61" presetID="2" presetClass="entr" presetSubtype="4" accel="40000" fill="hold" nodeType="withEffect">
                                      <p:stCondLst>
                                        <p:cond delay="250"/>
                                      </p:stCondLst>
                                      <p:childTnLst>
                                        <p:set>
                                          <p:cBhvr>
                                            <p:cTn id="62" dur="1" fill="hold">
                                              <p:stCondLst>
                                                <p:cond delay="0"/>
                                              </p:stCondLst>
                                            </p:cTn>
                                            <p:tgtEl>
                                              <p:spTgt spid="61"/>
                                            </p:tgtEl>
                                            <p:attrNameLst>
                                              <p:attrName>style.visibility</p:attrName>
                                            </p:attrNameLst>
                                          </p:cBhvr>
                                          <p:to>
                                            <p:strVal val="visible"/>
                                          </p:to>
                                        </p:set>
                                        <p:anim calcmode="lin" valueType="num">
                                          <p:cBhvr additive="base">
                                            <p:cTn id="63" dur="1500" fill="hold"/>
                                            <p:tgtEl>
                                              <p:spTgt spid="61"/>
                                            </p:tgtEl>
                                            <p:attrNameLst>
                                              <p:attrName>ppt_x</p:attrName>
                                            </p:attrNameLst>
                                          </p:cBhvr>
                                          <p:tavLst>
                                            <p:tav tm="0">
                                              <p:val>
                                                <p:strVal val="#ppt_x"/>
                                              </p:val>
                                            </p:tav>
                                            <p:tav tm="100000">
                                              <p:val>
                                                <p:strVal val="#ppt_x"/>
                                              </p:val>
                                            </p:tav>
                                          </p:tavLst>
                                        </p:anim>
                                        <p:anim calcmode="lin" valueType="num">
                                          <p:cBhvr additive="base">
                                            <p:cTn id="64" dur="1500" fill="hold"/>
                                            <p:tgtEl>
                                              <p:spTgt spid="61"/>
                                            </p:tgtEl>
                                            <p:attrNameLst>
                                              <p:attrName>ppt_y</p:attrName>
                                            </p:attrNameLst>
                                          </p:cBhvr>
                                          <p:tavLst>
                                            <p:tav tm="0">
                                              <p:val>
                                                <p:strVal val="1+#ppt_h/2"/>
                                              </p:val>
                                            </p:tav>
                                            <p:tav tm="100000">
                                              <p:val>
                                                <p:strVal val="#ppt_y"/>
                                              </p:val>
                                            </p:tav>
                                          </p:tavLst>
                                        </p:anim>
                                      </p:childTnLst>
                                    </p:cTn>
                                  </p:par>
                                  <p:par>
                                    <p:cTn id="65" presetID="2" presetClass="entr" presetSubtype="4" accel="40000" fill="hold" nodeType="withEffect">
                                      <p:stCondLst>
                                        <p:cond delay="0"/>
                                      </p:stCondLst>
                                      <p:childTnLst>
                                        <p:set>
                                          <p:cBhvr>
                                            <p:cTn id="66" dur="1" fill="hold">
                                              <p:stCondLst>
                                                <p:cond delay="0"/>
                                              </p:stCondLst>
                                            </p:cTn>
                                            <p:tgtEl>
                                              <p:spTgt spid="58"/>
                                            </p:tgtEl>
                                            <p:attrNameLst>
                                              <p:attrName>style.visibility</p:attrName>
                                            </p:attrNameLst>
                                          </p:cBhvr>
                                          <p:to>
                                            <p:strVal val="visible"/>
                                          </p:to>
                                        </p:set>
                                        <p:anim calcmode="lin" valueType="num">
                                          <p:cBhvr additive="base">
                                            <p:cTn id="67" dur="1500" fill="hold"/>
                                            <p:tgtEl>
                                              <p:spTgt spid="58"/>
                                            </p:tgtEl>
                                            <p:attrNameLst>
                                              <p:attrName>ppt_x</p:attrName>
                                            </p:attrNameLst>
                                          </p:cBhvr>
                                          <p:tavLst>
                                            <p:tav tm="0">
                                              <p:val>
                                                <p:strVal val="#ppt_x"/>
                                              </p:val>
                                            </p:tav>
                                            <p:tav tm="100000">
                                              <p:val>
                                                <p:strVal val="#ppt_x"/>
                                              </p:val>
                                            </p:tav>
                                          </p:tavLst>
                                        </p:anim>
                                        <p:anim calcmode="lin" valueType="num">
                                          <p:cBhvr additive="base">
                                            <p:cTn id="68" dur="1500" fill="hold"/>
                                            <p:tgtEl>
                                              <p:spTgt spid="58"/>
                                            </p:tgtEl>
                                            <p:attrNameLst>
                                              <p:attrName>ppt_y</p:attrName>
                                            </p:attrNameLst>
                                          </p:cBhvr>
                                          <p:tavLst>
                                            <p:tav tm="0">
                                              <p:val>
                                                <p:strVal val="1+#ppt_h/2"/>
                                              </p:val>
                                            </p:tav>
                                            <p:tav tm="100000">
                                              <p:val>
                                                <p:strVal val="#ppt_y"/>
                                              </p:val>
                                            </p:tav>
                                          </p:tavLst>
                                        </p:anim>
                                      </p:childTnLst>
                                    </p:cTn>
                                  </p:par>
                                </p:childTnLst>
                              </p:cTn>
                            </p:par>
                            <p:par>
                              <p:cTn id="69" fill="hold">
                                <p:stCondLst>
                                  <p:cond delay="8250"/>
                                </p:stCondLst>
                                <p:childTnLst>
                                  <p:par>
                                    <p:cTn id="70" presetID="22" presetClass="entr" presetSubtype="8" fill="hold" nodeType="after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wipe(left)">
                                          <p:cBhvr>
                                            <p:cTn id="72" dur="1000"/>
                                            <p:tgtEl>
                                              <p:spTgt spid="2"/>
                                            </p:tgtEl>
                                          </p:cBhvr>
                                        </p:animEffect>
                                      </p:childTnLst>
                                    </p:cTn>
                                  </p:par>
                                </p:childTnLst>
                              </p:cTn>
                            </p:par>
                            <p:par>
                              <p:cTn id="73" fill="hold">
                                <p:stCondLst>
                                  <p:cond delay="9250"/>
                                </p:stCondLst>
                                <p:childTnLst>
                                  <p:par>
                                    <p:cTn id="74" presetID="22" presetClass="entr" presetSubtype="8" fill="hold" nodeType="after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wipe(left)">
                                          <p:cBhvr>
                                            <p:cTn id="76" dur="1000"/>
                                            <p:tgtEl>
                                              <p:spTgt spid="8"/>
                                            </p:tgtEl>
                                          </p:cBhvr>
                                        </p:animEffect>
                                      </p:childTnLst>
                                    </p:cTn>
                                  </p:par>
                                  <p:par>
                                    <p:cTn id="77" presetID="16" presetClass="entr" presetSubtype="42"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barn(outHorizontal)">
                                          <p:cBhvr>
                                            <p:cTn id="79"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6" grpId="0"/>
          <p:bldP spid="56"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788E2E9-1BDA-35E5-E462-025464723F18}"/>
              </a:ext>
            </a:extLst>
          </p:cNvPr>
          <p:cNvPicPr>
            <a:picLocks noChangeAspect="1"/>
          </p:cNvPicPr>
          <p:nvPr/>
        </p:nvPicPr>
        <p:blipFill>
          <a:blip r:embed="rId3"/>
          <a:stretch>
            <a:fillRect/>
          </a:stretch>
        </p:blipFill>
        <p:spPr>
          <a:xfrm>
            <a:off x="1476919" y="935390"/>
            <a:ext cx="9240252" cy="5045409"/>
          </a:xfrm>
          <a:prstGeom prst="rect">
            <a:avLst/>
          </a:prstGeom>
        </p:spPr>
      </p:pic>
      <p:sp>
        <p:nvSpPr>
          <p:cNvPr id="19" name="任意多边形: 形状 18">
            <a:extLst>
              <a:ext uri="{FF2B5EF4-FFF2-40B4-BE49-F238E27FC236}">
                <a16:creationId xmlns:a16="http://schemas.microsoft.com/office/drawing/2014/main" id="{4643376D-0D46-4640-9A8F-2F89E457CC6F}"/>
              </a:ext>
            </a:extLst>
          </p:cNvPr>
          <p:cNvSpPr/>
          <p:nvPr/>
        </p:nvSpPr>
        <p:spPr>
          <a:xfrm>
            <a:off x="404353" y="3547242"/>
            <a:ext cx="11787648" cy="2443656"/>
          </a:xfrm>
          <a:custGeom>
            <a:avLst/>
            <a:gdLst>
              <a:gd name="connsiteX0" fmla="*/ 1402300 w 11787648"/>
              <a:gd name="connsiteY0" fmla="*/ 0 h 2443656"/>
              <a:gd name="connsiteX1" fmla="*/ 11787648 w 11787648"/>
              <a:gd name="connsiteY1" fmla="*/ 0 h 2443656"/>
              <a:gd name="connsiteX2" fmla="*/ 11787648 w 11787648"/>
              <a:gd name="connsiteY2" fmla="*/ 2443656 h 2443656"/>
              <a:gd name="connsiteX3" fmla="*/ 0 w 11787648"/>
              <a:gd name="connsiteY3" fmla="*/ 2443656 h 2443656"/>
            </a:gdLst>
            <a:ahLst/>
            <a:cxnLst>
              <a:cxn ang="0">
                <a:pos x="connsiteX0" y="connsiteY0"/>
              </a:cxn>
              <a:cxn ang="0">
                <a:pos x="connsiteX1" y="connsiteY1"/>
              </a:cxn>
              <a:cxn ang="0">
                <a:pos x="connsiteX2" y="connsiteY2"/>
              </a:cxn>
              <a:cxn ang="0">
                <a:pos x="connsiteX3" y="connsiteY3"/>
              </a:cxn>
            </a:cxnLst>
            <a:rect l="l" t="t" r="r" b="b"/>
            <a:pathLst>
              <a:path w="11787648" h="2443656">
                <a:moveTo>
                  <a:pt x="1402300" y="0"/>
                </a:moveTo>
                <a:lnTo>
                  <a:pt x="11787648" y="0"/>
                </a:lnTo>
                <a:lnTo>
                  <a:pt x="11787648" y="2443656"/>
                </a:lnTo>
                <a:lnTo>
                  <a:pt x="0" y="2443656"/>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19089507-A640-4EEA-91FF-104D3FE501CB}"/>
              </a:ext>
            </a:extLst>
          </p:cNvPr>
          <p:cNvSpPr txBox="1"/>
          <p:nvPr/>
        </p:nvSpPr>
        <p:spPr>
          <a:xfrm flipH="1">
            <a:off x="6839973" y="4338183"/>
            <a:ext cx="2780604" cy="584775"/>
          </a:xfrm>
          <a:prstGeom prst="rect">
            <a:avLst/>
          </a:prstGeom>
          <a:noFill/>
        </p:spPr>
        <p:txBody>
          <a:bodyPr wrap="square" rtlCol="0">
            <a:spAutoFit/>
          </a:bodyPr>
          <a:lstStyle/>
          <a:p>
            <a:pPr algn="r"/>
            <a:r>
              <a:rPr lang="zh-CN" altLang="en-US" sz="3200" dirty="0">
                <a:solidFill>
                  <a:srgbClr val="002060"/>
                </a:solidFill>
                <a:cs typeface="+mn-ea"/>
                <a:sym typeface="+mn-lt"/>
              </a:rPr>
              <a:t>杜邦分析图</a:t>
            </a:r>
            <a:endParaRPr lang="en-US" altLang="zh-CN" sz="3200" dirty="0">
              <a:solidFill>
                <a:srgbClr val="002060"/>
              </a:solidFill>
              <a:cs typeface="+mn-ea"/>
              <a:sym typeface="+mn-lt"/>
            </a:endParaRPr>
          </a:p>
        </p:txBody>
      </p:sp>
      <p:grpSp>
        <p:nvGrpSpPr>
          <p:cNvPr id="3" name="组合 2">
            <a:extLst>
              <a:ext uri="{FF2B5EF4-FFF2-40B4-BE49-F238E27FC236}">
                <a16:creationId xmlns:a16="http://schemas.microsoft.com/office/drawing/2014/main" id="{EEE2CC03-6ACA-4429-BD21-92A0298575A7}"/>
              </a:ext>
            </a:extLst>
          </p:cNvPr>
          <p:cNvGrpSpPr/>
          <p:nvPr/>
        </p:nvGrpSpPr>
        <p:grpSpPr>
          <a:xfrm>
            <a:off x="9660675" y="3851070"/>
            <a:ext cx="1836000" cy="1836000"/>
            <a:chOff x="9620578" y="3901966"/>
            <a:chExt cx="1836000" cy="1836000"/>
          </a:xfrm>
        </p:grpSpPr>
        <p:sp>
          <p:nvSpPr>
            <p:cNvPr id="11" name="矩形 10">
              <a:extLst>
                <a:ext uri="{FF2B5EF4-FFF2-40B4-BE49-F238E27FC236}">
                  <a16:creationId xmlns:a16="http://schemas.microsoft.com/office/drawing/2014/main" id="{9468E86E-91DF-40FF-80AC-DCB7260C44CC}"/>
                </a:ext>
              </a:extLst>
            </p:cNvPr>
            <p:cNvSpPr/>
            <p:nvPr/>
          </p:nvSpPr>
          <p:spPr>
            <a:xfrm>
              <a:off x="9620578" y="3901966"/>
              <a:ext cx="1836000" cy="1836000"/>
            </a:xfrm>
            <a:prstGeom prst="rect">
              <a:avLst/>
            </a:prstGeom>
            <a:solidFill>
              <a:srgbClr val="FF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文本框 8">
              <a:extLst>
                <a:ext uri="{FF2B5EF4-FFF2-40B4-BE49-F238E27FC236}">
                  <a16:creationId xmlns:a16="http://schemas.microsoft.com/office/drawing/2014/main" id="{CF1E4694-8B88-4449-8AE9-813B6C40A029}"/>
                </a:ext>
              </a:extLst>
            </p:cNvPr>
            <p:cNvSpPr txBox="1"/>
            <p:nvPr/>
          </p:nvSpPr>
          <p:spPr>
            <a:xfrm>
              <a:off x="10038987" y="4358301"/>
              <a:ext cx="999183" cy="923330"/>
            </a:xfrm>
            <a:prstGeom prst="rect">
              <a:avLst/>
            </a:prstGeom>
            <a:noFill/>
          </p:spPr>
          <p:txBody>
            <a:bodyPr wrap="square" rtlCol="0">
              <a:spAutoFit/>
            </a:bodyPr>
            <a:lstStyle/>
            <a:p>
              <a:pPr algn="ctr"/>
              <a:r>
                <a:rPr lang="en-US" altLang="zh-CN" sz="5400" dirty="0">
                  <a:solidFill>
                    <a:schemeClr val="bg1"/>
                  </a:solidFill>
                  <a:cs typeface="+mn-ea"/>
                  <a:sym typeface="+mn-lt"/>
                </a:rPr>
                <a:t>01</a:t>
              </a:r>
            </a:p>
          </p:txBody>
        </p:sp>
      </p:grpSp>
      <p:sp>
        <p:nvSpPr>
          <p:cNvPr id="2" name="任意多边形: 形状 1">
            <a:extLst>
              <a:ext uri="{FF2B5EF4-FFF2-40B4-BE49-F238E27FC236}">
                <a16:creationId xmlns:a16="http://schemas.microsoft.com/office/drawing/2014/main" id="{0FF3C5F6-36CC-4533-9D6B-70F55C98CF0B}"/>
              </a:ext>
            </a:extLst>
          </p:cNvPr>
          <p:cNvSpPr/>
          <p:nvPr/>
        </p:nvSpPr>
        <p:spPr>
          <a:xfrm rot="10800000" flipH="1" flipV="1">
            <a:off x="-3352068" y="0"/>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4" name="直接连接符 13">
            <a:extLst>
              <a:ext uri="{FF2B5EF4-FFF2-40B4-BE49-F238E27FC236}">
                <a16:creationId xmlns:a16="http://schemas.microsoft.com/office/drawing/2014/main" id="{E56ACB86-6645-4604-8B7A-F2818BD0C4E7}"/>
              </a:ext>
            </a:extLst>
          </p:cNvPr>
          <p:cNvCxnSpPr>
            <a:cxnSpLocks/>
          </p:cNvCxnSpPr>
          <p:nvPr/>
        </p:nvCxnSpPr>
        <p:spPr>
          <a:xfrm flipH="1">
            <a:off x="653211" y="5860509"/>
            <a:ext cx="574850" cy="9974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86D71DB-DCAD-4E60-8891-F20BC4BB6EBD}"/>
              </a:ext>
            </a:extLst>
          </p:cNvPr>
          <p:cNvCxnSpPr>
            <a:cxnSpLocks/>
          </p:cNvCxnSpPr>
          <p:nvPr/>
        </p:nvCxnSpPr>
        <p:spPr>
          <a:xfrm flipH="1">
            <a:off x="761896" y="5670729"/>
            <a:ext cx="466166" cy="80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79E2DEB-179D-43EE-9F31-090241BD6378}"/>
              </a:ext>
            </a:extLst>
          </p:cNvPr>
          <p:cNvCxnSpPr>
            <a:cxnSpLocks/>
          </p:cNvCxnSpPr>
          <p:nvPr/>
        </p:nvCxnSpPr>
        <p:spPr>
          <a:xfrm flipH="1">
            <a:off x="4704111" y="-1"/>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12CE56F-4FC2-4F89-BCAE-72922C853D62}"/>
              </a:ext>
            </a:extLst>
          </p:cNvPr>
          <p:cNvCxnSpPr>
            <a:cxnSpLocks/>
          </p:cNvCxnSpPr>
          <p:nvPr/>
        </p:nvCxnSpPr>
        <p:spPr>
          <a:xfrm flipH="1">
            <a:off x="1739721" y="0"/>
            <a:ext cx="3952233" cy="6858000"/>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sp>
        <p:nvSpPr>
          <p:cNvPr id="13" name="平行四边形 12">
            <a:extLst>
              <a:ext uri="{FF2B5EF4-FFF2-40B4-BE49-F238E27FC236}">
                <a16:creationId xmlns:a16="http://schemas.microsoft.com/office/drawing/2014/main" id="{2CCBB89C-5C40-418B-AC8C-3F7746D1FE26}"/>
              </a:ext>
            </a:extLst>
          </p:cNvPr>
          <p:cNvSpPr/>
          <p:nvPr/>
        </p:nvSpPr>
        <p:spPr>
          <a:xfrm>
            <a:off x="2483992" y="4007617"/>
            <a:ext cx="995991" cy="1402664"/>
          </a:xfrm>
          <a:prstGeom prst="parallelogram">
            <a:avLst>
              <a:gd name="adj" fmla="val 81010"/>
            </a:avLst>
          </a:prstGeom>
          <a:solidFill>
            <a:srgbClr val="FF99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1" name="任意多边形: 形状 20">
            <a:extLst>
              <a:ext uri="{FF2B5EF4-FFF2-40B4-BE49-F238E27FC236}">
                <a16:creationId xmlns:a16="http://schemas.microsoft.com/office/drawing/2014/main" id="{238BC879-81A2-4D7E-B902-82D6633A6280}"/>
              </a:ext>
            </a:extLst>
          </p:cNvPr>
          <p:cNvSpPr/>
          <p:nvPr/>
        </p:nvSpPr>
        <p:spPr>
          <a:xfrm rot="10800000" flipH="1" flipV="1">
            <a:off x="-5703389" y="-958822"/>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BDC61BC7-F7AB-DEA0-4CEA-03559A9ED8CC}"/>
              </a:ext>
            </a:extLst>
          </p:cNvPr>
          <p:cNvSpPr txBox="1"/>
          <p:nvPr/>
        </p:nvSpPr>
        <p:spPr>
          <a:xfrm>
            <a:off x="6436225" y="4859546"/>
            <a:ext cx="3266388" cy="307777"/>
          </a:xfrm>
          <a:prstGeom prst="rect">
            <a:avLst/>
          </a:prstGeom>
          <a:noFill/>
        </p:spPr>
        <p:txBody>
          <a:bodyPr wrap="square" rtlCol="0">
            <a:spAutoFit/>
          </a:bodyPr>
          <a:lstStyle/>
          <a:p>
            <a:r>
              <a:rPr lang="en-US" altLang="zh-CN" sz="1400" spc="300" dirty="0">
                <a:solidFill>
                  <a:srgbClr val="002060"/>
                </a:solidFill>
                <a:latin typeface="Arial" panose="020B0604020202020204" pitchFamily="34" charset="0"/>
                <a:cs typeface="Arial" panose="020B0604020202020204" pitchFamily="34" charset="0"/>
                <a:sym typeface="+mn-lt"/>
              </a:rPr>
              <a:t>DuPont analysis diagram</a:t>
            </a:r>
          </a:p>
        </p:txBody>
      </p:sp>
    </p:spTree>
    <p:extLst>
      <p:ext uri="{BB962C8B-B14F-4D97-AF65-F5344CB8AC3E}">
        <p14:creationId xmlns:p14="http://schemas.microsoft.com/office/powerpoint/2010/main" val="899949595"/>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0-#ppt_w/2"/>
                                              </p:val>
                                            </p:tav>
                                            <p:tav tm="100000">
                                              <p:val>
                                                <p:strVal val="#ppt_x"/>
                                              </p:val>
                                            </p:tav>
                                          </p:tavLst>
                                        </p:anim>
                                        <p:anim calcmode="lin" valueType="num">
                                          <p:cBhvr additive="base">
                                            <p:cTn id="8" dur="1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69000">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14:bounceEnd="69000">
                                          <p:cBhvr additive="base">
                                            <p:cTn id="11" dur="1500" fill="hold"/>
                                            <p:tgtEl>
                                              <p:spTgt spid="21"/>
                                            </p:tgtEl>
                                            <p:attrNameLst>
                                              <p:attrName>ppt_x</p:attrName>
                                            </p:attrNameLst>
                                          </p:cBhvr>
                                          <p:tavLst>
                                            <p:tav tm="0">
                                              <p:val>
                                                <p:strVal val="0-#ppt_w/2"/>
                                              </p:val>
                                            </p:tav>
                                            <p:tav tm="100000">
                                              <p:val>
                                                <p:strVal val="#ppt_x"/>
                                              </p:val>
                                            </p:tav>
                                          </p:tavLst>
                                        </p:anim>
                                        <p:anim calcmode="lin" valueType="num" p14:bounceEnd="69000">
                                          <p:cBhvr additive="base">
                                            <p:cTn id="12" dur="1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1750" fill="hold"/>
                                            <p:tgtEl>
                                              <p:spTgt spid="19"/>
                                            </p:tgtEl>
                                            <p:attrNameLst>
                                              <p:attrName>ppt_x</p:attrName>
                                            </p:attrNameLst>
                                          </p:cBhvr>
                                          <p:tavLst>
                                            <p:tav tm="0">
                                              <p:val>
                                                <p:strVal val="1+#ppt_w/2"/>
                                              </p:val>
                                            </p:tav>
                                            <p:tav tm="100000">
                                              <p:val>
                                                <p:strVal val="#ppt_x"/>
                                              </p:val>
                                            </p:tav>
                                          </p:tavLst>
                                        </p:anim>
                                        <p:anim calcmode="lin" valueType="num">
                                          <p:cBhvr additive="base">
                                            <p:cTn id="17" dur="1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1750" fill="hold"/>
                                            <p:tgtEl>
                                              <p:spTgt spid="3"/>
                                            </p:tgtEl>
                                            <p:attrNameLst>
                                              <p:attrName>ppt_x</p:attrName>
                                            </p:attrNameLst>
                                          </p:cBhvr>
                                          <p:tavLst>
                                            <p:tav tm="0">
                                              <p:val>
                                                <p:strVal val="1+#ppt_w/2"/>
                                              </p:val>
                                            </p:tav>
                                            <p:tav tm="100000">
                                              <p:val>
                                                <p:strVal val="#ppt_x"/>
                                              </p:val>
                                            </p:tav>
                                          </p:tavLst>
                                        </p:anim>
                                        <p:anim calcmode="lin" valueType="num">
                                          <p:cBhvr additive="base">
                                            <p:cTn id="21" dur="1750" fill="hold"/>
                                            <p:tgtEl>
                                              <p:spTgt spid="3"/>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25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40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2" presetClass="entr" presetSubtype="4"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par>
                                    <p:cTn id="33" presetID="10" presetClass="entr" presetSubtype="0" fill="hold" nodeType="withEffect">
                                      <p:stCondLst>
                                        <p:cond delay="25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par>
                              <p:cTn id="36" fill="hold">
                                <p:stCondLst>
                                  <p:cond delay="4750"/>
                                </p:stCondLst>
                                <p:childTnLst>
                                  <p:par>
                                    <p:cTn id="37" presetID="16" presetClass="entr" presetSubtype="42"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arn(outHorizontal)">
                                          <p:cBhvr>
                                            <p:cTn id="39" dur="750"/>
                                            <p:tgtEl>
                                              <p:spTgt spid="13"/>
                                            </p:tgtEl>
                                          </p:cBhvr>
                                        </p:animEffect>
                                      </p:childTnLst>
                                    </p:cTn>
                                  </p:par>
                                  <p:par>
                                    <p:cTn id="40" presetID="2" presetClass="entr" presetSubtype="1" accel="40000" fill="hold" nodeType="withEffect" p14:presetBounceEnd="60000">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14:bounceEnd="60000">
                                          <p:cBhvr additive="base">
                                            <p:cTn id="42" dur="1500" fill="hold"/>
                                            <p:tgtEl>
                                              <p:spTgt spid="16"/>
                                            </p:tgtEl>
                                            <p:attrNameLst>
                                              <p:attrName>ppt_x</p:attrName>
                                            </p:attrNameLst>
                                          </p:cBhvr>
                                          <p:tavLst>
                                            <p:tav tm="0">
                                              <p:val>
                                                <p:strVal val="#ppt_x"/>
                                              </p:val>
                                            </p:tav>
                                            <p:tav tm="100000">
                                              <p:val>
                                                <p:strVal val="#ppt_x"/>
                                              </p:val>
                                            </p:tav>
                                          </p:tavLst>
                                        </p:anim>
                                        <p:anim calcmode="lin" valueType="num" p14:bounceEnd="60000">
                                          <p:cBhvr additive="base">
                                            <p:cTn id="43" dur="1500" fill="hold"/>
                                            <p:tgtEl>
                                              <p:spTgt spid="16"/>
                                            </p:tgtEl>
                                            <p:attrNameLst>
                                              <p:attrName>ppt_y</p:attrName>
                                            </p:attrNameLst>
                                          </p:cBhvr>
                                          <p:tavLst>
                                            <p:tav tm="0">
                                              <p:val>
                                                <p:strVal val="0-#ppt_h/2"/>
                                              </p:val>
                                            </p:tav>
                                            <p:tav tm="100000">
                                              <p:val>
                                                <p:strVal val="#ppt_y"/>
                                              </p:val>
                                            </p:tav>
                                          </p:tavLst>
                                        </p:anim>
                                      </p:childTnLst>
                                    </p:cTn>
                                  </p:par>
                                  <p:par>
                                    <p:cTn id="44" presetID="2" presetClass="entr" presetSubtype="4" accel="40000" fill="hold" nodeType="withEffect" p14:presetBounceEnd="60000">
                                      <p:stCondLst>
                                        <p:cond delay="250"/>
                                      </p:stCondLst>
                                      <p:childTnLst>
                                        <p:set>
                                          <p:cBhvr>
                                            <p:cTn id="45" dur="1" fill="hold">
                                              <p:stCondLst>
                                                <p:cond delay="0"/>
                                              </p:stCondLst>
                                            </p:cTn>
                                            <p:tgtEl>
                                              <p:spTgt spid="14"/>
                                            </p:tgtEl>
                                            <p:attrNameLst>
                                              <p:attrName>style.visibility</p:attrName>
                                            </p:attrNameLst>
                                          </p:cBhvr>
                                          <p:to>
                                            <p:strVal val="visible"/>
                                          </p:to>
                                        </p:set>
                                        <p:anim calcmode="lin" valueType="num" p14:bounceEnd="60000">
                                          <p:cBhvr additive="base">
                                            <p:cTn id="46" dur="150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47" dur="1500" fill="hold"/>
                                            <p:tgtEl>
                                              <p:spTgt spid="14"/>
                                            </p:tgtEl>
                                            <p:attrNameLst>
                                              <p:attrName>ppt_y</p:attrName>
                                            </p:attrNameLst>
                                          </p:cBhvr>
                                          <p:tavLst>
                                            <p:tav tm="0">
                                              <p:val>
                                                <p:strVal val="1+#ppt_h/2"/>
                                              </p:val>
                                            </p:tav>
                                            <p:tav tm="100000">
                                              <p:val>
                                                <p:strVal val="#ppt_y"/>
                                              </p:val>
                                            </p:tav>
                                          </p:tavLst>
                                        </p:anim>
                                      </p:childTnLst>
                                    </p:cTn>
                                  </p:par>
                                  <p:par>
                                    <p:cTn id="48" presetID="2" presetClass="entr" presetSubtype="4" accel="40000" fill="hold" nodeType="withEffect" p14:presetBounceEnd="60000">
                                      <p:stCondLst>
                                        <p:cond delay="500"/>
                                      </p:stCondLst>
                                      <p:childTnLst>
                                        <p:set>
                                          <p:cBhvr>
                                            <p:cTn id="49" dur="1" fill="hold">
                                              <p:stCondLst>
                                                <p:cond delay="0"/>
                                              </p:stCondLst>
                                            </p:cTn>
                                            <p:tgtEl>
                                              <p:spTgt spid="15"/>
                                            </p:tgtEl>
                                            <p:attrNameLst>
                                              <p:attrName>style.visibility</p:attrName>
                                            </p:attrNameLst>
                                          </p:cBhvr>
                                          <p:to>
                                            <p:strVal val="visible"/>
                                          </p:to>
                                        </p:set>
                                        <p:anim calcmode="lin" valueType="num" p14:bounceEnd="60000">
                                          <p:cBhvr additive="base">
                                            <p:cTn id="50" dur="1500" fill="hold"/>
                                            <p:tgtEl>
                                              <p:spTgt spid="15"/>
                                            </p:tgtEl>
                                            <p:attrNameLst>
                                              <p:attrName>ppt_x</p:attrName>
                                            </p:attrNameLst>
                                          </p:cBhvr>
                                          <p:tavLst>
                                            <p:tav tm="0">
                                              <p:val>
                                                <p:strVal val="#ppt_x"/>
                                              </p:val>
                                            </p:tav>
                                            <p:tav tm="100000">
                                              <p:val>
                                                <p:strVal val="#ppt_x"/>
                                              </p:val>
                                            </p:tav>
                                          </p:tavLst>
                                        </p:anim>
                                        <p:anim calcmode="lin" valueType="num" p14:bounceEnd="60000">
                                          <p:cBhvr additive="base">
                                            <p:cTn id="51" dur="1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0-#ppt_w/2"/>
                                              </p:val>
                                            </p:tav>
                                            <p:tav tm="100000">
                                              <p:val>
                                                <p:strVal val="#ppt_x"/>
                                              </p:val>
                                            </p:tav>
                                          </p:tavLst>
                                        </p:anim>
                                        <p:anim calcmode="lin" valueType="num">
                                          <p:cBhvr additive="base">
                                            <p:cTn id="8" dur="1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500" fill="hold"/>
                                            <p:tgtEl>
                                              <p:spTgt spid="21"/>
                                            </p:tgtEl>
                                            <p:attrNameLst>
                                              <p:attrName>ppt_x</p:attrName>
                                            </p:attrNameLst>
                                          </p:cBhvr>
                                          <p:tavLst>
                                            <p:tav tm="0">
                                              <p:val>
                                                <p:strVal val="0-#ppt_w/2"/>
                                              </p:val>
                                            </p:tav>
                                            <p:tav tm="100000">
                                              <p:val>
                                                <p:strVal val="#ppt_x"/>
                                              </p:val>
                                            </p:tav>
                                          </p:tavLst>
                                        </p:anim>
                                        <p:anim calcmode="lin" valueType="num">
                                          <p:cBhvr additive="base">
                                            <p:cTn id="12" dur="1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1750" fill="hold"/>
                                            <p:tgtEl>
                                              <p:spTgt spid="19"/>
                                            </p:tgtEl>
                                            <p:attrNameLst>
                                              <p:attrName>ppt_x</p:attrName>
                                            </p:attrNameLst>
                                          </p:cBhvr>
                                          <p:tavLst>
                                            <p:tav tm="0">
                                              <p:val>
                                                <p:strVal val="1+#ppt_w/2"/>
                                              </p:val>
                                            </p:tav>
                                            <p:tav tm="100000">
                                              <p:val>
                                                <p:strVal val="#ppt_x"/>
                                              </p:val>
                                            </p:tav>
                                          </p:tavLst>
                                        </p:anim>
                                        <p:anim calcmode="lin" valueType="num">
                                          <p:cBhvr additive="base">
                                            <p:cTn id="17" dur="1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1750" fill="hold"/>
                                            <p:tgtEl>
                                              <p:spTgt spid="3"/>
                                            </p:tgtEl>
                                            <p:attrNameLst>
                                              <p:attrName>ppt_x</p:attrName>
                                            </p:attrNameLst>
                                          </p:cBhvr>
                                          <p:tavLst>
                                            <p:tav tm="0">
                                              <p:val>
                                                <p:strVal val="1+#ppt_w/2"/>
                                              </p:val>
                                            </p:tav>
                                            <p:tav tm="100000">
                                              <p:val>
                                                <p:strVal val="#ppt_x"/>
                                              </p:val>
                                            </p:tav>
                                          </p:tavLst>
                                        </p:anim>
                                        <p:anim calcmode="lin" valueType="num">
                                          <p:cBhvr additive="base">
                                            <p:cTn id="21" dur="1750" fill="hold"/>
                                            <p:tgtEl>
                                              <p:spTgt spid="3"/>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25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40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2" presetClass="entr" presetSubtype="4"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par>
                                    <p:cTn id="33" presetID="10" presetClass="entr" presetSubtype="0" fill="hold" nodeType="withEffect">
                                      <p:stCondLst>
                                        <p:cond delay="25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par>
                              <p:cTn id="36" fill="hold">
                                <p:stCondLst>
                                  <p:cond delay="4750"/>
                                </p:stCondLst>
                                <p:childTnLst>
                                  <p:par>
                                    <p:cTn id="37" presetID="16" presetClass="entr" presetSubtype="42"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arn(outHorizontal)">
                                          <p:cBhvr>
                                            <p:cTn id="39" dur="750"/>
                                            <p:tgtEl>
                                              <p:spTgt spid="13"/>
                                            </p:tgtEl>
                                          </p:cBhvr>
                                        </p:animEffect>
                                      </p:childTnLst>
                                    </p:cTn>
                                  </p:par>
                                  <p:par>
                                    <p:cTn id="40" presetID="2" presetClass="entr" presetSubtype="1" accel="4000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1500" fill="hold"/>
                                            <p:tgtEl>
                                              <p:spTgt spid="16"/>
                                            </p:tgtEl>
                                            <p:attrNameLst>
                                              <p:attrName>ppt_x</p:attrName>
                                            </p:attrNameLst>
                                          </p:cBhvr>
                                          <p:tavLst>
                                            <p:tav tm="0">
                                              <p:val>
                                                <p:strVal val="#ppt_x"/>
                                              </p:val>
                                            </p:tav>
                                            <p:tav tm="100000">
                                              <p:val>
                                                <p:strVal val="#ppt_x"/>
                                              </p:val>
                                            </p:tav>
                                          </p:tavLst>
                                        </p:anim>
                                        <p:anim calcmode="lin" valueType="num">
                                          <p:cBhvr additive="base">
                                            <p:cTn id="43" dur="1500" fill="hold"/>
                                            <p:tgtEl>
                                              <p:spTgt spid="16"/>
                                            </p:tgtEl>
                                            <p:attrNameLst>
                                              <p:attrName>ppt_y</p:attrName>
                                            </p:attrNameLst>
                                          </p:cBhvr>
                                          <p:tavLst>
                                            <p:tav tm="0">
                                              <p:val>
                                                <p:strVal val="0-#ppt_h/2"/>
                                              </p:val>
                                            </p:tav>
                                            <p:tav tm="100000">
                                              <p:val>
                                                <p:strVal val="#ppt_y"/>
                                              </p:val>
                                            </p:tav>
                                          </p:tavLst>
                                        </p:anim>
                                      </p:childTnLst>
                                    </p:cTn>
                                  </p:par>
                                  <p:par>
                                    <p:cTn id="44" presetID="2" presetClass="entr" presetSubtype="4" accel="40000" fill="hold" nodeType="withEffect">
                                      <p:stCondLst>
                                        <p:cond delay="25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1500" fill="hold"/>
                                            <p:tgtEl>
                                              <p:spTgt spid="14"/>
                                            </p:tgtEl>
                                            <p:attrNameLst>
                                              <p:attrName>ppt_x</p:attrName>
                                            </p:attrNameLst>
                                          </p:cBhvr>
                                          <p:tavLst>
                                            <p:tav tm="0">
                                              <p:val>
                                                <p:strVal val="#ppt_x"/>
                                              </p:val>
                                            </p:tav>
                                            <p:tav tm="100000">
                                              <p:val>
                                                <p:strVal val="#ppt_x"/>
                                              </p:val>
                                            </p:tav>
                                          </p:tavLst>
                                        </p:anim>
                                        <p:anim calcmode="lin" valueType="num">
                                          <p:cBhvr additive="base">
                                            <p:cTn id="47" dur="1500" fill="hold"/>
                                            <p:tgtEl>
                                              <p:spTgt spid="14"/>
                                            </p:tgtEl>
                                            <p:attrNameLst>
                                              <p:attrName>ppt_y</p:attrName>
                                            </p:attrNameLst>
                                          </p:cBhvr>
                                          <p:tavLst>
                                            <p:tav tm="0">
                                              <p:val>
                                                <p:strVal val="1+#ppt_h/2"/>
                                              </p:val>
                                            </p:tav>
                                            <p:tav tm="100000">
                                              <p:val>
                                                <p:strVal val="#ppt_y"/>
                                              </p:val>
                                            </p:tav>
                                          </p:tavLst>
                                        </p:anim>
                                      </p:childTnLst>
                                    </p:cTn>
                                  </p:par>
                                  <p:par>
                                    <p:cTn id="48" presetID="2" presetClass="entr" presetSubtype="4" accel="40000" fill="hold" nodeType="withEffect">
                                      <p:stCondLst>
                                        <p:cond delay="50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1500" fill="hold"/>
                                            <p:tgtEl>
                                              <p:spTgt spid="15"/>
                                            </p:tgtEl>
                                            <p:attrNameLst>
                                              <p:attrName>ppt_x</p:attrName>
                                            </p:attrNameLst>
                                          </p:cBhvr>
                                          <p:tavLst>
                                            <p:tav tm="0">
                                              <p:val>
                                                <p:strVal val="#ppt_x"/>
                                              </p:val>
                                            </p:tav>
                                            <p:tav tm="100000">
                                              <p:val>
                                                <p:strVal val="#ppt_x"/>
                                              </p:val>
                                            </p:tav>
                                          </p:tavLst>
                                        </p:anim>
                                        <p:anim calcmode="lin" valueType="num">
                                          <p:cBhvr additive="base">
                                            <p:cTn id="51" dur="1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1AA3A2CC-8442-ED9A-717D-1E41CBB32C77}"/>
              </a:ext>
            </a:extLst>
          </p:cNvPr>
          <p:cNvSpPr txBox="1"/>
          <p:nvPr/>
        </p:nvSpPr>
        <p:spPr>
          <a:xfrm>
            <a:off x="234365" y="408968"/>
            <a:ext cx="1979956" cy="307777"/>
          </a:xfrm>
          <a:prstGeom prst="rect">
            <a:avLst/>
          </a:prstGeom>
          <a:noFill/>
        </p:spPr>
        <p:txBody>
          <a:bodyPr wrap="square" rtlCol="0">
            <a:spAutoFit/>
          </a:bodyPr>
          <a:lstStyle/>
          <a:p>
            <a:pPr algn="ctr"/>
            <a:r>
              <a:rPr lang="zh-CN" altLang="en-US" sz="1400" b="1" dirty="0">
                <a:cs typeface="+mn-ea"/>
                <a:sym typeface="+mn-lt"/>
              </a:rPr>
              <a:t>杜邦分析图</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pic>
        <p:nvPicPr>
          <p:cNvPr id="12" name="图片 11">
            <a:extLst>
              <a:ext uri="{FF2B5EF4-FFF2-40B4-BE49-F238E27FC236}">
                <a16:creationId xmlns:a16="http://schemas.microsoft.com/office/drawing/2014/main" id="{E5CFBE09-5AD2-A397-9717-5F1A6CB9033F}"/>
              </a:ext>
            </a:extLst>
          </p:cNvPr>
          <p:cNvPicPr>
            <a:picLocks noChangeAspect="1"/>
          </p:cNvPicPr>
          <p:nvPr/>
        </p:nvPicPr>
        <p:blipFill>
          <a:blip r:embed="rId2"/>
          <a:stretch>
            <a:fillRect/>
          </a:stretch>
        </p:blipFill>
        <p:spPr>
          <a:xfrm>
            <a:off x="1710815" y="0"/>
            <a:ext cx="9284270" cy="7513957"/>
          </a:xfrm>
          <a:prstGeom prst="rect">
            <a:avLst/>
          </a:prstGeom>
        </p:spPr>
      </p:pic>
    </p:spTree>
    <p:extLst>
      <p:ext uri="{BB962C8B-B14F-4D97-AF65-F5344CB8AC3E}">
        <p14:creationId xmlns:p14="http://schemas.microsoft.com/office/powerpoint/2010/main" val="311834203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1AA3A2CC-8442-ED9A-717D-1E41CBB32C77}"/>
              </a:ext>
            </a:extLst>
          </p:cNvPr>
          <p:cNvSpPr txBox="1"/>
          <p:nvPr/>
        </p:nvSpPr>
        <p:spPr>
          <a:xfrm>
            <a:off x="234365" y="408968"/>
            <a:ext cx="1979956" cy="307777"/>
          </a:xfrm>
          <a:prstGeom prst="rect">
            <a:avLst/>
          </a:prstGeom>
          <a:noFill/>
        </p:spPr>
        <p:txBody>
          <a:bodyPr wrap="square" rtlCol="0">
            <a:spAutoFit/>
          </a:bodyPr>
          <a:lstStyle/>
          <a:p>
            <a:pPr algn="ctr"/>
            <a:r>
              <a:rPr lang="zh-CN" altLang="en-US" sz="1400" b="1" dirty="0">
                <a:cs typeface="+mn-ea"/>
                <a:sym typeface="+mn-lt"/>
              </a:rPr>
              <a:t>杜邦分析图</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sp>
        <p:nvSpPr>
          <p:cNvPr id="8" name="矩形 7">
            <a:extLst>
              <a:ext uri="{FF2B5EF4-FFF2-40B4-BE49-F238E27FC236}">
                <a16:creationId xmlns:a16="http://schemas.microsoft.com/office/drawing/2014/main" id="{4E4BB16D-8773-2C5B-17FE-F672448B1F7C}"/>
              </a:ext>
            </a:extLst>
          </p:cNvPr>
          <p:cNvSpPr/>
          <p:nvPr/>
        </p:nvSpPr>
        <p:spPr>
          <a:xfrm>
            <a:off x="0" y="5778631"/>
            <a:ext cx="12192000" cy="1079369"/>
          </a:xfrm>
          <a:prstGeom prst="rect">
            <a:avLst/>
          </a:prstGeom>
          <a:solidFill>
            <a:srgbClr val="C1040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图片包含 食物, 桌子, 水, 站&#10;&#10;描述已自动生成">
            <a:extLst>
              <a:ext uri="{FF2B5EF4-FFF2-40B4-BE49-F238E27FC236}">
                <a16:creationId xmlns:a16="http://schemas.microsoft.com/office/drawing/2014/main" id="{B59AD303-233D-D89B-9EAA-76A36746E04F}"/>
              </a:ext>
            </a:extLst>
          </p:cNvPr>
          <p:cNvPicPr>
            <a:picLocks noChangeAspect="1"/>
          </p:cNvPicPr>
          <p:nvPr/>
        </p:nvPicPr>
        <p:blipFill rotWithShape="1">
          <a:blip r:embed="rId2">
            <a:extLst>
              <a:ext uri="{28A0092B-C50C-407E-A947-70E740481C1C}">
                <a14:useLocalDpi xmlns:a14="http://schemas.microsoft.com/office/drawing/2010/main" val="0"/>
              </a:ext>
            </a:extLst>
          </a:blip>
          <a:srcRect l="27150" t="2425" r="26042" b="7512"/>
          <a:stretch/>
        </p:blipFill>
        <p:spPr>
          <a:xfrm>
            <a:off x="11176349" y="3695307"/>
            <a:ext cx="1015651" cy="2083324"/>
          </a:xfrm>
          <a:prstGeom prst="rect">
            <a:avLst/>
          </a:prstGeom>
        </p:spPr>
      </p:pic>
      <p:sp>
        <p:nvSpPr>
          <p:cNvPr id="3" name="文本框 2">
            <a:extLst>
              <a:ext uri="{FF2B5EF4-FFF2-40B4-BE49-F238E27FC236}">
                <a16:creationId xmlns:a16="http://schemas.microsoft.com/office/drawing/2014/main" id="{24C79302-32B7-3728-C92D-464796F0D7FF}"/>
              </a:ext>
            </a:extLst>
          </p:cNvPr>
          <p:cNvSpPr txBox="1"/>
          <p:nvPr/>
        </p:nvSpPr>
        <p:spPr>
          <a:xfrm>
            <a:off x="972765" y="1011357"/>
            <a:ext cx="4270443" cy="923330"/>
          </a:xfrm>
          <a:prstGeom prst="rect">
            <a:avLst/>
          </a:prstGeom>
          <a:noFill/>
        </p:spPr>
        <p:txBody>
          <a:bodyPr wrap="square" rtlCol="0">
            <a:spAutoFit/>
          </a:bodyPr>
          <a:lstStyle/>
          <a:p>
            <a:r>
              <a:rPr lang="zh-CN" altLang="en-US" dirty="0"/>
              <a:t>净资产收益率</a:t>
            </a:r>
            <a:endParaRPr lang="en-US" altLang="zh-CN" dirty="0"/>
          </a:p>
          <a:p>
            <a:r>
              <a:rPr lang="en-US" altLang="zh-CN" dirty="0"/>
              <a:t>2022</a:t>
            </a:r>
            <a:r>
              <a:rPr lang="zh-CN" altLang="en-US" dirty="0"/>
              <a:t>年：</a:t>
            </a:r>
            <a:r>
              <a:rPr lang="en-US" altLang="zh-CN" dirty="0"/>
              <a:t>1.24*25.66%=31.82%</a:t>
            </a:r>
          </a:p>
          <a:p>
            <a:r>
              <a:rPr lang="en-US" altLang="zh-CN" dirty="0"/>
              <a:t>2023</a:t>
            </a:r>
            <a:r>
              <a:rPr lang="zh-CN" altLang="en-US" dirty="0"/>
              <a:t>年：</a:t>
            </a:r>
            <a:r>
              <a:rPr lang="en-US" altLang="zh-CN" dirty="0"/>
              <a:t>1.22*29.42%=35.89%</a:t>
            </a:r>
            <a:endParaRPr lang="zh-CN" altLang="en-US" dirty="0"/>
          </a:p>
        </p:txBody>
      </p:sp>
      <p:sp>
        <p:nvSpPr>
          <p:cNvPr id="4" name="文本框 3">
            <a:extLst>
              <a:ext uri="{FF2B5EF4-FFF2-40B4-BE49-F238E27FC236}">
                <a16:creationId xmlns:a16="http://schemas.microsoft.com/office/drawing/2014/main" id="{2BDC604C-CD3B-AC04-614F-D9C833C9C29D}"/>
              </a:ext>
            </a:extLst>
          </p:cNvPr>
          <p:cNvSpPr txBox="1"/>
          <p:nvPr/>
        </p:nvSpPr>
        <p:spPr>
          <a:xfrm>
            <a:off x="972765" y="1934687"/>
            <a:ext cx="6342435" cy="646331"/>
          </a:xfrm>
          <a:prstGeom prst="rect">
            <a:avLst/>
          </a:prstGeom>
          <a:noFill/>
        </p:spPr>
        <p:txBody>
          <a:bodyPr wrap="square" rtlCol="0">
            <a:spAutoFit/>
          </a:bodyPr>
          <a:lstStyle/>
          <a:p>
            <a:r>
              <a:rPr lang="zh-CN" altLang="en-US" dirty="0"/>
              <a:t>通过分解可以看出，净资产收益率上升的主要原因在于资产利用或者成本控制方面出现了问题。</a:t>
            </a:r>
          </a:p>
        </p:txBody>
      </p:sp>
      <p:sp>
        <p:nvSpPr>
          <p:cNvPr id="5" name="文本框 4">
            <a:extLst>
              <a:ext uri="{FF2B5EF4-FFF2-40B4-BE49-F238E27FC236}">
                <a16:creationId xmlns:a16="http://schemas.microsoft.com/office/drawing/2014/main" id="{A92BCADB-3126-7619-527D-0216F111D933}"/>
              </a:ext>
            </a:extLst>
          </p:cNvPr>
          <p:cNvSpPr txBox="1"/>
          <p:nvPr/>
        </p:nvSpPr>
        <p:spPr>
          <a:xfrm>
            <a:off x="972765" y="2771977"/>
            <a:ext cx="4270443" cy="923330"/>
          </a:xfrm>
          <a:prstGeom prst="rect">
            <a:avLst/>
          </a:prstGeom>
          <a:noFill/>
        </p:spPr>
        <p:txBody>
          <a:bodyPr wrap="square" rtlCol="0">
            <a:spAutoFit/>
          </a:bodyPr>
          <a:lstStyle/>
          <a:p>
            <a:r>
              <a:rPr lang="zh-CN" altLang="en-US" dirty="0"/>
              <a:t>总资产收益率</a:t>
            </a:r>
            <a:endParaRPr lang="en-US" altLang="zh-CN" dirty="0"/>
          </a:p>
          <a:p>
            <a:r>
              <a:rPr lang="en-US" altLang="zh-CN" dirty="0"/>
              <a:t>2022</a:t>
            </a:r>
            <a:r>
              <a:rPr lang="zh-CN" altLang="en-US" dirty="0"/>
              <a:t>年：</a:t>
            </a:r>
            <a:r>
              <a:rPr lang="en-US" altLang="zh-CN" dirty="0"/>
              <a:t>0.49*52.68%=25.66%</a:t>
            </a:r>
          </a:p>
          <a:p>
            <a:r>
              <a:rPr lang="en-US" altLang="zh-CN" dirty="0"/>
              <a:t>2023</a:t>
            </a:r>
            <a:r>
              <a:rPr lang="zh-CN" altLang="en-US" dirty="0"/>
              <a:t>年：</a:t>
            </a:r>
            <a:r>
              <a:rPr lang="en-US" altLang="zh-CN" dirty="0"/>
              <a:t>0.56*52.49%=29.42%</a:t>
            </a:r>
            <a:endParaRPr lang="zh-CN" altLang="en-US" dirty="0"/>
          </a:p>
        </p:txBody>
      </p:sp>
      <p:sp>
        <p:nvSpPr>
          <p:cNvPr id="6" name="文本框 5">
            <a:extLst>
              <a:ext uri="{FF2B5EF4-FFF2-40B4-BE49-F238E27FC236}">
                <a16:creationId xmlns:a16="http://schemas.microsoft.com/office/drawing/2014/main" id="{BDBE1DFC-7BE4-C6F2-E597-7BF232DFDA71}"/>
              </a:ext>
            </a:extLst>
          </p:cNvPr>
          <p:cNvSpPr txBox="1"/>
          <p:nvPr/>
        </p:nvSpPr>
        <p:spPr>
          <a:xfrm>
            <a:off x="972765" y="3810492"/>
            <a:ext cx="6838546" cy="1754326"/>
          </a:xfrm>
          <a:prstGeom prst="rect">
            <a:avLst/>
          </a:prstGeom>
          <a:noFill/>
        </p:spPr>
        <p:txBody>
          <a:bodyPr wrap="square" rtlCol="0">
            <a:spAutoFit/>
          </a:bodyPr>
          <a:lstStyle/>
          <a:p>
            <a:r>
              <a:rPr lang="zh-CN" altLang="en-US" dirty="0"/>
              <a:t>通过进一步分析可以发现，总资产周转率上升，资产得到有效使用，销售净利率虽然有所下降，但整体依然保持在较高水平。这个下降的原因主要是其营业税金及附加以及后面的所得税占的比重比较高。茅台一贯地不回避提前纳税，并且与政府的关系良好，这就导致了其销售净利率出现下降。尽管如此，这并不影响市场投资者对茅台的高度信心和看好程度。</a:t>
            </a:r>
          </a:p>
        </p:txBody>
      </p:sp>
      <p:graphicFrame>
        <p:nvGraphicFramePr>
          <p:cNvPr id="10" name="表格 9">
            <a:extLst>
              <a:ext uri="{FF2B5EF4-FFF2-40B4-BE49-F238E27FC236}">
                <a16:creationId xmlns:a16="http://schemas.microsoft.com/office/drawing/2014/main" id="{C174B9D9-446A-8072-C85E-F20F9F2A7669}"/>
              </a:ext>
            </a:extLst>
          </p:cNvPr>
          <p:cNvGraphicFramePr>
            <a:graphicFrameLocks noGrp="1"/>
          </p:cNvGraphicFramePr>
          <p:nvPr/>
        </p:nvGraphicFramePr>
        <p:xfrm>
          <a:off x="8328497" y="3810492"/>
          <a:ext cx="2167648" cy="1520190"/>
        </p:xfrm>
        <a:graphic>
          <a:graphicData uri="http://schemas.openxmlformats.org/drawingml/2006/table">
            <a:tbl>
              <a:tblPr>
                <a:tableStyleId>{5C22544A-7EE6-4342-B048-85BDC9FD1C3A}</a:tableStyleId>
              </a:tblPr>
              <a:tblGrid>
                <a:gridCol w="1083824">
                  <a:extLst>
                    <a:ext uri="{9D8B030D-6E8A-4147-A177-3AD203B41FA5}">
                      <a16:colId xmlns:a16="http://schemas.microsoft.com/office/drawing/2014/main" val="664597501"/>
                    </a:ext>
                  </a:extLst>
                </a:gridCol>
                <a:gridCol w="1083824">
                  <a:extLst>
                    <a:ext uri="{9D8B030D-6E8A-4147-A177-3AD203B41FA5}">
                      <a16:colId xmlns:a16="http://schemas.microsoft.com/office/drawing/2014/main" val="2465644395"/>
                    </a:ext>
                  </a:extLst>
                </a:gridCol>
              </a:tblGrid>
              <a:tr h="180975">
                <a:tc gridSpan="2">
                  <a:txBody>
                    <a:bodyPr/>
                    <a:lstStyle/>
                    <a:p>
                      <a:pPr algn="ctr" fontAlgn="b"/>
                      <a:r>
                        <a:rPr lang="zh-CN" altLang="en-US" sz="1600" u="none" strike="noStrike" dirty="0">
                          <a:effectLst/>
                        </a:rPr>
                        <a:t>销售净利率</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tc hMerge="1">
                  <a:txBody>
                    <a:bodyPr/>
                    <a:lstStyle/>
                    <a:p>
                      <a:endParaRPr lang="zh-CN" altLang="en-US"/>
                    </a:p>
                  </a:txBody>
                  <a:tcPr/>
                </a:tc>
                <a:extLst>
                  <a:ext uri="{0D108BD9-81ED-4DB2-BD59-A6C34878D82A}">
                    <a16:rowId xmlns:a16="http://schemas.microsoft.com/office/drawing/2014/main" val="4029138393"/>
                  </a:ext>
                </a:extLst>
              </a:tr>
              <a:tr h="180975">
                <a:tc>
                  <a:txBody>
                    <a:bodyPr/>
                    <a:lstStyle/>
                    <a:p>
                      <a:pPr algn="l" fontAlgn="b"/>
                      <a:r>
                        <a:rPr lang="zh-CN" altLang="en-US" sz="1600" u="none" strike="noStrike" dirty="0">
                          <a:effectLst/>
                        </a:rPr>
                        <a:t>贵州茅台</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tc>
                  <a:txBody>
                    <a:bodyPr/>
                    <a:lstStyle/>
                    <a:p>
                      <a:pPr algn="r" fontAlgn="b"/>
                      <a:r>
                        <a:rPr lang="en-US" altLang="zh-CN" sz="1600" u="none" strike="noStrike" dirty="0">
                          <a:effectLst/>
                        </a:rPr>
                        <a:t>52.49%</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extLst>
                  <a:ext uri="{0D108BD9-81ED-4DB2-BD59-A6C34878D82A}">
                    <a16:rowId xmlns:a16="http://schemas.microsoft.com/office/drawing/2014/main" val="2745145389"/>
                  </a:ext>
                </a:extLst>
              </a:tr>
              <a:tr h="180975">
                <a:tc>
                  <a:txBody>
                    <a:bodyPr/>
                    <a:lstStyle/>
                    <a:p>
                      <a:pPr algn="l" fontAlgn="b"/>
                      <a:r>
                        <a:rPr lang="zh-CN" altLang="en-US" sz="1600" u="none" strike="noStrike" dirty="0">
                          <a:effectLst/>
                        </a:rPr>
                        <a:t>五粮液</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tc>
                  <a:txBody>
                    <a:bodyPr/>
                    <a:lstStyle/>
                    <a:p>
                      <a:pPr algn="r" fontAlgn="b"/>
                      <a:r>
                        <a:rPr lang="en-US" altLang="zh-CN" sz="1600" u="none" strike="noStrike" dirty="0">
                          <a:effectLst/>
                        </a:rPr>
                        <a:t>37.85%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extLst>
                  <a:ext uri="{0D108BD9-81ED-4DB2-BD59-A6C34878D82A}">
                    <a16:rowId xmlns:a16="http://schemas.microsoft.com/office/drawing/2014/main" val="3646939401"/>
                  </a:ext>
                </a:extLst>
              </a:tr>
              <a:tr h="180975">
                <a:tc>
                  <a:txBody>
                    <a:bodyPr/>
                    <a:lstStyle/>
                    <a:p>
                      <a:pPr algn="l" fontAlgn="b"/>
                      <a:r>
                        <a:rPr lang="zh-CN" altLang="en-US" sz="1600" u="none" strike="noStrike">
                          <a:effectLst/>
                        </a:rPr>
                        <a:t>洋河股份</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b"/>
                </a:tc>
                <a:tc>
                  <a:txBody>
                    <a:bodyPr/>
                    <a:lstStyle/>
                    <a:p>
                      <a:pPr algn="r" fontAlgn="b"/>
                      <a:r>
                        <a:rPr lang="en-US" altLang="zh-CN" sz="1600" u="none" strike="noStrike" dirty="0">
                          <a:effectLst/>
                        </a:rPr>
                        <a:t>30.25%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extLst>
                  <a:ext uri="{0D108BD9-81ED-4DB2-BD59-A6C34878D82A}">
                    <a16:rowId xmlns:a16="http://schemas.microsoft.com/office/drawing/2014/main" val="423712575"/>
                  </a:ext>
                </a:extLst>
              </a:tr>
              <a:tr h="180975">
                <a:tc>
                  <a:txBody>
                    <a:bodyPr/>
                    <a:lstStyle/>
                    <a:p>
                      <a:pPr algn="l" fontAlgn="b"/>
                      <a:r>
                        <a:rPr lang="zh-CN" altLang="en-US" sz="1600" u="none" strike="noStrike">
                          <a:effectLst/>
                        </a:rPr>
                        <a:t>泸州老窖</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b"/>
                </a:tc>
                <a:tc>
                  <a:txBody>
                    <a:bodyPr/>
                    <a:lstStyle/>
                    <a:p>
                      <a:pPr algn="r" fontAlgn="b"/>
                      <a:r>
                        <a:rPr lang="en-US" altLang="zh-CN" sz="1600" u="none" strike="noStrike" dirty="0">
                          <a:effectLst/>
                        </a:rPr>
                        <a:t>43.95%</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extLst>
                  <a:ext uri="{0D108BD9-81ED-4DB2-BD59-A6C34878D82A}">
                    <a16:rowId xmlns:a16="http://schemas.microsoft.com/office/drawing/2014/main" val="3443281239"/>
                  </a:ext>
                </a:extLst>
              </a:tr>
              <a:tr h="180975">
                <a:tc>
                  <a:txBody>
                    <a:bodyPr/>
                    <a:lstStyle/>
                    <a:p>
                      <a:pPr algn="l" fontAlgn="b"/>
                      <a:r>
                        <a:rPr lang="zh-CN" altLang="en-US" sz="1600" u="none" strike="noStrike">
                          <a:effectLst/>
                        </a:rPr>
                        <a:t>山西汾酒</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b"/>
                </a:tc>
                <a:tc>
                  <a:txBody>
                    <a:bodyPr/>
                    <a:lstStyle/>
                    <a:p>
                      <a:pPr algn="r" fontAlgn="b"/>
                      <a:r>
                        <a:rPr lang="en-US" altLang="zh-CN" sz="1600" u="none" strike="noStrike" dirty="0">
                          <a:effectLst/>
                        </a:rPr>
                        <a:t>32.76%</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b"/>
                </a:tc>
                <a:extLst>
                  <a:ext uri="{0D108BD9-81ED-4DB2-BD59-A6C34878D82A}">
                    <a16:rowId xmlns:a16="http://schemas.microsoft.com/office/drawing/2014/main" val="2485509810"/>
                  </a:ext>
                </a:extLst>
              </a:tr>
            </a:tbl>
          </a:graphicData>
        </a:graphic>
      </p:graphicFrame>
    </p:spTree>
    <p:extLst>
      <p:ext uri="{BB962C8B-B14F-4D97-AF65-F5344CB8AC3E}">
        <p14:creationId xmlns:p14="http://schemas.microsoft.com/office/powerpoint/2010/main" val="643255577"/>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par>
                                <p:cTn id="13" presetID="14"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788E2E9-1BDA-35E5-E462-025464723F18}"/>
              </a:ext>
            </a:extLst>
          </p:cNvPr>
          <p:cNvPicPr>
            <a:picLocks noChangeAspect="1"/>
          </p:cNvPicPr>
          <p:nvPr/>
        </p:nvPicPr>
        <p:blipFill>
          <a:blip r:embed="rId3"/>
          <a:stretch>
            <a:fillRect/>
          </a:stretch>
        </p:blipFill>
        <p:spPr>
          <a:xfrm>
            <a:off x="1476919" y="935390"/>
            <a:ext cx="9240252" cy="5045409"/>
          </a:xfrm>
          <a:prstGeom prst="rect">
            <a:avLst/>
          </a:prstGeom>
        </p:spPr>
      </p:pic>
      <p:sp>
        <p:nvSpPr>
          <p:cNvPr id="19" name="任意多边形: 形状 18">
            <a:extLst>
              <a:ext uri="{FF2B5EF4-FFF2-40B4-BE49-F238E27FC236}">
                <a16:creationId xmlns:a16="http://schemas.microsoft.com/office/drawing/2014/main" id="{4643376D-0D46-4640-9A8F-2F89E457CC6F}"/>
              </a:ext>
            </a:extLst>
          </p:cNvPr>
          <p:cNvSpPr/>
          <p:nvPr/>
        </p:nvSpPr>
        <p:spPr>
          <a:xfrm>
            <a:off x="404353" y="3547242"/>
            <a:ext cx="11787648" cy="2443656"/>
          </a:xfrm>
          <a:custGeom>
            <a:avLst/>
            <a:gdLst>
              <a:gd name="connsiteX0" fmla="*/ 1402300 w 11787648"/>
              <a:gd name="connsiteY0" fmla="*/ 0 h 2443656"/>
              <a:gd name="connsiteX1" fmla="*/ 11787648 w 11787648"/>
              <a:gd name="connsiteY1" fmla="*/ 0 h 2443656"/>
              <a:gd name="connsiteX2" fmla="*/ 11787648 w 11787648"/>
              <a:gd name="connsiteY2" fmla="*/ 2443656 h 2443656"/>
              <a:gd name="connsiteX3" fmla="*/ 0 w 11787648"/>
              <a:gd name="connsiteY3" fmla="*/ 2443656 h 2443656"/>
            </a:gdLst>
            <a:ahLst/>
            <a:cxnLst>
              <a:cxn ang="0">
                <a:pos x="connsiteX0" y="connsiteY0"/>
              </a:cxn>
              <a:cxn ang="0">
                <a:pos x="connsiteX1" y="connsiteY1"/>
              </a:cxn>
              <a:cxn ang="0">
                <a:pos x="connsiteX2" y="connsiteY2"/>
              </a:cxn>
              <a:cxn ang="0">
                <a:pos x="connsiteX3" y="connsiteY3"/>
              </a:cxn>
            </a:cxnLst>
            <a:rect l="l" t="t" r="r" b="b"/>
            <a:pathLst>
              <a:path w="11787648" h="2443656">
                <a:moveTo>
                  <a:pt x="1402300" y="0"/>
                </a:moveTo>
                <a:lnTo>
                  <a:pt x="11787648" y="0"/>
                </a:lnTo>
                <a:lnTo>
                  <a:pt x="11787648" y="2443656"/>
                </a:lnTo>
                <a:lnTo>
                  <a:pt x="0" y="2443656"/>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19089507-A640-4EEA-91FF-104D3FE501CB}"/>
              </a:ext>
            </a:extLst>
          </p:cNvPr>
          <p:cNvSpPr txBox="1"/>
          <p:nvPr/>
        </p:nvSpPr>
        <p:spPr>
          <a:xfrm flipH="1">
            <a:off x="6839973" y="4338183"/>
            <a:ext cx="2780604" cy="584775"/>
          </a:xfrm>
          <a:prstGeom prst="rect">
            <a:avLst/>
          </a:prstGeom>
          <a:noFill/>
        </p:spPr>
        <p:txBody>
          <a:bodyPr wrap="square" rtlCol="0">
            <a:spAutoFit/>
          </a:bodyPr>
          <a:lstStyle/>
          <a:p>
            <a:pPr algn="r"/>
            <a:r>
              <a:rPr lang="zh-CN" altLang="en-US" sz="3200" dirty="0">
                <a:solidFill>
                  <a:srgbClr val="002060"/>
                </a:solidFill>
                <a:cs typeface="+mn-ea"/>
                <a:sym typeface="+mn-lt"/>
              </a:rPr>
              <a:t>总资产周转率</a:t>
            </a:r>
            <a:endParaRPr lang="en-US" altLang="zh-CN" sz="3200" dirty="0">
              <a:solidFill>
                <a:srgbClr val="002060"/>
              </a:solidFill>
              <a:cs typeface="+mn-ea"/>
              <a:sym typeface="+mn-lt"/>
            </a:endParaRPr>
          </a:p>
        </p:txBody>
      </p:sp>
      <p:grpSp>
        <p:nvGrpSpPr>
          <p:cNvPr id="3" name="组合 2">
            <a:extLst>
              <a:ext uri="{FF2B5EF4-FFF2-40B4-BE49-F238E27FC236}">
                <a16:creationId xmlns:a16="http://schemas.microsoft.com/office/drawing/2014/main" id="{EEE2CC03-6ACA-4429-BD21-92A0298575A7}"/>
              </a:ext>
            </a:extLst>
          </p:cNvPr>
          <p:cNvGrpSpPr/>
          <p:nvPr/>
        </p:nvGrpSpPr>
        <p:grpSpPr>
          <a:xfrm>
            <a:off x="9660675" y="3851070"/>
            <a:ext cx="1836000" cy="1836000"/>
            <a:chOff x="9620578" y="3901966"/>
            <a:chExt cx="1836000" cy="1836000"/>
          </a:xfrm>
        </p:grpSpPr>
        <p:sp>
          <p:nvSpPr>
            <p:cNvPr id="11" name="矩形 10">
              <a:extLst>
                <a:ext uri="{FF2B5EF4-FFF2-40B4-BE49-F238E27FC236}">
                  <a16:creationId xmlns:a16="http://schemas.microsoft.com/office/drawing/2014/main" id="{9468E86E-91DF-40FF-80AC-DCB7260C44CC}"/>
                </a:ext>
              </a:extLst>
            </p:cNvPr>
            <p:cNvSpPr/>
            <p:nvPr/>
          </p:nvSpPr>
          <p:spPr>
            <a:xfrm>
              <a:off x="9620578" y="3901966"/>
              <a:ext cx="1836000" cy="1836000"/>
            </a:xfrm>
            <a:prstGeom prst="rect">
              <a:avLst/>
            </a:prstGeom>
            <a:solidFill>
              <a:srgbClr val="FF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文本框 8">
              <a:extLst>
                <a:ext uri="{FF2B5EF4-FFF2-40B4-BE49-F238E27FC236}">
                  <a16:creationId xmlns:a16="http://schemas.microsoft.com/office/drawing/2014/main" id="{CF1E4694-8B88-4449-8AE9-813B6C40A029}"/>
                </a:ext>
              </a:extLst>
            </p:cNvPr>
            <p:cNvSpPr txBox="1"/>
            <p:nvPr/>
          </p:nvSpPr>
          <p:spPr>
            <a:xfrm>
              <a:off x="10038987" y="4358301"/>
              <a:ext cx="999183" cy="923330"/>
            </a:xfrm>
            <a:prstGeom prst="rect">
              <a:avLst/>
            </a:prstGeom>
            <a:noFill/>
          </p:spPr>
          <p:txBody>
            <a:bodyPr wrap="square" rtlCol="0">
              <a:spAutoFit/>
            </a:bodyPr>
            <a:lstStyle/>
            <a:p>
              <a:pPr algn="ctr"/>
              <a:r>
                <a:rPr lang="en-US" altLang="zh-CN" sz="5400" dirty="0">
                  <a:solidFill>
                    <a:schemeClr val="bg1"/>
                  </a:solidFill>
                  <a:cs typeface="+mn-ea"/>
                  <a:sym typeface="+mn-lt"/>
                </a:rPr>
                <a:t>02</a:t>
              </a:r>
            </a:p>
          </p:txBody>
        </p:sp>
      </p:grpSp>
      <p:sp>
        <p:nvSpPr>
          <p:cNvPr id="2" name="任意多边形: 形状 1">
            <a:extLst>
              <a:ext uri="{FF2B5EF4-FFF2-40B4-BE49-F238E27FC236}">
                <a16:creationId xmlns:a16="http://schemas.microsoft.com/office/drawing/2014/main" id="{0FF3C5F6-36CC-4533-9D6B-70F55C98CF0B}"/>
              </a:ext>
            </a:extLst>
          </p:cNvPr>
          <p:cNvSpPr/>
          <p:nvPr/>
        </p:nvSpPr>
        <p:spPr>
          <a:xfrm rot="10800000" flipH="1" flipV="1">
            <a:off x="-3352068" y="0"/>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4" name="直接连接符 13">
            <a:extLst>
              <a:ext uri="{FF2B5EF4-FFF2-40B4-BE49-F238E27FC236}">
                <a16:creationId xmlns:a16="http://schemas.microsoft.com/office/drawing/2014/main" id="{E56ACB86-6645-4604-8B7A-F2818BD0C4E7}"/>
              </a:ext>
            </a:extLst>
          </p:cNvPr>
          <p:cNvCxnSpPr>
            <a:cxnSpLocks/>
          </p:cNvCxnSpPr>
          <p:nvPr/>
        </p:nvCxnSpPr>
        <p:spPr>
          <a:xfrm flipH="1">
            <a:off x="653211" y="5860509"/>
            <a:ext cx="574850" cy="9974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86D71DB-DCAD-4E60-8891-F20BC4BB6EBD}"/>
              </a:ext>
            </a:extLst>
          </p:cNvPr>
          <p:cNvCxnSpPr>
            <a:cxnSpLocks/>
          </p:cNvCxnSpPr>
          <p:nvPr/>
        </p:nvCxnSpPr>
        <p:spPr>
          <a:xfrm flipH="1">
            <a:off x="761896" y="5670729"/>
            <a:ext cx="466166" cy="80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79E2DEB-179D-43EE-9F31-090241BD6378}"/>
              </a:ext>
            </a:extLst>
          </p:cNvPr>
          <p:cNvCxnSpPr>
            <a:cxnSpLocks/>
          </p:cNvCxnSpPr>
          <p:nvPr/>
        </p:nvCxnSpPr>
        <p:spPr>
          <a:xfrm flipH="1">
            <a:off x="4704111" y="-1"/>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12CE56F-4FC2-4F89-BCAE-72922C853D62}"/>
              </a:ext>
            </a:extLst>
          </p:cNvPr>
          <p:cNvCxnSpPr>
            <a:cxnSpLocks/>
          </p:cNvCxnSpPr>
          <p:nvPr/>
        </p:nvCxnSpPr>
        <p:spPr>
          <a:xfrm flipH="1">
            <a:off x="1739721" y="0"/>
            <a:ext cx="3952233" cy="6858000"/>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sp>
        <p:nvSpPr>
          <p:cNvPr id="13" name="平行四边形 12">
            <a:extLst>
              <a:ext uri="{FF2B5EF4-FFF2-40B4-BE49-F238E27FC236}">
                <a16:creationId xmlns:a16="http://schemas.microsoft.com/office/drawing/2014/main" id="{2CCBB89C-5C40-418B-AC8C-3F7746D1FE26}"/>
              </a:ext>
            </a:extLst>
          </p:cNvPr>
          <p:cNvSpPr/>
          <p:nvPr/>
        </p:nvSpPr>
        <p:spPr>
          <a:xfrm>
            <a:off x="2483992" y="4007617"/>
            <a:ext cx="995991" cy="1402664"/>
          </a:xfrm>
          <a:prstGeom prst="parallelogram">
            <a:avLst>
              <a:gd name="adj" fmla="val 81010"/>
            </a:avLst>
          </a:prstGeom>
          <a:solidFill>
            <a:srgbClr val="FF99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1" name="任意多边形: 形状 20">
            <a:extLst>
              <a:ext uri="{FF2B5EF4-FFF2-40B4-BE49-F238E27FC236}">
                <a16:creationId xmlns:a16="http://schemas.microsoft.com/office/drawing/2014/main" id="{238BC879-81A2-4D7E-B902-82D6633A6280}"/>
              </a:ext>
            </a:extLst>
          </p:cNvPr>
          <p:cNvSpPr/>
          <p:nvPr/>
        </p:nvSpPr>
        <p:spPr>
          <a:xfrm rot="10800000" flipH="1" flipV="1">
            <a:off x="-5703389" y="-958822"/>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BDC61BC7-F7AB-DEA0-4CEA-03559A9ED8CC}"/>
              </a:ext>
            </a:extLst>
          </p:cNvPr>
          <p:cNvSpPr txBox="1"/>
          <p:nvPr/>
        </p:nvSpPr>
        <p:spPr>
          <a:xfrm>
            <a:off x="7664597" y="4860146"/>
            <a:ext cx="2497534" cy="307777"/>
          </a:xfrm>
          <a:prstGeom prst="rect">
            <a:avLst/>
          </a:prstGeom>
          <a:noFill/>
        </p:spPr>
        <p:txBody>
          <a:bodyPr wrap="square" rtlCol="0">
            <a:spAutoFit/>
          </a:bodyPr>
          <a:lstStyle/>
          <a:p>
            <a:r>
              <a:rPr lang="en-US" altLang="zh-CN" sz="1400" dirty="0"/>
              <a:t>Total Asset Turnover</a:t>
            </a:r>
          </a:p>
        </p:txBody>
      </p:sp>
    </p:spTree>
    <p:extLst>
      <p:ext uri="{BB962C8B-B14F-4D97-AF65-F5344CB8AC3E}">
        <p14:creationId xmlns:p14="http://schemas.microsoft.com/office/powerpoint/2010/main" val="407175161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69000">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14:bounceEnd="69000">
                                          <p:cBhvr additive="base">
                                            <p:cTn id="11" dur="500" fill="hold"/>
                                            <p:tgtEl>
                                              <p:spTgt spid="21"/>
                                            </p:tgtEl>
                                            <p:attrNameLst>
                                              <p:attrName>ppt_x</p:attrName>
                                            </p:attrNameLst>
                                          </p:cBhvr>
                                          <p:tavLst>
                                            <p:tav tm="0">
                                              <p:val>
                                                <p:strVal val="0-#ppt_w/2"/>
                                              </p:val>
                                            </p:tav>
                                            <p:tav tm="100000">
                                              <p:val>
                                                <p:strVal val="#ppt_x"/>
                                              </p:val>
                                            </p:tav>
                                          </p:tavLst>
                                        </p:anim>
                                        <p:anim calcmode="lin" valueType="num" p14:bounceEnd="69000">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nodeType="withEffect">
                                      <p:stCondLst>
                                        <p:cond delay="25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3750"/>
                                </p:stCondLst>
                                <p:childTnLst>
                                  <p:par>
                                    <p:cTn id="39" presetID="16" presetClass="entr" presetSubtype="42"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barn(outHorizontal)">
                                          <p:cBhvr>
                                            <p:cTn id="41" dur="750"/>
                                            <p:tgtEl>
                                              <p:spTgt spid="13"/>
                                            </p:tgtEl>
                                          </p:cBhvr>
                                        </p:animEffect>
                                      </p:childTnLst>
                                    </p:cTn>
                                  </p:par>
                                  <p:par>
                                    <p:cTn id="42" presetID="2" presetClass="entr" presetSubtype="1" accel="40000" fill="hold" nodeType="withEffect" p14:presetBounceEnd="60000">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14:bounceEnd="60000">
                                          <p:cBhvr additive="base">
                                            <p:cTn id="44" dur="1500" fill="hold"/>
                                            <p:tgtEl>
                                              <p:spTgt spid="16"/>
                                            </p:tgtEl>
                                            <p:attrNameLst>
                                              <p:attrName>ppt_x</p:attrName>
                                            </p:attrNameLst>
                                          </p:cBhvr>
                                          <p:tavLst>
                                            <p:tav tm="0">
                                              <p:val>
                                                <p:strVal val="#ppt_x"/>
                                              </p:val>
                                            </p:tav>
                                            <p:tav tm="100000">
                                              <p:val>
                                                <p:strVal val="#ppt_x"/>
                                              </p:val>
                                            </p:tav>
                                          </p:tavLst>
                                        </p:anim>
                                        <p:anim calcmode="lin" valueType="num" p14:bounceEnd="60000">
                                          <p:cBhvr additive="base">
                                            <p:cTn id="45" dur="1500" fill="hold"/>
                                            <p:tgtEl>
                                              <p:spTgt spid="16"/>
                                            </p:tgtEl>
                                            <p:attrNameLst>
                                              <p:attrName>ppt_y</p:attrName>
                                            </p:attrNameLst>
                                          </p:cBhvr>
                                          <p:tavLst>
                                            <p:tav tm="0">
                                              <p:val>
                                                <p:strVal val="0-#ppt_h/2"/>
                                              </p:val>
                                            </p:tav>
                                            <p:tav tm="100000">
                                              <p:val>
                                                <p:strVal val="#ppt_y"/>
                                              </p:val>
                                            </p:tav>
                                          </p:tavLst>
                                        </p:anim>
                                      </p:childTnLst>
                                    </p:cTn>
                                  </p:par>
                                  <p:par>
                                    <p:cTn id="46" presetID="2" presetClass="entr" presetSubtype="4" accel="40000" fill="hold" nodeType="withEffect" p14:presetBounceEnd="60000">
                                      <p:stCondLst>
                                        <p:cond delay="250"/>
                                      </p:stCondLst>
                                      <p:childTnLst>
                                        <p:set>
                                          <p:cBhvr>
                                            <p:cTn id="47" dur="1" fill="hold">
                                              <p:stCondLst>
                                                <p:cond delay="0"/>
                                              </p:stCondLst>
                                            </p:cTn>
                                            <p:tgtEl>
                                              <p:spTgt spid="14"/>
                                            </p:tgtEl>
                                            <p:attrNameLst>
                                              <p:attrName>style.visibility</p:attrName>
                                            </p:attrNameLst>
                                          </p:cBhvr>
                                          <p:to>
                                            <p:strVal val="visible"/>
                                          </p:to>
                                        </p:set>
                                        <p:anim calcmode="lin" valueType="num" p14:bounceEnd="60000">
                                          <p:cBhvr additive="base">
                                            <p:cTn id="48" dur="150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49" dur="1500" fill="hold"/>
                                            <p:tgtEl>
                                              <p:spTgt spid="14"/>
                                            </p:tgtEl>
                                            <p:attrNameLst>
                                              <p:attrName>ppt_y</p:attrName>
                                            </p:attrNameLst>
                                          </p:cBhvr>
                                          <p:tavLst>
                                            <p:tav tm="0">
                                              <p:val>
                                                <p:strVal val="1+#ppt_h/2"/>
                                              </p:val>
                                            </p:tav>
                                            <p:tav tm="100000">
                                              <p:val>
                                                <p:strVal val="#ppt_y"/>
                                              </p:val>
                                            </p:tav>
                                          </p:tavLst>
                                        </p:anim>
                                      </p:childTnLst>
                                    </p:cTn>
                                  </p:par>
                                  <p:par>
                                    <p:cTn id="50" presetID="2" presetClass="entr" presetSubtype="4" accel="40000" fill="hold" nodeType="withEffect" p14:presetBounceEnd="60000">
                                      <p:stCondLst>
                                        <p:cond delay="500"/>
                                      </p:stCondLst>
                                      <p:childTnLst>
                                        <p:set>
                                          <p:cBhvr>
                                            <p:cTn id="51" dur="1" fill="hold">
                                              <p:stCondLst>
                                                <p:cond delay="0"/>
                                              </p:stCondLst>
                                            </p:cTn>
                                            <p:tgtEl>
                                              <p:spTgt spid="15"/>
                                            </p:tgtEl>
                                            <p:attrNameLst>
                                              <p:attrName>style.visibility</p:attrName>
                                            </p:attrNameLst>
                                          </p:cBhvr>
                                          <p:to>
                                            <p:strVal val="visible"/>
                                          </p:to>
                                        </p:set>
                                        <p:anim calcmode="lin" valueType="num" p14:bounceEnd="60000">
                                          <p:cBhvr additive="base">
                                            <p:cTn id="52" dur="1500" fill="hold"/>
                                            <p:tgtEl>
                                              <p:spTgt spid="15"/>
                                            </p:tgtEl>
                                            <p:attrNameLst>
                                              <p:attrName>ppt_x</p:attrName>
                                            </p:attrNameLst>
                                          </p:cBhvr>
                                          <p:tavLst>
                                            <p:tav tm="0">
                                              <p:val>
                                                <p:strVal val="#ppt_x"/>
                                              </p:val>
                                            </p:tav>
                                            <p:tav tm="100000">
                                              <p:val>
                                                <p:strVal val="#ppt_x"/>
                                              </p:val>
                                            </p:tav>
                                          </p:tavLst>
                                        </p:anim>
                                        <p:anim calcmode="lin" valueType="num" p14:bounceEnd="60000">
                                          <p:cBhvr additive="base">
                                            <p:cTn id="53" dur="1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nodeType="withEffect">
                                      <p:stCondLst>
                                        <p:cond delay="25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3750"/>
                                </p:stCondLst>
                                <p:childTnLst>
                                  <p:par>
                                    <p:cTn id="39" presetID="16" presetClass="entr" presetSubtype="42"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barn(outHorizontal)">
                                          <p:cBhvr>
                                            <p:cTn id="41" dur="750"/>
                                            <p:tgtEl>
                                              <p:spTgt spid="13"/>
                                            </p:tgtEl>
                                          </p:cBhvr>
                                        </p:animEffect>
                                      </p:childTnLst>
                                    </p:cTn>
                                  </p:par>
                                  <p:par>
                                    <p:cTn id="42" presetID="2" presetClass="entr" presetSubtype="1" accel="4000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1500" fill="hold"/>
                                            <p:tgtEl>
                                              <p:spTgt spid="16"/>
                                            </p:tgtEl>
                                            <p:attrNameLst>
                                              <p:attrName>ppt_x</p:attrName>
                                            </p:attrNameLst>
                                          </p:cBhvr>
                                          <p:tavLst>
                                            <p:tav tm="0">
                                              <p:val>
                                                <p:strVal val="#ppt_x"/>
                                              </p:val>
                                            </p:tav>
                                            <p:tav tm="100000">
                                              <p:val>
                                                <p:strVal val="#ppt_x"/>
                                              </p:val>
                                            </p:tav>
                                          </p:tavLst>
                                        </p:anim>
                                        <p:anim calcmode="lin" valueType="num">
                                          <p:cBhvr additive="base">
                                            <p:cTn id="45" dur="1500" fill="hold"/>
                                            <p:tgtEl>
                                              <p:spTgt spid="16"/>
                                            </p:tgtEl>
                                            <p:attrNameLst>
                                              <p:attrName>ppt_y</p:attrName>
                                            </p:attrNameLst>
                                          </p:cBhvr>
                                          <p:tavLst>
                                            <p:tav tm="0">
                                              <p:val>
                                                <p:strVal val="0-#ppt_h/2"/>
                                              </p:val>
                                            </p:tav>
                                            <p:tav tm="100000">
                                              <p:val>
                                                <p:strVal val="#ppt_y"/>
                                              </p:val>
                                            </p:tav>
                                          </p:tavLst>
                                        </p:anim>
                                      </p:childTnLst>
                                    </p:cTn>
                                  </p:par>
                                  <p:par>
                                    <p:cTn id="46" presetID="2" presetClass="entr" presetSubtype="4" accel="40000" fill="hold" nodeType="withEffect">
                                      <p:stCondLst>
                                        <p:cond delay="25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1500" fill="hold"/>
                                            <p:tgtEl>
                                              <p:spTgt spid="14"/>
                                            </p:tgtEl>
                                            <p:attrNameLst>
                                              <p:attrName>ppt_x</p:attrName>
                                            </p:attrNameLst>
                                          </p:cBhvr>
                                          <p:tavLst>
                                            <p:tav tm="0">
                                              <p:val>
                                                <p:strVal val="#ppt_x"/>
                                              </p:val>
                                            </p:tav>
                                            <p:tav tm="100000">
                                              <p:val>
                                                <p:strVal val="#ppt_x"/>
                                              </p:val>
                                            </p:tav>
                                          </p:tavLst>
                                        </p:anim>
                                        <p:anim calcmode="lin" valueType="num">
                                          <p:cBhvr additive="base">
                                            <p:cTn id="49" dur="1500" fill="hold"/>
                                            <p:tgtEl>
                                              <p:spTgt spid="14"/>
                                            </p:tgtEl>
                                            <p:attrNameLst>
                                              <p:attrName>ppt_y</p:attrName>
                                            </p:attrNameLst>
                                          </p:cBhvr>
                                          <p:tavLst>
                                            <p:tav tm="0">
                                              <p:val>
                                                <p:strVal val="1+#ppt_h/2"/>
                                              </p:val>
                                            </p:tav>
                                            <p:tav tm="100000">
                                              <p:val>
                                                <p:strVal val="#ppt_y"/>
                                              </p:val>
                                            </p:tav>
                                          </p:tavLst>
                                        </p:anim>
                                      </p:childTnLst>
                                    </p:cTn>
                                  </p:par>
                                  <p:par>
                                    <p:cTn id="50" presetID="2" presetClass="entr" presetSubtype="4" accel="40000" fill="hold" nodeType="withEffect">
                                      <p:stCondLst>
                                        <p:cond delay="50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1500" fill="hold"/>
                                            <p:tgtEl>
                                              <p:spTgt spid="15"/>
                                            </p:tgtEl>
                                            <p:attrNameLst>
                                              <p:attrName>ppt_x</p:attrName>
                                            </p:attrNameLst>
                                          </p:cBhvr>
                                          <p:tavLst>
                                            <p:tav tm="0">
                                              <p:val>
                                                <p:strVal val="#ppt_x"/>
                                              </p:val>
                                            </p:tav>
                                            <p:tav tm="100000">
                                              <p:val>
                                                <p:strVal val="#ppt_x"/>
                                              </p:val>
                                            </p:tav>
                                          </p:tavLst>
                                        </p:anim>
                                        <p:anim calcmode="lin" valueType="num">
                                          <p:cBhvr additive="base">
                                            <p:cTn id="53" dur="1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1AA3A2CC-8442-ED9A-717D-1E41CBB32C77}"/>
              </a:ext>
            </a:extLst>
          </p:cNvPr>
          <p:cNvSpPr txBox="1"/>
          <p:nvPr/>
        </p:nvSpPr>
        <p:spPr>
          <a:xfrm>
            <a:off x="455054" y="404981"/>
            <a:ext cx="1979956" cy="307777"/>
          </a:xfrm>
          <a:prstGeom prst="rect">
            <a:avLst/>
          </a:prstGeom>
          <a:noFill/>
        </p:spPr>
        <p:txBody>
          <a:bodyPr wrap="square" rtlCol="0">
            <a:spAutoFit/>
          </a:bodyPr>
          <a:lstStyle/>
          <a:p>
            <a:pPr algn="ctr"/>
            <a:r>
              <a:rPr lang="zh-CN" altLang="en-US" sz="1400" b="1" dirty="0">
                <a:cs typeface="+mn-ea"/>
                <a:sym typeface="+mn-lt"/>
              </a:rPr>
              <a:t>总资产周转率</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pic>
        <p:nvPicPr>
          <p:cNvPr id="9" name="图片 8" descr="图片包含 食物, 桌子, 水, 站&#10;&#10;描述已自动生成">
            <a:extLst>
              <a:ext uri="{FF2B5EF4-FFF2-40B4-BE49-F238E27FC236}">
                <a16:creationId xmlns:a16="http://schemas.microsoft.com/office/drawing/2014/main" id="{B59AD303-233D-D89B-9EAA-76A36746E04F}"/>
              </a:ext>
            </a:extLst>
          </p:cNvPr>
          <p:cNvPicPr>
            <a:picLocks noChangeAspect="1"/>
          </p:cNvPicPr>
          <p:nvPr/>
        </p:nvPicPr>
        <p:blipFill rotWithShape="1">
          <a:blip r:embed="rId2">
            <a:extLst>
              <a:ext uri="{28A0092B-C50C-407E-A947-70E740481C1C}">
                <a14:useLocalDpi xmlns:a14="http://schemas.microsoft.com/office/drawing/2010/main" val="0"/>
              </a:ext>
            </a:extLst>
          </a:blip>
          <a:srcRect l="27150" t="2425" r="26042" b="7512"/>
          <a:stretch/>
        </p:blipFill>
        <p:spPr>
          <a:xfrm>
            <a:off x="10957473" y="4140708"/>
            <a:ext cx="1180717" cy="2421910"/>
          </a:xfrm>
          <a:prstGeom prst="rect">
            <a:avLst/>
          </a:prstGeom>
        </p:spPr>
      </p:pic>
      <p:graphicFrame>
        <p:nvGraphicFramePr>
          <p:cNvPr id="3" name="表格 2">
            <a:extLst>
              <a:ext uri="{FF2B5EF4-FFF2-40B4-BE49-F238E27FC236}">
                <a16:creationId xmlns:a16="http://schemas.microsoft.com/office/drawing/2014/main" id="{5949844D-51D5-D283-FE71-EC838811D047}"/>
              </a:ext>
            </a:extLst>
          </p:cNvPr>
          <p:cNvGraphicFramePr>
            <a:graphicFrameLocks noGrp="1"/>
          </p:cNvGraphicFramePr>
          <p:nvPr>
            <p:extLst>
              <p:ext uri="{D42A27DB-BD31-4B8C-83A1-F6EECF244321}">
                <p14:modId xmlns:p14="http://schemas.microsoft.com/office/powerpoint/2010/main" val="3311407071"/>
              </p:ext>
            </p:extLst>
          </p:nvPr>
        </p:nvGraphicFramePr>
        <p:xfrm>
          <a:off x="675743" y="1039144"/>
          <a:ext cx="8950036" cy="2735693"/>
        </p:xfrm>
        <a:graphic>
          <a:graphicData uri="http://schemas.openxmlformats.org/drawingml/2006/table">
            <a:tbl>
              <a:tblPr firstRow="1" bandRow="1">
                <a:tableStyleId>{5C22544A-7EE6-4342-B048-85BDC9FD1C3A}</a:tableStyleId>
              </a:tblPr>
              <a:tblGrid>
                <a:gridCol w="1720678">
                  <a:extLst>
                    <a:ext uri="{9D8B030D-6E8A-4147-A177-3AD203B41FA5}">
                      <a16:colId xmlns:a16="http://schemas.microsoft.com/office/drawing/2014/main" val="3624451303"/>
                    </a:ext>
                  </a:extLst>
                </a:gridCol>
                <a:gridCol w="1488543">
                  <a:extLst>
                    <a:ext uri="{9D8B030D-6E8A-4147-A177-3AD203B41FA5}">
                      <a16:colId xmlns:a16="http://schemas.microsoft.com/office/drawing/2014/main" val="1466428402"/>
                    </a:ext>
                  </a:extLst>
                </a:gridCol>
                <a:gridCol w="1403196">
                  <a:extLst>
                    <a:ext uri="{9D8B030D-6E8A-4147-A177-3AD203B41FA5}">
                      <a16:colId xmlns:a16="http://schemas.microsoft.com/office/drawing/2014/main" val="3321278004"/>
                    </a:ext>
                  </a:extLst>
                </a:gridCol>
                <a:gridCol w="1445873">
                  <a:extLst>
                    <a:ext uri="{9D8B030D-6E8A-4147-A177-3AD203B41FA5}">
                      <a16:colId xmlns:a16="http://schemas.microsoft.com/office/drawing/2014/main" val="3032242765"/>
                    </a:ext>
                  </a:extLst>
                </a:gridCol>
                <a:gridCol w="1445873">
                  <a:extLst>
                    <a:ext uri="{9D8B030D-6E8A-4147-A177-3AD203B41FA5}">
                      <a16:colId xmlns:a16="http://schemas.microsoft.com/office/drawing/2014/main" val="3286087273"/>
                    </a:ext>
                  </a:extLst>
                </a:gridCol>
                <a:gridCol w="1445873">
                  <a:extLst>
                    <a:ext uri="{9D8B030D-6E8A-4147-A177-3AD203B41FA5}">
                      <a16:colId xmlns:a16="http://schemas.microsoft.com/office/drawing/2014/main" val="619701731"/>
                    </a:ext>
                  </a:extLst>
                </a:gridCol>
              </a:tblGrid>
              <a:tr h="234715">
                <a:tc>
                  <a:txBody>
                    <a:bodyPr/>
                    <a:lstStyle/>
                    <a:p>
                      <a:endParaRPr lang="zh-CN" altLang="en-US" sz="1400" dirty="0"/>
                    </a:p>
                  </a:txBody>
                  <a:tcPr/>
                </a:tc>
                <a:tc>
                  <a:txBody>
                    <a:bodyPr/>
                    <a:lstStyle/>
                    <a:p>
                      <a:r>
                        <a:rPr lang="en-US" altLang="zh-CN" sz="1400" dirty="0"/>
                        <a:t>2019</a:t>
                      </a:r>
                      <a:endParaRPr lang="zh-CN" altLang="en-US" sz="1400" dirty="0"/>
                    </a:p>
                  </a:txBody>
                  <a:tcPr/>
                </a:tc>
                <a:tc>
                  <a:txBody>
                    <a:bodyPr/>
                    <a:lstStyle/>
                    <a:p>
                      <a:r>
                        <a:rPr lang="en-US" altLang="zh-CN" sz="1400" dirty="0"/>
                        <a:t>2020</a:t>
                      </a:r>
                      <a:endParaRPr lang="zh-CN" altLang="en-US" sz="1400" dirty="0"/>
                    </a:p>
                  </a:txBody>
                  <a:tcPr/>
                </a:tc>
                <a:tc>
                  <a:txBody>
                    <a:bodyPr/>
                    <a:lstStyle/>
                    <a:p>
                      <a:r>
                        <a:rPr lang="en-US" altLang="zh-CN" sz="1400" dirty="0"/>
                        <a:t>2021</a:t>
                      </a:r>
                      <a:endParaRPr lang="zh-CN" altLang="en-US" sz="1400" dirty="0"/>
                    </a:p>
                  </a:txBody>
                  <a:tcPr/>
                </a:tc>
                <a:tc>
                  <a:txBody>
                    <a:bodyPr/>
                    <a:lstStyle/>
                    <a:p>
                      <a:r>
                        <a:rPr lang="en-US" altLang="zh-CN" sz="1400" dirty="0"/>
                        <a:t>2022</a:t>
                      </a:r>
                      <a:endParaRPr lang="zh-CN" altLang="en-US" sz="1400" dirty="0"/>
                    </a:p>
                  </a:txBody>
                  <a:tcPr/>
                </a:tc>
                <a:tc>
                  <a:txBody>
                    <a:bodyPr/>
                    <a:lstStyle/>
                    <a:p>
                      <a:r>
                        <a:rPr lang="en-US" altLang="zh-CN" sz="1400" dirty="0"/>
                        <a:t>2023</a:t>
                      </a:r>
                      <a:endParaRPr lang="zh-CN" altLang="en-US" sz="1400" dirty="0"/>
                    </a:p>
                  </a:txBody>
                  <a:tcPr/>
                </a:tc>
                <a:extLst>
                  <a:ext uri="{0D108BD9-81ED-4DB2-BD59-A6C34878D82A}">
                    <a16:rowId xmlns:a16="http://schemas.microsoft.com/office/drawing/2014/main" val="2680351324"/>
                  </a:ext>
                </a:extLst>
              </a:tr>
              <a:tr h="267779">
                <a:tc>
                  <a:txBody>
                    <a:bodyPr/>
                    <a:lstStyle/>
                    <a:p>
                      <a:r>
                        <a:rPr lang="zh-CN" altLang="en-US" sz="1400" dirty="0"/>
                        <a:t>净利润</a:t>
                      </a:r>
                    </a:p>
                  </a:txBody>
                  <a:tcPr/>
                </a:tc>
                <a:tc>
                  <a:txBody>
                    <a:bodyPr/>
                    <a:lstStyle/>
                    <a:p>
                      <a:r>
                        <a:rPr lang="en-US" altLang="zh-CN" sz="1400" dirty="0"/>
                        <a:t>439.70</a:t>
                      </a:r>
                      <a:endParaRPr lang="zh-CN" altLang="en-US" sz="1400" dirty="0"/>
                    </a:p>
                  </a:txBody>
                  <a:tcPr/>
                </a:tc>
                <a:tc>
                  <a:txBody>
                    <a:bodyPr/>
                    <a:lstStyle/>
                    <a:p>
                      <a:r>
                        <a:rPr lang="en-US" altLang="zh-CN" sz="1400" dirty="0"/>
                        <a:t>495.23</a:t>
                      </a:r>
                      <a:endParaRPr lang="zh-CN" altLang="en-US" sz="1400" dirty="0"/>
                    </a:p>
                  </a:txBody>
                  <a:tcPr/>
                </a:tc>
                <a:tc>
                  <a:txBody>
                    <a:bodyPr/>
                    <a:lstStyle/>
                    <a:p>
                      <a:r>
                        <a:rPr lang="en-US" altLang="zh-CN" sz="1400" dirty="0"/>
                        <a:t>557.21</a:t>
                      </a:r>
                      <a:endParaRPr lang="zh-CN" altLang="en-US" sz="1400" dirty="0"/>
                    </a:p>
                  </a:txBody>
                  <a:tcPr/>
                </a:tc>
                <a:tc>
                  <a:txBody>
                    <a:bodyPr/>
                    <a:lstStyle/>
                    <a:p>
                      <a:r>
                        <a:rPr lang="en-US" altLang="zh-CN" sz="1400" dirty="0"/>
                        <a:t>653.76</a:t>
                      </a:r>
                      <a:endParaRPr lang="zh-CN" altLang="en-US" sz="1400" dirty="0"/>
                    </a:p>
                  </a:txBody>
                  <a:tcPr/>
                </a:tc>
                <a:tc>
                  <a:txBody>
                    <a:bodyPr/>
                    <a:lstStyle/>
                    <a:p>
                      <a:r>
                        <a:rPr lang="en-US" altLang="zh-CN" sz="1400" dirty="0"/>
                        <a:t>775.21</a:t>
                      </a:r>
                      <a:endParaRPr lang="zh-CN" altLang="en-US" sz="1400" dirty="0"/>
                    </a:p>
                  </a:txBody>
                  <a:tcPr/>
                </a:tc>
                <a:extLst>
                  <a:ext uri="{0D108BD9-81ED-4DB2-BD59-A6C34878D82A}">
                    <a16:rowId xmlns:a16="http://schemas.microsoft.com/office/drawing/2014/main" val="1442596370"/>
                  </a:ext>
                </a:extLst>
              </a:tr>
              <a:tr h="267779">
                <a:tc>
                  <a:txBody>
                    <a:bodyPr/>
                    <a:lstStyle/>
                    <a:p>
                      <a:r>
                        <a:rPr lang="zh-CN" altLang="en-US" sz="1400" dirty="0"/>
                        <a:t>营业收入</a:t>
                      </a:r>
                    </a:p>
                  </a:txBody>
                  <a:tcPr/>
                </a:tc>
                <a:tc>
                  <a:txBody>
                    <a:bodyPr/>
                    <a:lstStyle/>
                    <a:p>
                      <a:r>
                        <a:rPr lang="en-US" altLang="zh-CN" sz="1400" dirty="0"/>
                        <a:t>854.30</a:t>
                      </a:r>
                      <a:endParaRPr lang="zh-CN" altLang="en-US" sz="1400" dirty="0"/>
                    </a:p>
                  </a:txBody>
                  <a:tcPr/>
                </a:tc>
                <a:tc>
                  <a:txBody>
                    <a:bodyPr/>
                    <a:lstStyle/>
                    <a:p>
                      <a:r>
                        <a:rPr lang="en-US" altLang="zh-CN" sz="1400" dirty="0"/>
                        <a:t>949.15</a:t>
                      </a:r>
                      <a:endParaRPr lang="zh-CN" altLang="en-US" sz="1400" dirty="0"/>
                    </a:p>
                  </a:txBody>
                  <a:tcPr/>
                </a:tc>
                <a:tc>
                  <a:txBody>
                    <a:bodyPr/>
                    <a:lstStyle/>
                    <a:p>
                      <a:r>
                        <a:rPr lang="en-US" altLang="zh-CN" sz="1400" dirty="0"/>
                        <a:t>1062</a:t>
                      </a:r>
                      <a:endParaRPr lang="zh-CN" altLang="en-US" sz="1400" dirty="0"/>
                    </a:p>
                  </a:txBody>
                  <a:tcPr/>
                </a:tc>
                <a:tc>
                  <a:txBody>
                    <a:bodyPr/>
                    <a:lstStyle/>
                    <a:p>
                      <a:r>
                        <a:rPr lang="en-US" altLang="zh-CN" sz="1400" dirty="0"/>
                        <a:t>1241</a:t>
                      </a:r>
                      <a:endParaRPr lang="zh-CN" altLang="en-US" sz="1400" dirty="0"/>
                    </a:p>
                  </a:txBody>
                  <a:tcPr/>
                </a:tc>
                <a:tc>
                  <a:txBody>
                    <a:bodyPr/>
                    <a:lstStyle/>
                    <a:p>
                      <a:r>
                        <a:rPr lang="en-US" altLang="zh-CN" sz="1400" dirty="0"/>
                        <a:t>1476.94</a:t>
                      </a:r>
                      <a:endParaRPr lang="zh-CN" altLang="en-US" sz="1400" dirty="0"/>
                    </a:p>
                  </a:txBody>
                  <a:tcPr/>
                </a:tc>
                <a:extLst>
                  <a:ext uri="{0D108BD9-81ED-4DB2-BD59-A6C34878D82A}">
                    <a16:rowId xmlns:a16="http://schemas.microsoft.com/office/drawing/2014/main" val="624209205"/>
                  </a:ext>
                </a:extLst>
              </a:tr>
              <a:tr h="359654">
                <a:tc>
                  <a:txBody>
                    <a:bodyPr/>
                    <a:lstStyle/>
                    <a:p>
                      <a:r>
                        <a:rPr lang="zh-CN" altLang="en-US" sz="1400" dirty="0"/>
                        <a:t>销售净利率</a:t>
                      </a:r>
                    </a:p>
                  </a:txBody>
                  <a:tcPr/>
                </a:tc>
                <a:tc>
                  <a:txBody>
                    <a:bodyPr/>
                    <a:lstStyle/>
                    <a:p>
                      <a:r>
                        <a:rPr lang="en-US" altLang="zh-CN" sz="1400" dirty="0"/>
                        <a:t>0.514</a:t>
                      </a:r>
                      <a:endParaRPr lang="zh-CN" altLang="en-US" sz="1400" dirty="0"/>
                    </a:p>
                  </a:txBody>
                  <a:tcPr/>
                </a:tc>
                <a:tc>
                  <a:txBody>
                    <a:bodyPr/>
                    <a:lstStyle/>
                    <a:p>
                      <a:r>
                        <a:rPr lang="en-US" altLang="zh-CN" sz="1400" dirty="0"/>
                        <a:t>0.521</a:t>
                      </a:r>
                      <a:endParaRPr lang="zh-CN" altLang="en-US" sz="1400" dirty="0"/>
                    </a:p>
                  </a:txBody>
                  <a:tcPr/>
                </a:tc>
                <a:tc>
                  <a:txBody>
                    <a:bodyPr/>
                    <a:lstStyle/>
                    <a:p>
                      <a:r>
                        <a:rPr lang="en-US" altLang="zh-CN" sz="1400" dirty="0"/>
                        <a:t>0.524</a:t>
                      </a:r>
                      <a:endParaRPr lang="zh-CN" altLang="en-US" sz="1400" dirty="0"/>
                    </a:p>
                  </a:txBody>
                  <a:tcPr/>
                </a:tc>
                <a:tc>
                  <a:txBody>
                    <a:bodyPr/>
                    <a:lstStyle/>
                    <a:p>
                      <a:r>
                        <a:rPr lang="en-US" altLang="zh-CN" sz="1400" dirty="0"/>
                        <a:t>0.526</a:t>
                      </a:r>
                      <a:endParaRPr lang="zh-CN" altLang="en-US" sz="1400" dirty="0"/>
                    </a:p>
                  </a:txBody>
                  <a:tcPr/>
                </a:tc>
                <a:tc>
                  <a:txBody>
                    <a:bodyPr/>
                    <a:lstStyle/>
                    <a:p>
                      <a:r>
                        <a:rPr lang="en-US" altLang="zh-CN" sz="1400" dirty="0"/>
                        <a:t>0.525</a:t>
                      </a:r>
                      <a:endParaRPr lang="zh-CN" altLang="en-US" sz="1400" dirty="0"/>
                    </a:p>
                  </a:txBody>
                  <a:tcPr/>
                </a:tc>
                <a:extLst>
                  <a:ext uri="{0D108BD9-81ED-4DB2-BD59-A6C34878D82A}">
                    <a16:rowId xmlns:a16="http://schemas.microsoft.com/office/drawing/2014/main" val="2791505905"/>
                  </a:ext>
                </a:extLst>
              </a:tr>
              <a:tr h="385613">
                <a:tc>
                  <a:txBody>
                    <a:bodyPr/>
                    <a:lstStyle/>
                    <a:p>
                      <a:r>
                        <a:rPr lang="zh-CN" altLang="en-US" sz="1400" dirty="0"/>
                        <a:t>总资产周转率</a:t>
                      </a:r>
                    </a:p>
                  </a:txBody>
                  <a:tcPr/>
                </a:tc>
                <a:tc>
                  <a:txBody>
                    <a:bodyPr/>
                    <a:lstStyle/>
                    <a:p>
                      <a:r>
                        <a:rPr lang="en-US" altLang="zh-CN" sz="1400" dirty="0"/>
                        <a:t>0.48</a:t>
                      </a:r>
                      <a:endParaRPr lang="zh-CN" altLang="en-US" sz="1400" dirty="0"/>
                    </a:p>
                  </a:txBody>
                  <a:tcPr/>
                </a:tc>
                <a:tc>
                  <a:txBody>
                    <a:bodyPr/>
                    <a:lstStyle/>
                    <a:p>
                      <a:r>
                        <a:rPr lang="en-US" altLang="zh-CN" sz="1400" dirty="0"/>
                        <a:t>0.45</a:t>
                      </a:r>
                      <a:endParaRPr lang="zh-CN" altLang="en-US" sz="1400" dirty="0"/>
                    </a:p>
                  </a:txBody>
                  <a:tcPr/>
                </a:tc>
                <a:tc>
                  <a:txBody>
                    <a:bodyPr/>
                    <a:lstStyle/>
                    <a:p>
                      <a:r>
                        <a:rPr lang="en-US" altLang="zh-CN" sz="1400" dirty="0"/>
                        <a:t>0.43</a:t>
                      </a:r>
                      <a:endParaRPr lang="zh-CN" altLang="en-US" sz="1400" dirty="0"/>
                    </a:p>
                  </a:txBody>
                  <a:tcPr/>
                </a:tc>
                <a:tc>
                  <a:txBody>
                    <a:bodyPr/>
                    <a:lstStyle/>
                    <a:p>
                      <a:r>
                        <a:rPr lang="en-US" altLang="zh-CN" sz="1400" dirty="0"/>
                        <a:t>0.50</a:t>
                      </a:r>
                      <a:endParaRPr lang="zh-CN" altLang="en-US" sz="1400" dirty="0"/>
                    </a:p>
                  </a:txBody>
                  <a:tcPr/>
                </a:tc>
                <a:tc>
                  <a:txBody>
                    <a:bodyPr/>
                    <a:lstStyle/>
                    <a:p>
                      <a:r>
                        <a:rPr lang="en-US" altLang="zh-CN" sz="1400" dirty="0"/>
                        <a:t>0.55</a:t>
                      </a:r>
                      <a:endParaRPr lang="zh-CN" altLang="en-US" sz="1400" dirty="0"/>
                    </a:p>
                  </a:txBody>
                  <a:tcPr/>
                </a:tc>
                <a:extLst>
                  <a:ext uri="{0D108BD9-81ED-4DB2-BD59-A6C34878D82A}">
                    <a16:rowId xmlns:a16="http://schemas.microsoft.com/office/drawing/2014/main" val="181289240"/>
                  </a:ext>
                </a:extLst>
              </a:tr>
              <a:tr h="385613">
                <a:tc>
                  <a:txBody>
                    <a:bodyPr/>
                    <a:lstStyle/>
                    <a:p>
                      <a:r>
                        <a:rPr lang="zh-CN" altLang="en-US" sz="1400" dirty="0"/>
                        <a:t>销售收入净额</a:t>
                      </a:r>
                    </a:p>
                  </a:txBody>
                  <a:tcPr/>
                </a:tc>
                <a:tc>
                  <a:txBody>
                    <a:bodyPr/>
                    <a:lstStyle/>
                    <a:p>
                      <a:r>
                        <a:rPr lang="en-US" altLang="zh-CN" sz="1400" dirty="0"/>
                        <a:t>888.54</a:t>
                      </a:r>
                      <a:endParaRPr lang="zh-CN" altLang="en-US" sz="1400" dirty="0"/>
                    </a:p>
                  </a:txBody>
                  <a:tcPr/>
                </a:tc>
                <a:tc>
                  <a:txBody>
                    <a:bodyPr/>
                    <a:lstStyle/>
                    <a:p>
                      <a:r>
                        <a:rPr lang="en-US" altLang="zh-CN" sz="1400" dirty="0"/>
                        <a:t>979.93</a:t>
                      </a:r>
                      <a:endParaRPr lang="zh-CN" altLang="en-US" sz="1400" dirty="0"/>
                    </a:p>
                  </a:txBody>
                  <a:tcPr/>
                </a:tc>
                <a:tc>
                  <a:txBody>
                    <a:bodyPr/>
                    <a:lstStyle/>
                    <a:p>
                      <a:r>
                        <a:rPr lang="en-US" altLang="zh-CN" sz="1400" dirty="0"/>
                        <a:t>1094.64</a:t>
                      </a:r>
                      <a:endParaRPr lang="zh-CN" altLang="en-US" sz="1400" dirty="0"/>
                    </a:p>
                  </a:txBody>
                  <a:tcPr/>
                </a:tc>
                <a:tc>
                  <a:txBody>
                    <a:bodyPr/>
                    <a:lstStyle/>
                    <a:p>
                      <a:r>
                        <a:rPr lang="en-US" altLang="zh-CN" sz="1400" dirty="0"/>
                        <a:t>1275.54</a:t>
                      </a:r>
                      <a:endParaRPr lang="zh-CN" altLang="en-US" sz="1400" dirty="0"/>
                    </a:p>
                  </a:txBody>
                  <a:tcPr/>
                </a:tc>
                <a:tc>
                  <a:txBody>
                    <a:bodyPr/>
                    <a:lstStyle/>
                    <a:p>
                      <a:r>
                        <a:rPr lang="en-US" altLang="zh-CN" sz="1400" dirty="0"/>
                        <a:t>1505.6</a:t>
                      </a:r>
                      <a:endParaRPr lang="zh-CN" altLang="en-US" sz="1400" dirty="0"/>
                    </a:p>
                  </a:txBody>
                  <a:tcPr/>
                </a:tc>
                <a:extLst>
                  <a:ext uri="{0D108BD9-81ED-4DB2-BD59-A6C34878D82A}">
                    <a16:rowId xmlns:a16="http://schemas.microsoft.com/office/drawing/2014/main" val="554592137"/>
                  </a:ext>
                </a:extLst>
              </a:tr>
              <a:tr h="267779">
                <a:tc>
                  <a:txBody>
                    <a:bodyPr/>
                    <a:lstStyle/>
                    <a:p>
                      <a:r>
                        <a:rPr lang="zh-CN" altLang="en-US" sz="1400" dirty="0"/>
                        <a:t>总资产</a:t>
                      </a:r>
                    </a:p>
                  </a:txBody>
                  <a:tcPr/>
                </a:tc>
                <a:tc>
                  <a:txBody>
                    <a:bodyPr/>
                    <a:lstStyle/>
                    <a:p>
                      <a:r>
                        <a:rPr lang="en-US" altLang="zh-CN" sz="1400" dirty="0"/>
                        <a:t>1830.42</a:t>
                      </a:r>
                      <a:endParaRPr lang="zh-CN" altLang="en-US" sz="1400" dirty="0"/>
                    </a:p>
                  </a:txBody>
                  <a:tcPr/>
                </a:tc>
                <a:tc>
                  <a:txBody>
                    <a:bodyPr/>
                    <a:lstStyle/>
                    <a:p>
                      <a:r>
                        <a:rPr lang="en-US" altLang="zh-CN" sz="1400" dirty="0"/>
                        <a:t>2133.96</a:t>
                      </a:r>
                      <a:endParaRPr lang="zh-CN" altLang="en-US" sz="1400" dirty="0"/>
                    </a:p>
                  </a:txBody>
                  <a:tcPr/>
                </a:tc>
                <a:tc>
                  <a:txBody>
                    <a:bodyPr/>
                    <a:lstStyle/>
                    <a:p>
                      <a:r>
                        <a:rPr lang="en-US" altLang="zh-CN" sz="1400" dirty="0"/>
                        <a:t>2551.68</a:t>
                      </a:r>
                      <a:endParaRPr lang="zh-CN" altLang="en-US" sz="1400" dirty="0"/>
                    </a:p>
                  </a:txBody>
                  <a:tcPr/>
                </a:tc>
                <a:tc>
                  <a:txBody>
                    <a:bodyPr/>
                    <a:lstStyle/>
                    <a:p>
                      <a:r>
                        <a:rPr lang="en-US" altLang="zh-CN" sz="1400" dirty="0"/>
                        <a:t>2543.65</a:t>
                      </a:r>
                      <a:endParaRPr lang="zh-CN" altLang="en-US" sz="1400" dirty="0"/>
                    </a:p>
                  </a:txBody>
                  <a:tcPr/>
                </a:tc>
                <a:tc>
                  <a:txBody>
                    <a:bodyPr/>
                    <a:lstStyle/>
                    <a:p>
                      <a:r>
                        <a:rPr lang="en-US" altLang="zh-CN" sz="1400" dirty="0"/>
                        <a:t>2727</a:t>
                      </a:r>
                      <a:endParaRPr lang="zh-CN" altLang="en-US" sz="1400" dirty="0"/>
                    </a:p>
                  </a:txBody>
                  <a:tcPr/>
                </a:tc>
                <a:extLst>
                  <a:ext uri="{0D108BD9-81ED-4DB2-BD59-A6C34878D82A}">
                    <a16:rowId xmlns:a16="http://schemas.microsoft.com/office/drawing/2014/main" val="1453415714"/>
                  </a:ext>
                </a:extLst>
              </a:tr>
              <a:tr h="385613">
                <a:tc>
                  <a:txBody>
                    <a:bodyPr/>
                    <a:lstStyle/>
                    <a:p>
                      <a:r>
                        <a:rPr lang="zh-CN" altLang="en-US" sz="1400" dirty="0"/>
                        <a:t>总资产收益率</a:t>
                      </a:r>
                    </a:p>
                  </a:txBody>
                  <a:tcPr/>
                </a:tc>
                <a:tc>
                  <a:txBody>
                    <a:bodyPr/>
                    <a:lstStyle/>
                    <a:p>
                      <a:r>
                        <a:rPr lang="en-US" altLang="zh-CN" sz="1400" dirty="0"/>
                        <a:t>0.246</a:t>
                      </a:r>
                      <a:endParaRPr lang="zh-CN" altLang="en-US" sz="1400" dirty="0"/>
                    </a:p>
                  </a:txBody>
                  <a:tcPr/>
                </a:tc>
                <a:tc>
                  <a:txBody>
                    <a:bodyPr/>
                    <a:lstStyle/>
                    <a:p>
                      <a:r>
                        <a:rPr lang="en-US" altLang="zh-CN" sz="1400" dirty="0"/>
                        <a:t>0.234</a:t>
                      </a:r>
                      <a:endParaRPr lang="zh-CN" altLang="en-US" sz="1400" dirty="0"/>
                    </a:p>
                  </a:txBody>
                  <a:tcPr/>
                </a:tc>
                <a:tc>
                  <a:txBody>
                    <a:bodyPr/>
                    <a:lstStyle/>
                    <a:p>
                      <a:r>
                        <a:rPr lang="en-US" altLang="zh-CN" sz="1400" dirty="0"/>
                        <a:t>0.226</a:t>
                      </a:r>
                      <a:endParaRPr lang="zh-CN" altLang="en-US" sz="1400" dirty="0"/>
                    </a:p>
                  </a:txBody>
                  <a:tcPr/>
                </a:tc>
                <a:tc>
                  <a:txBody>
                    <a:bodyPr/>
                    <a:lstStyle/>
                    <a:p>
                      <a:r>
                        <a:rPr lang="en-US" altLang="zh-CN" sz="1400" dirty="0"/>
                        <a:t>0.263</a:t>
                      </a:r>
                      <a:endParaRPr lang="zh-CN" altLang="en-US" sz="1400" dirty="0"/>
                    </a:p>
                  </a:txBody>
                  <a:tcPr/>
                </a:tc>
                <a:tc>
                  <a:txBody>
                    <a:bodyPr/>
                    <a:lstStyle/>
                    <a:p>
                      <a:r>
                        <a:rPr lang="en-US" altLang="zh-CN" sz="1400" dirty="0"/>
                        <a:t>0.288</a:t>
                      </a:r>
                      <a:endParaRPr lang="zh-CN" altLang="en-US" sz="1400" dirty="0"/>
                    </a:p>
                  </a:txBody>
                  <a:tcPr/>
                </a:tc>
                <a:extLst>
                  <a:ext uri="{0D108BD9-81ED-4DB2-BD59-A6C34878D82A}">
                    <a16:rowId xmlns:a16="http://schemas.microsoft.com/office/drawing/2014/main" val="4081660383"/>
                  </a:ext>
                </a:extLst>
              </a:tr>
            </a:tbl>
          </a:graphicData>
        </a:graphic>
      </p:graphicFrame>
      <p:sp>
        <p:nvSpPr>
          <p:cNvPr id="5" name="矩形 4">
            <a:extLst>
              <a:ext uri="{FF2B5EF4-FFF2-40B4-BE49-F238E27FC236}">
                <a16:creationId xmlns:a16="http://schemas.microsoft.com/office/drawing/2014/main" id="{EC0B6BDE-641E-B029-D9FA-1C11B0ECAE11}"/>
              </a:ext>
            </a:extLst>
          </p:cNvPr>
          <p:cNvSpPr/>
          <p:nvPr/>
        </p:nvSpPr>
        <p:spPr>
          <a:xfrm>
            <a:off x="314675" y="4037793"/>
            <a:ext cx="10232611" cy="2524825"/>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3C64420B-0AEC-9739-25EE-4E46A70C9C69}"/>
              </a:ext>
            </a:extLst>
          </p:cNvPr>
          <p:cNvSpPr txBox="1"/>
          <p:nvPr/>
        </p:nvSpPr>
        <p:spPr>
          <a:xfrm>
            <a:off x="675743" y="4140708"/>
            <a:ext cx="9510476" cy="2308324"/>
          </a:xfrm>
          <a:prstGeom prst="rect">
            <a:avLst/>
          </a:prstGeom>
          <a:noFill/>
        </p:spPr>
        <p:txBody>
          <a:bodyPr wrap="square" rtlCol="0">
            <a:spAutoFit/>
          </a:bodyPr>
          <a:lstStyle/>
          <a:p>
            <a:r>
              <a:rPr lang="zh-CN" altLang="en-US" dirty="0"/>
              <a:t>我们以</a:t>
            </a:r>
            <a:r>
              <a:rPr lang="en-US" altLang="zh-CN" dirty="0"/>
              <a:t>2022</a:t>
            </a:r>
            <a:r>
              <a:rPr lang="zh-CN" altLang="en-US" dirty="0"/>
              <a:t>年为基准，通过数据我们可以发现，茅台的净利润和营业收入都是逐年增长的，销售净利率处于一个比较稳定的状态，说明其在酒业竞争行列中不会轻易收到影响。总体呈现稳中向上的趋势，它的总资产周转率在</a:t>
            </a:r>
            <a:r>
              <a:rPr lang="en-US" altLang="zh-CN" dirty="0"/>
              <a:t>2022</a:t>
            </a:r>
            <a:r>
              <a:rPr lang="zh-CN" altLang="en-US" dirty="0"/>
              <a:t>年前处于一个不稳定的发展状态，</a:t>
            </a:r>
            <a:r>
              <a:rPr lang="en-US" altLang="zh-CN" dirty="0"/>
              <a:t>2019</a:t>
            </a:r>
            <a:r>
              <a:rPr lang="zh-CN" altLang="en-US" dirty="0"/>
              <a:t>到</a:t>
            </a:r>
            <a:r>
              <a:rPr lang="en-US" altLang="zh-CN" dirty="0"/>
              <a:t>2021</a:t>
            </a:r>
            <a:r>
              <a:rPr lang="zh-CN" altLang="en-US" dirty="0"/>
              <a:t>年处于一个持续下跌的状态，可能由于疫情防控下人们出于安全考虑尽可能的减少接触降低了消费欲望，</a:t>
            </a:r>
            <a:r>
              <a:rPr lang="en-US" altLang="zh-CN" dirty="0"/>
              <a:t>2022</a:t>
            </a:r>
            <a:r>
              <a:rPr lang="zh-CN" altLang="en-US" dirty="0"/>
              <a:t>年后逐渐恢复增长趋势，如今总体是呈现一个向上的发展趋势。</a:t>
            </a:r>
          </a:p>
          <a:p>
            <a:r>
              <a:rPr lang="zh-CN" altLang="en-US" dirty="0"/>
              <a:t>茅台在</a:t>
            </a:r>
            <a:r>
              <a:rPr lang="en-US" altLang="zh-CN" dirty="0"/>
              <a:t>2022</a:t>
            </a:r>
            <a:r>
              <a:rPr lang="zh-CN" altLang="en-US" dirty="0"/>
              <a:t>年之前其实总体是处于一个下跌的趋势，</a:t>
            </a:r>
            <a:r>
              <a:rPr lang="en-US" altLang="zh-CN" dirty="0"/>
              <a:t>2022</a:t>
            </a:r>
            <a:r>
              <a:rPr lang="zh-CN" altLang="en-US" dirty="0"/>
              <a:t>年之后处于一个持续增长状态，疫情结束后刺激了人们消费的欲望，白酒行业的繁荣发展，茅台的互联网运营宣传加大了茅台消费人群的年轻化，从而实现总体向上发展趋势。</a:t>
            </a:r>
          </a:p>
        </p:txBody>
      </p:sp>
    </p:spTree>
    <p:extLst>
      <p:ext uri="{BB962C8B-B14F-4D97-AF65-F5344CB8AC3E}">
        <p14:creationId xmlns:p14="http://schemas.microsoft.com/office/powerpoint/2010/main" val="4025100993"/>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par>
                                <p:cTn id="13" presetID="14"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788E2E9-1BDA-35E5-E462-025464723F18}"/>
              </a:ext>
            </a:extLst>
          </p:cNvPr>
          <p:cNvPicPr>
            <a:picLocks noChangeAspect="1"/>
          </p:cNvPicPr>
          <p:nvPr/>
        </p:nvPicPr>
        <p:blipFill>
          <a:blip r:embed="rId3"/>
          <a:stretch>
            <a:fillRect/>
          </a:stretch>
        </p:blipFill>
        <p:spPr>
          <a:xfrm>
            <a:off x="1476919" y="935390"/>
            <a:ext cx="9240252" cy="5045409"/>
          </a:xfrm>
          <a:prstGeom prst="rect">
            <a:avLst/>
          </a:prstGeom>
        </p:spPr>
      </p:pic>
      <p:sp>
        <p:nvSpPr>
          <p:cNvPr id="19" name="任意多边形: 形状 18">
            <a:extLst>
              <a:ext uri="{FF2B5EF4-FFF2-40B4-BE49-F238E27FC236}">
                <a16:creationId xmlns:a16="http://schemas.microsoft.com/office/drawing/2014/main" id="{4643376D-0D46-4640-9A8F-2F89E457CC6F}"/>
              </a:ext>
            </a:extLst>
          </p:cNvPr>
          <p:cNvSpPr/>
          <p:nvPr/>
        </p:nvSpPr>
        <p:spPr>
          <a:xfrm>
            <a:off x="404353" y="3547242"/>
            <a:ext cx="11787648" cy="2443656"/>
          </a:xfrm>
          <a:custGeom>
            <a:avLst/>
            <a:gdLst>
              <a:gd name="connsiteX0" fmla="*/ 1402300 w 11787648"/>
              <a:gd name="connsiteY0" fmla="*/ 0 h 2443656"/>
              <a:gd name="connsiteX1" fmla="*/ 11787648 w 11787648"/>
              <a:gd name="connsiteY1" fmla="*/ 0 h 2443656"/>
              <a:gd name="connsiteX2" fmla="*/ 11787648 w 11787648"/>
              <a:gd name="connsiteY2" fmla="*/ 2443656 h 2443656"/>
              <a:gd name="connsiteX3" fmla="*/ 0 w 11787648"/>
              <a:gd name="connsiteY3" fmla="*/ 2443656 h 2443656"/>
            </a:gdLst>
            <a:ahLst/>
            <a:cxnLst>
              <a:cxn ang="0">
                <a:pos x="connsiteX0" y="connsiteY0"/>
              </a:cxn>
              <a:cxn ang="0">
                <a:pos x="connsiteX1" y="connsiteY1"/>
              </a:cxn>
              <a:cxn ang="0">
                <a:pos x="connsiteX2" y="connsiteY2"/>
              </a:cxn>
              <a:cxn ang="0">
                <a:pos x="connsiteX3" y="connsiteY3"/>
              </a:cxn>
            </a:cxnLst>
            <a:rect l="l" t="t" r="r" b="b"/>
            <a:pathLst>
              <a:path w="11787648" h="2443656">
                <a:moveTo>
                  <a:pt x="1402300" y="0"/>
                </a:moveTo>
                <a:lnTo>
                  <a:pt x="11787648" y="0"/>
                </a:lnTo>
                <a:lnTo>
                  <a:pt x="11787648" y="2443656"/>
                </a:lnTo>
                <a:lnTo>
                  <a:pt x="0" y="2443656"/>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19089507-A640-4EEA-91FF-104D3FE501CB}"/>
              </a:ext>
            </a:extLst>
          </p:cNvPr>
          <p:cNvSpPr txBox="1"/>
          <p:nvPr/>
        </p:nvSpPr>
        <p:spPr>
          <a:xfrm flipH="1">
            <a:off x="6436225" y="4338183"/>
            <a:ext cx="3184352" cy="584775"/>
          </a:xfrm>
          <a:prstGeom prst="rect">
            <a:avLst/>
          </a:prstGeom>
          <a:noFill/>
        </p:spPr>
        <p:txBody>
          <a:bodyPr wrap="square" rtlCol="0">
            <a:spAutoFit/>
          </a:bodyPr>
          <a:lstStyle/>
          <a:p>
            <a:pPr algn="r"/>
            <a:r>
              <a:rPr lang="zh-CN" altLang="en-US" sz="3200" dirty="0">
                <a:solidFill>
                  <a:srgbClr val="002060"/>
                </a:solidFill>
                <a:cs typeface="+mn-ea"/>
                <a:sym typeface="+mn-lt"/>
              </a:rPr>
              <a:t>长期偿债能力</a:t>
            </a:r>
            <a:endParaRPr lang="en-US" altLang="zh-CN" sz="3200" dirty="0">
              <a:solidFill>
                <a:srgbClr val="002060"/>
              </a:solidFill>
              <a:cs typeface="+mn-ea"/>
              <a:sym typeface="+mn-lt"/>
            </a:endParaRPr>
          </a:p>
        </p:txBody>
      </p:sp>
      <p:grpSp>
        <p:nvGrpSpPr>
          <p:cNvPr id="3" name="组合 2">
            <a:extLst>
              <a:ext uri="{FF2B5EF4-FFF2-40B4-BE49-F238E27FC236}">
                <a16:creationId xmlns:a16="http://schemas.microsoft.com/office/drawing/2014/main" id="{EEE2CC03-6ACA-4429-BD21-92A0298575A7}"/>
              </a:ext>
            </a:extLst>
          </p:cNvPr>
          <p:cNvGrpSpPr/>
          <p:nvPr/>
        </p:nvGrpSpPr>
        <p:grpSpPr>
          <a:xfrm>
            <a:off x="9660675" y="3851070"/>
            <a:ext cx="1836000" cy="1836000"/>
            <a:chOff x="9620578" y="3901966"/>
            <a:chExt cx="1836000" cy="1836000"/>
          </a:xfrm>
        </p:grpSpPr>
        <p:sp>
          <p:nvSpPr>
            <p:cNvPr id="11" name="矩形 10">
              <a:extLst>
                <a:ext uri="{FF2B5EF4-FFF2-40B4-BE49-F238E27FC236}">
                  <a16:creationId xmlns:a16="http://schemas.microsoft.com/office/drawing/2014/main" id="{9468E86E-91DF-40FF-80AC-DCB7260C44CC}"/>
                </a:ext>
              </a:extLst>
            </p:cNvPr>
            <p:cNvSpPr/>
            <p:nvPr/>
          </p:nvSpPr>
          <p:spPr>
            <a:xfrm>
              <a:off x="9620578" y="3901966"/>
              <a:ext cx="1836000" cy="1836000"/>
            </a:xfrm>
            <a:prstGeom prst="rect">
              <a:avLst/>
            </a:prstGeom>
            <a:solidFill>
              <a:srgbClr val="FF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文本框 8">
              <a:extLst>
                <a:ext uri="{FF2B5EF4-FFF2-40B4-BE49-F238E27FC236}">
                  <a16:creationId xmlns:a16="http://schemas.microsoft.com/office/drawing/2014/main" id="{CF1E4694-8B88-4449-8AE9-813B6C40A029}"/>
                </a:ext>
              </a:extLst>
            </p:cNvPr>
            <p:cNvSpPr txBox="1"/>
            <p:nvPr/>
          </p:nvSpPr>
          <p:spPr>
            <a:xfrm>
              <a:off x="10038987" y="4358301"/>
              <a:ext cx="999183" cy="923330"/>
            </a:xfrm>
            <a:prstGeom prst="rect">
              <a:avLst/>
            </a:prstGeom>
            <a:noFill/>
          </p:spPr>
          <p:txBody>
            <a:bodyPr wrap="square" rtlCol="0">
              <a:spAutoFit/>
            </a:bodyPr>
            <a:lstStyle/>
            <a:p>
              <a:pPr algn="ctr"/>
              <a:r>
                <a:rPr lang="en-US" altLang="zh-CN" sz="5400" dirty="0">
                  <a:solidFill>
                    <a:schemeClr val="bg1"/>
                  </a:solidFill>
                  <a:cs typeface="+mn-ea"/>
                  <a:sym typeface="+mn-lt"/>
                </a:rPr>
                <a:t>03</a:t>
              </a:r>
            </a:p>
          </p:txBody>
        </p:sp>
      </p:grpSp>
      <p:sp>
        <p:nvSpPr>
          <p:cNvPr id="2" name="任意多边形: 形状 1">
            <a:extLst>
              <a:ext uri="{FF2B5EF4-FFF2-40B4-BE49-F238E27FC236}">
                <a16:creationId xmlns:a16="http://schemas.microsoft.com/office/drawing/2014/main" id="{0FF3C5F6-36CC-4533-9D6B-70F55C98CF0B}"/>
              </a:ext>
            </a:extLst>
          </p:cNvPr>
          <p:cNvSpPr/>
          <p:nvPr/>
        </p:nvSpPr>
        <p:spPr>
          <a:xfrm rot="10800000" flipH="1" flipV="1">
            <a:off x="-3352068" y="0"/>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4" name="直接连接符 13">
            <a:extLst>
              <a:ext uri="{FF2B5EF4-FFF2-40B4-BE49-F238E27FC236}">
                <a16:creationId xmlns:a16="http://schemas.microsoft.com/office/drawing/2014/main" id="{E56ACB86-6645-4604-8B7A-F2818BD0C4E7}"/>
              </a:ext>
            </a:extLst>
          </p:cNvPr>
          <p:cNvCxnSpPr>
            <a:cxnSpLocks/>
          </p:cNvCxnSpPr>
          <p:nvPr/>
        </p:nvCxnSpPr>
        <p:spPr>
          <a:xfrm flipH="1">
            <a:off x="653211" y="5860509"/>
            <a:ext cx="574850" cy="9974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86D71DB-DCAD-4E60-8891-F20BC4BB6EBD}"/>
              </a:ext>
            </a:extLst>
          </p:cNvPr>
          <p:cNvCxnSpPr>
            <a:cxnSpLocks/>
          </p:cNvCxnSpPr>
          <p:nvPr/>
        </p:nvCxnSpPr>
        <p:spPr>
          <a:xfrm flipH="1">
            <a:off x="761896" y="5670729"/>
            <a:ext cx="466166" cy="80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79E2DEB-179D-43EE-9F31-090241BD6378}"/>
              </a:ext>
            </a:extLst>
          </p:cNvPr>
          <p:cNvCxnSpPr>
            <a:cxnSpLocks/>
          </p:cNvCxnSpPr>
          <p:nvPr/>
        </p:nvCxnSpPr>
        <p:spPr>
          <a:xfrm flipH="1">
            <a:off x="4704111" y="-1"/>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12CE56F-4FC2-4F89-BCAE-72922C853D62}"/>
              </a:ext>
            </a:extLst>
          </p:cNvPr>
          <p:cNvCxnSpPr>
            <a:cxnSpLocks/>
          </p:cNvCxnSpPr>
          <p:nvPr/>
        </p:nvCxnSpPr>
        <p:spPr>
          <a:xfrm flipH="1">
            <a:off x="1739721" y="0"/>
            <a:ext cx="3952233" cy="6858000"/>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sp>
        <p:nvSpPr>
          <p:cNvPr id="13" name="平行四边形 12">
            <a:extLst>
              <a:ext uri="{FF2B5EF4-FFF2-40B4-BE49-F238E27FC236}">
                <a16:creationId xmlns:a16="http://schemas.microsoft.com/office/drawing/2014/main" id="{2CCBB89C-5C40-418B-AC8C-3F7746D1FE26}"/>
              </a:ext>
            </a:extLst>
          </p:cNvPr>
          <p:cNvSpPr/>
          <p:nvPr/>
        </p:nvSpPr>
        <p:spPr>
          <a:xfrm>
            <a:off x="2483992" y="4007617"/>
            <a:ext cx="995991" cy="1402664"/>
          </a:xfrm>
          <a:prstGeom prst="parallelogram">
            <a:avLst>
              <a:gd name="adj" fmla="val 81010"/>
            </a:avLst>
          </a:prstGeom>
          <a:solidFill>
            <a:srgbClr val="FF99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1" name="任意多边形: 形状 20">
            <a:extLst>
              <a:ext uri="{FF2B5EF4-FFF2-40B4-BE49-F238E27FC236}">
                <a16:creationId xmlns:a16="http://schemas.microsoft.com/office/drawing/2014/main" id="{238BC879-81A2-4D7E-B902-82D6633A6280}"/>
              </a:ext>
            </a:extLst>
          </p:cNvPr>
          <p:cNvSpPr/>
          <p:nvPr/>
        </p:nvSpPr>
        <p:spPr>
          <a:xfrm rot="10800000" flipH="1" flipV="1">
            <a:off x="-5703389" y="-958822"/>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BDC61BC7-F7AB-DEA0-4CEA-03559A9ED8CC}"/>
              </a:ext>
            </a:extLst>
          </p:cNvPr>
          <p:cNvSpPr txBox="1"/>
          <p:nvPr/>
        </p:nvSpPr>
        <p:spPr>
          <a:xfrm>
            <a:off x="7676369" y="4859546"/>
            <a:ext cx="2026244" cy="523220"/>
          </a:xfrm>
          <a:prstGeom prst="rect">
            <a:avLst/>
          </a:prstGeom>
          <a:noFill/>
        </p:spPr>
        <p:txBody>
          <a:bodyPr wrap="square" rtlCol="0">
            <a:spAutoFit/>
          </a:bodyPr>
          <a:lstStyle/>
          <a:p>
            <a:r>
              <a:rPr lang="en-US" altLang="zh-CN" sz="1400" dirty="0">
                <a:latin typeface="Segoe UI Web (West European)"/>
              </a:rPr>
              <a:t>Long-term solvency</a:t>
            </a:r>
          </a:p>
          <a:p>
            <a:endParaRPr lang="zh-CN" altLang="en-US" sz="1400" dirty="0">
              <a:solidFill>
                <a:srgbClr val="002060"/>
              </a:solidFill>
              <a:latin typeface="Arial" panose="020B0604020202020204" pitchFamily="34" charset="0"/>
              <a:cs typeface="Arial" panose="020B0604020202020204" pitchFamily="34" charset="0"/>
              <a:sym typeface="+mn-lt"/>
            </a:endParaRPr>
          </a:p>
        </p:txBody>
      </p:sp>
    </p:spTree>
    <p:extLst>
      <p:ext uri="{BB962C8B-B14F-4D97-AF65-F5344CB8AC3E}">
        <p14:creationId xmlns:p14="http://schemas.microsoft.com/office/powerpoint/2010/main" val="3683749474"/>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69000">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14:bounceEnd="69000">
                                          <p:cBhvr additive="base">
                                            <p:cTn id="11" dur="750" fill="hold"/>
                                            <p:tgtEl>
                                              <p:spTgt spid="21"/>
                                            </p:tgtEl>
                                            <p:attrNameLst>
                                              <p:attrName>ppt_x</p:attrName>
                                            </p:attrNameLst>
                                          </p:cBhvr>
                                          <p:tavLst>
                                            <p:tav tm="0">
                                              <p:val>
                                                <p:strVal val="0-#ppt_w/2"/>
                                              </p:val>
                                            </p:tav>
                                            <p:tav tm="100000">
                                              <p:val>
                                                <p:strVal val="#ppt_x"/>
                                              </p:val>
                                            </p:tav>
                                          </p:tavLst>
                                        </p:anim>
                                        <p:anim calcmode="lin" valueType="num" p14:bounceEnd="69000">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75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25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500"/>
                                </p:stCondLst>
                                <p:childTnLst>
                                  <p:par>
                                    <p:cTn id="38" presetID="16" presetClass="entr" presetSubtype="4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outHorizontal)">
                                          <p:cBhvr>
                                            <p:cTn id="40" dur="750"/>
                                            <p:tgtEl>
                                              <p:spTgt spid="13"/>
                                            </p:tgtEl>
                                          </p:cBhvr>
                                        </p:animEffect>
                                      </p:childTnLst>
                                    </p:cTn>
                                  </p:par>
                                  <p:par>
                                    <p:cTn id="41" presetID="2" presetClass="entr" presetSubtype="1" accel="40000" fill="hold" nodeType="withEffect" p14:presetBounceEnd="60000">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14:bounceEnd="60000">
                                          <p:cBhvr additive="base">
                                            <p:cTn id="43" dur="750" fill="hold"/>
                                            <p:tgtEl>
                                              <p:spTgt spid="16"/>
                                            </p:tgtEl>
                                            <p:attrNameLst>
                                              <p:attrName>ppt_x</p:attrName>
                                            </p:attrNameLst>
                                          </p:cBhvr>
                                          <p:tavLst>
                                            <p:tav tm="0">
                                              <p:val>
                                                <p:strVal val="#ppt_x"/>
                                              </p:val>
                                            </p:tav>
                                            <p:tav tm="100000">
                                              <p:val>
                                                <p:strVal val="#ppt_x"/>
                                              </p:val>
                                            </p:tav>
                                          </p:tavLst>
                                        </p:anim>
                                        <p:anim calcmode="lin" valueType="num" p14:bounceEnd="60000">
                                          <p:cBhvr additive="base">
                                            <p:cTn id="44" dur="750" fill="hold"/>
                                            <p:tgtEl>
                                              <p:spTgt spid="16"/>
                                            </p:tgtEl>
                                            <p:attrNameLst>
                                              <p:attrName>ppt_y</p:attrName>
                                            </p:attrNameLst>
                                          </p:cBhvr>
                                          <p:tavLst>
                                            <p:tav tm="0">
                                              <p:val>
                                                <p:strVal val="0-#ppt_h/2"/>
                                              </p:val>
                                            </p:tav>
                                            <p:tav tm="100000">
                                              <p:val>
                                                <p:strVal val="#ppt_y"/>
                                              </p:val>
                                            </p:tav>
                                          </p:tavLst>
                                        </p:anim>
                                      </p:childTnLst>
                                    </p:cTn>
                                  </p:par>
                                  <p:par>
                                    <p:cTn id="45" presetID="2" presetClass="entr" presetSubtype="4" accel="40000" fill="hold" nodeType="withEffect" p14:presetBounceEnd="60000">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14:bounceEnd="60000">
                                          <p:cBhvr additive="base">
                                            <p:cTn id="47" dur="75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48" dur="75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accel="40000" fill="hold" nodeType="withEffect" p14:presetBounceEnd="60000">
                                      <p:stCondLst>
                                        <p:cond delay="500"/>
                                      </p:stCondLst>
                                      <p:childTnLst>
                                        <p:set>
                                          <p:cBhvr>
                                            <p:cTn id="50" dur="1" fill="hold">
                                              <p:stCondLst>
                                                <p:cond delay="0"/>
                                              </p:stCondLst>
                                            </p:cTn>
                                            <p:tgtEl>
                                              <p:spTgt spid="15"/>
                                            </p:tgtEl>
                                            <p:attrNameLst>
                                              <p:attrName>style.visibility</p:attrName>
                                            </p:attrNameLst>
                                          </p:cBhvr>
                                          <p:to>
                                            <p:strVal val="visible"/>
                                          </p:to>
                                        </p:set>
                                        <p:anim calcmode="lin" valueType="num" p14:bounceEnd="60000">
                                          <p:cBhvr additive="base">
                                            <p:cTn id="51" dur="750" fill="hold"/>
                                            <p:tgtEl>
                                              <p:spTgt spid="15"/>
                                            </p:tgtEl>
                                            <p:attrNameLst>
                                              <p:attrName>ppt_x</p:attrName>
                                            </p:attrNameLst>
                                          </p:cBhvr>
                                          <p:tavLst>
                                            <p:tav tm="0">
                                              <p:val>
                                                <p:strVal val="#ppt_x"/>
                                              </p:val>
                                            </p:tav>
                                            <p:tav tm="100000">
                                              <p:val>
                                                <p:strVal val="#ppt_x"/>
                                              </p:val>
                                            </p:tav>
                                          </p:tavLst>
                                        </p:anim>
                                        <p:anim calcmode="lin" valueType="num" p14:bounceEnd="60000">
                                          <p:cBhvr additive="base">
                                            <p:cTn id="52" dur="7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0-#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75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25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500"/>
                                </p:stCondLst>
                                <p:childTnLst>
                                  <p:par>
                                    <p:cTn id="38" presetID="16" presetClass="entr" presetSubtype="4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outHorizontal)">
                                          <p:cBhvr>
                                            <p:cTn id="40" dur="750"/>
                                            <p:tgtEl>
                                              <p:spTgt spid="13"/>
                                            </p:tgtEl>
                                          </p:cBhvr>
                                        </p:animEffect>
                                      </p:childTnLst>
                                    </p:cTn>
                                  </p:par>
                                  <p:par>
                                    <p:cTn id="41" presetID="2" presetClass="entr" presetSubtype="1" accel="4000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750" fill="hold"/>
                                            <p:tgtEl>
                                              <p:spTgt spid="16"/>
                                            </p:tgtEl>
                                            <p:attrNameLst>
                                              <p:attrName>ppt_x</p:attrName>
                                            </p:attrNameLst>
                                          </p:cBhvr>
                                          <p:tavLst>
                                            <p:tav tm="0">
                                              <p:val>
                                                <p:strVal val="#ppt_x"/>
                                              </p:val>
                                            </p:tav>
                                            <p:tav tm="100000">
                                              <p:val>
                                                <p:strVal val="#ppt_x"/>
                                              </p:val>
                                            </p:tav>
                                          </p:tavLst>
                                        </p:anim>
                                        <p:anim calcmode="lin" valueType="num">
                                          <p:cBhvr additive="base">
                                            <p:cTn id="44" dur="750" fill="hold"/>
                                            <p:tgtEl>
                                              <p:spTgt spid="16"/>
                                            </p:tgtEl>
                                            <p:attrNameLst>
                                              <p:attrName>ppt_y</p:attrName>
                                            </p:attrNameLst>
                                          </p:cBhvr>
                                          <p:tavLst>
                                            <p:tav tm="0">
                                              <p:val>
                                                <p:strVal val="0-#ppt_h/2"/>
                                              </p:val>
                                            </p:tav>
                                            <p:tav tm="100000">
                                              <p:val>
                                                <p:strVal val="#ppt_y"/>
                                              </p:val>
                                            </p:tav>
                                          </p:tavLst>
                                        </p:anim>
                                      </p:childTnLst>
                                    </p:cTn>
                                  </p:par>
                                  <p:par>
                                    <p:cTn id="45" presetID="2" presetClass="entr" presetSubtype="4" accel="40000" fill="hold" nodeType="with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750" fill="hold"/>
                                            <p:tgtEl>
                                              <p:spTgt spid="14"/>
                                            </p:tgtEl>
                                            <p:attrNameLst>
                                              <p:attrName>ppt_x</p:attrName>
                                            </p:attrNameLst>
                                          </p:cBhvr>
                                          <p:tavLst>
                                            <p:tav tm="0">
                                              <p:val>
                                                <p:strVal val="#ppt_x"/>
                                              </p:val>
                                            </p:tav>
                                            <p:tav tm="100000">
                                              <p:val>
                                                <p:strVal val="#ppt_x"/>
                                              </p:val>
                                            </p:tav>
                                          </p:tavLst>
                                        </p:anim>
                                        <p:anim calcmode="lin" valueType="num">
                                          <p:cBhvr additive="base">
                                            <p:cTn id="48" dur="75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accel="40000" fill="hold" nodeType="withEffect">
                                      <p:stCondLst>
                                        <p:cond delay="50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750" fill="hold"/>
                                            <p:tgtEl>
                                              <p:spTgt spid="15"/>
                                            </p:tgtEl>
                                            <p:attrNameLst>
                                              <p:attrName>ppt_x</p:attrName>
                                            </p:attrNameLst>
                                          </p:cBhvr>
                                          <p:tavLst>
                                            <p:tav tm="0">
                                              <p:val>
                                                <p:strVal val="#ppt_x"/>
                                              </p:val>
                                            </p:tav>
                                            <p:tav tm="100000">
                                              <p:val>
                                                <p:strVal val="#ppt_x"/>
                                              </p:val>
                                            </p:tav>
                                          </p:tavLst>
                                        </p:anim>
                                        <p:anim calcmode="lin" valueType="num">
                                          <p:cBhvr additive="base">
                                            <p:cTn id="52" dur="7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696EC6D-0D2B-BE33-C2B7-75A84A0EF4A7}"/>
              </a:ext>
            </a:extLst>
          </p:cNvPr>
          <p:cNvSpPr/>
          <p:nvPr/>
        </p:nvSpPr>
        <p:spPr>
          <a:xfrm>
            <a:off x="314003" y="3827167"/>
            <a:ext cx="9938582" cy="2320413"/>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1AA3A2CC-8442-ED9A-717D-1E41CBB32C77}"/>
              </a:ext>
            </a:extLst>
          </p:cNvPr>
          <p:cNvSpPr txBox="1"/>
          <p:nvPr/>
        </p:nvSpPr>
        <p:spPr>
          <a:xfrm>
            <a:off x="375767" y="408968"/>
            <a:ext cx="1979956" cy="307777"/>
          </a:xfrm>
          <a:prstGeom prst="rect">
            <a:avLst/>
          </a:prstGeom>
          <a:noFill/>
        </p:spPr>
        <p:txBody>
          <a:bodyPr wrap="square" rtlCol="0">
            <a:spAutoFit/>
          </a:bodyPr>
          <a:lstStyle/>
          <a:p>
            <a:pPr algn="ctr"/>
            <a:r>
              <a:rPr lang="zh-CN" altLang="en-US" sz="1400" b="1" dirty="0">
                <a:latin typeface="+mn-ea"/>
              </a:rPr>
              <a:t>超现金比率</a:t>
            </a:r>
            <a:endParaRPr lang="zh-CN" altLang="en-US" sz="1400" b="1" dirty="0">
              <a:latin typeface="+mn-ea"/>
              <a:cs typeface="+mn-ea"/>
              <a:sym typeface="+mn-lt"/>
            </a:endParaRP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pic>
        <p:nvPicPr>
          <p:cNvPr id="9" name="图片 8" descr="图片包含 食物, 桌子, 水, 站&#10;&#10;描述已自动生成">
            <a:extLst>
              <a:ext uri="{FF2B5EF4-FFF2-40B4-BE49-F238E27FC236}">
                <a16:creationId xmlns:a16="http://schemas.microsoft.com/office/drawing/2014/main" id="{B59AD303-233D-D89B-9EAA-76A36746E04F}"/>
              </a:ext>
            </a:extLst>
          </p:cNvPr>
          <p:cNvPicPr>
            <a:picLocks noChangeAspect="1"/>
          </p:cNvPicPr>
          <p:nvPr/>
        </p:nvPicPr>
        <p:blipFill rotWithShape="1">
          <a:blip r:embed="rId2">
            <a:extLst>
              <a:ext uri="{28A0092B-C50C-407E-A947-70E740481C1C}">
                <a14:useLocalDpi xmlns:a14="http://schemas.microsoft.com/office/drawing/2010/main" val="0"/>
              </a:ext>
            </a:extLst>
          </a:blip>
          <a:srcRect l="27150" t="2425" r="26042" b="7512"/>
          <a:stretch/>
        </p:blipFill>
        <p:spPr>
          <a:xfrm>
            <a:off x="10694410" y="3490730"/>
            <a:ext cx="1497590" cy="3071888"/>
          </a:xfrm>
          <a:prstGeom prst="rect">
            <a:avLst/>
          </a:prstGeom>
        </p:spPr>
      </p:pic>
      <p:sp>
        <p:nvSpPr>
          <p:cNvPr id="6" name="文本框 5">
            <a:extLst>
              <a:ext uri="{FF2B5EF4-FFF2-40B4-BE49-F238E27FC236}">
                <a16:creationId xmlns:a16="http://schemas.microsoft.com/office/drawing/2014/main" id="{98639768-6B3C-A8EA-0A5B-5C3253E0DCCB}"/>
              </a:ext>
            </a:extLst>
          </p:cNvPr>
          <p:cNvSpPr txBox="1"/>
          <p:nvPr/>
        </p:nvSpPr>
        <p:spPr>
          <a:xfrm>
            <a:off x="455054" y="4110210"/>
            <a:ext cx="9541213" cy="1754326"/>
          </a:xfrm>
          <a:prstGeom prst="rect">
            <a:avLst/>
          </a:prstGeom>
          <a:noFill/>
        </p:spPr>
        <p:txBody>
          <a:bodyPr wrap="square">
            <a:spAutoFit/>
          </a:bodyPr>
          <a:lstStyle/>
          <a:p>
            <a:pPr algn="just"/>
            <a:r>
              <a:rPr lang="zh-CN" altLang="en-US" sz="1800" kern="100" dirty="0">
                <a:effectLst/>
                <a:latin typeface="+mn-ea"/>
                <a:cs typeface="Times New Roman" panose="02020603050405020304" pitchFamily="18" charset="0"/>
              </a:rPr>
              <a:t>从中分析得出，</a:t>
            </a:r>
            <a:r>
              <a:rPr lang="en-US" altLang="zh-CN" sz="1800" kern="100" dirty="0">
                <a:effectLst/>
                <a:latin typeface="+mn-ea"/>
                <a:cs typeface="Times New Roman" panose="02020603050405020304" pitchFamily="18" charset="0"/>
              </a:rPr>
              <a:t>2021</a:t>
            </a:r>
            <a:r>
              <a:rPr lang="zh-CN" altLang="en-US" sz="1800" kern="100" dirty="0">
                <a:effectLst/>
                <a:latin typeface="+mn-ea"/>
                <a:cs typeface="Times New Roman" panose="02020603050405020304" pitchFamily="18" charset="0"/>
              </a:rPr>
              <a:t>在近五年中权益乘数越大，通过调查发现，</a:t>
            </a:r>
            <a:r>
              <a:rPr lang="en-US" altLang="zh-CN" sz="1800" kern="100" dirty="0">
                <a:effectLst/>
                <a:latin typeface="+mn-ea"/>
                <a:cs typeface="Times New Roman" panose="02020603050405020304" pitchFamily="18" charset="0"/>
              </a:rPr>
              <a:t>2021</a:t>
            </a:r>
            <a:r>
              <a:rPr lang="zh-CN" altLang="en-US" sz="1800" kern="100" dirty="0">
                <a:effectLst/>
                <a:latin typeface="+mn-ea"/>
                <a:cs typeface="Times New Roman" panose="02020603050405020304" pitchFamily="18" charset="0"/>
              </a:rPr>
              <a:t>年资产总额，所有者权益总额较上年上升幅度最大，这是导致</a:t>
            </a:r>
            <a:r>
              <a:rPr lang="en-US" altLang="zh-CN" sz="1800" kern="100" dirty="0">
                <a:effectLst/>
                <a:latin typeface="+mn-ea"/>
                <a:cs typeface="Times New Roman" panose="02020603050405020304" pitchFamily="18" charset="0"/>
              </a:rPr>
              <a:t>2021</a:t>
            </a:r>
            <a:r>
              <a:rPr lang="zh-CN" altLang="en-US" sz="1800" kern="100" dirty="0">
                <a:effectLst/>
                <a:latin typeface="+mn-ea"/>
                <a:cs typeface="Times New Roman" panose="02020603050405020304" pitchFamily="18" charset="0"/>
              </a:rPr>
              <a:t>年权益乘数最大的主要原因。</a:t>
            </a:r>
            <a:r>
              <a:rPr lang="en-US" altLang="zh-CN" sz="1800" kern="100" dirty="0">
                <a:effectLst/>
                <a:latin typeface="+mn-ea"/>
                <a:cs typeface="Times New Roman" panose="02020603050405020304" pitchFamily="18" charset="0"/>
              </a:rPr>
              <a:t>2023</a:t>
            </a:r>
            <a:r>
              <a:rPr lang="zh-CN" altLang="en-US" sz="1800" kern="100" dirty="0">
                <a:effectLst/>
                <a:latin typeface="+mn-ea"/>
                <a:cs typeface="Times New Roman" panose="02020603050405020304" pitchFamily="18" charset="0"/>
              </a:rPr>
              <a:t>年最小，因为资产总额和所有者权益总额是近五年最大的。从表中来看，</a:t>
            </a:r>
            <a:r>
              <a:rPr lang="en-US" altLang="zh-CN" sz="1800" kern="100" dirty="0">
                <a:effectLst/>
                <a:latin typeface="+mn-ea"/>
                <a:cs typeface="Times New Roman" panose="02020603050405020304" pitchFamily="18" charset="0"/>
              </a:rPr>
              <a:t>2019—2021</a:t>
            </a:r>
            <a:r>
              <a:rPr lang="zh-CN" altLang="en-US" sz="1800" kern="100" dirty="0">
                <a:effectLst/>
                <a:latin typeface="+mn-ea"/>
                <a:cs typeface="Times New Roman" panose="02020603050405020304" pitchFamily="18" charset="0"/>
              </a:rPr>
              <a:t>年企业的权益乘数整体呈增长的趋势，主要是由于企业所有者权益总额和资产总额呈上升趋势。</a:t>
            </a:r>
            <a:r>
              <a:rPr lang="en-US" altLang="zh-CN" sz="1800" kern="100" dirty="0">
                <a:effectLst/>
                <a:latin typeface="+mn-ea"/>
                <a:cs typeface="Times New Roman" panose="02020603050405020304" pitchFamily="18" charset="0"/>
              </a:rPr>
              <a:t>2021—2023</a:t>
            </a:r>
            <a:r>
              <a:rPr lang="zh-CN" altLang="en-US" sz="1800" kern="100" dirty="0">
                <a:effectLst/>
                <a:latin typeface="+mn-ea"/>
                <a:cs typeface="Times New Roman" panose="02020603050405020304" pitchFamily="18" charset="0"/>
              </a:rPr>
              <a:t>年企业权益乘数呈下降趋势，由于企业资产总额和所有者权益总额整体呈上升趋势，两个数值差额越来越小。</a:t>
            </a:r>
          </a:p>
        </p:txBody>
      </p:sp>
      <p:graphicFrame>
        <p:nvGraphicFramePr>
          <p:cNvPr id="11" name="内容占位符 3">
            <a:extLst>
              <a:ext uri="{FF2B5EF4-FFF2-40B4-BE49-F238E27FC236}">
                <a16:creationId xmlns:a16="http://schemas.microsoft.com/office/drawing/2014/main" id="{4987DB96-87C0-C363-BF13-D108D3051BAA}"/>
              </a:ext>
            </a:extLst>
          </p:cNvPr>
          <p:cNvGraphicFramePr>
            <a:graphicFrameLocks/>
          </p:cNvGraphicFramePr>
          <p:nvPr>
            <p:extLst>
              <p:ext uri="{D42A27DB-BD31-4B8C-83A1-F6EECF244321}">
                <p14:modId xmlns:p14="http://schemas.microsoft.com/office/powerpoint/2010/main" val="2492557884"/>
              </p:ext>
            </p:extLst>
          </p:nvPr>
        </p:nvGraphicFramePr>
        <p:xfrm>
          <a:off x="314004" y="1301186"/>
          <a:ext cx="9682263" cy="1029048"/>
        </p:xfrm>
        <a:graphic>
          <a:graphicData uri="http://schemas.openxmlformats.org/drawingml/2006/table">
            <a:tbl>
              <a:tblPr firstRow="1" bandRow="1">
                <a:tableStyleId>{5C22544A-7EE6-4342-B048-85BDC9FD1C3A}</a:tableStyleId>
              </a:tblPr>
              <a:tblGrid>
                <a:gridCol w="1508883">
                  <a:extLst>
                    <a:ext uri="{9D8B030D-6E8A-4147-A177-3AD203B41FA5}">
                      <a16:colId xmlns:a16="http://schemas.microsoft.com/office/drawing/2014/main" val="1993281200"/>
                    </a:ext>
                  </a:extLst>
                </a:gridCol>
                <a:gridCol w="1634676">
                  <a:extLst>
                    <a:ext uri="{9D8B030D-6E8A-4147-A177-3AD203B41FA5}">
                      <a16:colId xmlns:a16="http://schemas.microsoft.com/office/drawing/2014/main" val="1595191595"/>
                    </a:ext>
                  </a:extLst>
                </a:gridCol>
                <a:gridCol w="1634676">
                  <a:extLst>
                    <a:ext uri="{9D8B030D-6E8A-4147-A177-3AD203B41FA5}">
                      <a16:colId xmlns:a16="http://schemas.microsoft.com/office/drawing/2014/main" val="3156835765"/>
                    </a:ext>
                  </a:extLst>
                </a:gridCol>
                <a:gridCol w="1634676">
                  <a:extLst>
                    <a:ext uri="{9D8B030D-6E8A-4147-A177-3AD203B41FA5}">
                      <a16:colId xmlns:a16="http://schemas.microsoft.com/office/drawing/2014/main" val="737108976"/>
                    </a:ext>
                  </a:extLst>
                </a:gridCol>
                <a:gridCol w="1634676">
                  <a:extLst>
                    <a:ext uri="{9D8B030D-6E8A-4147-A177-3AD203B41FA5}">
                      <a16:colId xmlns:a16="http://schemas.microsoft.com/office/drawing/2014/main" val="3655292577"/>
                    </a:ext>
                  </a:extLst>
                </a:gridCol>
                <a:gridCol w="1634676">
                  <a:extLst>
                    <a:ext uri="{9D8B030D-6E8A-4147-A177-3AD203B41FA5}">
                      <a16:colId xmlns:a16="http://schemas.microsoft.com/office/drawing/2014/main" val="523367301"/>
                    </a:ext>
                  </a:extLst>
                </a:gridCol>
              </a:tblGrid>
              <a:tr h="343016">
                <a:tc>
                  <a:txBody>
                    <a:bodyPr/>
                    <a:lstStyle/>
                    <a:p>
                      <a:r>
                        <a:rPr lang="zh-CN" altLang="en-US" sz="1600" dirty="0"/>
                        <a:t>单位：亿</a:t>
                      </a:r>
                    </a:p>
                  </a:txBody>
                  <a:tcPr/>
                </a:tc>
                <a:tc>
                  <a:txBody>
                    <a:bodyPr/>
                    <a:lstStyle/>
                    <a:p>
                      <a:r>
                        <a:rPr lang="en-US" altLang="zh-CN" sz="1600" dirty="0"/>
                        <a:t>2019</a:t>
                      </a:r>
                      <a:endParaRPr lang="zh-CN" altLang="en-US" sz="1600" dirty="0"/>
                    </a:p>
                  </a:txBody>
                  <a:tcPr/>
                </a:tc>
                <a:tc>
                  <a:txBody>
                    <a:bodyPr/>
                    <a:lstStyle/>
                    <a:p>
                      <a:r>
                        <a:rPr lang="en-US" altLang="zh-CN" sz="1600" dirty="0"/>
                        <a:t>2020</a:t>
                      </a:r>
                      <a:endParaRPr lang="zh-CN" altLang="en-US" sz="1600" dirty="0"/>
                    </a:p>
                  </a:txBody>
                  <a:tcPr/>
                </a:tc>
                <a:tc>
                  <a:txBody>
                    <a:bodyPr/>
                    <a:lstStyle/>
                    <a:p>
                      <a:r>
                        <a:rPr lang="en-US" altLang="zh-CN" sz="1600" dirty="0"/>
                        <a:t>2021</a:t>
                      </a:r>
                      <a:endParaRPr lang="zh-CN" altLang="en-US" sz="1600" dirty="0"/>
                    </a:p>
                  </a:txBody>
                  <a:tcPr/>
                </a:tc>
                <a:tc>
                  <a:txBody>
                    <a:bodyPr/>
                    <a:lstStyle/>
                    <a:p>
                      <a:r>
                        <a:rPr lang="en-US" altLang="zh-CN" sz="1600" dirty="0"/>
                        <a:t>2022</a:t>
                      </a:r>
                      <a:endParaRPr lang="zh-CN" altLang="en-US" sz="1600" dirty="0"/>
                    </a:p>
                  </a:txBody>
                  <a:tcPr/>
                </a:tc>
                <a:tc>
                  <a:txBody>
                    <a:bodyPr/>
                    <a:lstStyle/>
                    <a:p>
                      <a:r>
                        <a:rPr lang="en-US" altLang="zh-CN" sz="1600" dirty="0"/>
                        <a:t>2023</a:t>
                      </a:r>
                      <a:endParaRPr lang="zh-CN" altLang="en-US" sz="1600" dirty="0"/>
                    </a:p>
                  </a:txBody>
                  <a:tcPr/>
                </a:tc>
                <a:extLst>
                  <a:ext uri="{0D108BD9-81ED-4DB2-BD59-A6C34878D82A}">
                    <a16:rowId xmlns:a16="http://schemas.microsoft.com/office/drawing/2014/main" val="2394728819"/>
                  </a:ext>
                </a:extLst>
              </a:tr>
              <a:tr h="343016">
                <a:tc>
                  <a:txBody>
                    <a:bodyPr/>
                    <a:lstStyle/>
                    <a:p>
                      <a:r>
                        <a:rPr lang="zh-CN" altLang="en-US" sz="1600" dirty="0"/>
                        <a:t>资产负债率</a:t>
                      </a:r>
                      <a:r>
                        <a:rPr lang="en-US" altLang="zh-CN" sz="1600" dirty="0"/>
                        <a:t>(%)</a:t>
                      </a:r>
                      <a:endParaRPr lang="zh-CN" altLang="en-US" sz="1600" dirty="0"/>
                    </a:p>
                  </a:txBody>
                  <a:tcPr/>
                </a:tc>
                <a:tc>
                  <a:txBody>
                    <a:bodyPr/>
                    <a:lstStyle/>
                    <a:p>
                      <a:r>
                        <a:rPr lang="en-US" altLang="zh-CN" sz="1600" dirty="0"/>
                        <a:t>22.49</a:t>
                      </a:r>
                      <a:endParaRPr lang="zh-CN" altLang="en-US" sz="1600" dirty="0"/>
                    </a:p>
                  </a:txBody>
                  <a:tcPr/>
                </a:tc>
                <a:tc>
                  <a:txBody>
                    <a:bodyPr/>
                    <a:lstStyle/>
                    <a:p>
                      <a:r>
                        <a:rPr lang="en-US" altLang="zh-CN" sz="1600" dirty="0"/>
                        <a:t>21.40</a:t>
                      </a:r>
                      <a:endParaRPr lang="zh-CN" altLang="en-US" sz="1600" dirty="0"/>
                    </a:p>
                  </a:txBody>
                  <a:tcPr/>
                </a:tc>
                <a:tc>
                  <a:txBody>
                    <a:bodyPr/>
                    <a:lstStyle/>
                    <a:p>
                      <a:r>
                        <a:rPr lang="en-US" altLang="zh-CN" sz="1600" dirty="0"/>
                        <a:t>22.92</a:t>
                      </a:r>
                      <a:endParaRPr lang="zh-CN" altLang="en-US" sz="1600" dirty="0"/>
                    </a:p>
                  </a:txBody>
                  <a:tcPr/>
                </a:tc>
                <a:tc>
                  <a:txBody>
                    <a:bodyPr/>
                    <a:lstStyle/>
                    <a:p>
                      <a:r>
                        <a:rPr lang="en-US" altLang="zh-CN" sz="1600" dirty="0"/>
                        <a:t>19.42</a:t>
                      </a:r>
                      <a:endParaRPr lang="zh-CN" altLang="en-US" sz="1600" dirty="0"/>
                    </a:p>
                  </a:txBody>
                  <a:tcPr/>
                </a:tc>
                <a:tc>
                  <a:txBody>
                    <a:bodyPr/>
                    <a:lstStyle/>
                    <a:p>
                      <a:r>
                        <a:rPr lang="en-US" altLang="zh-CN" sz="1600" dirty="0"/>
                        <a:t>17.98</a:t>
                      </a:r>
                      <a:endParaRPr lang="zh-CN" altLang="en-US" sz="1600" dirty="0"/>
                    </a:p>
                  </a:txBody>
                  <a:tcPr/>
                </a:tc>
                <a:extLst>
                  <a:ext uri="{0D108BD9-81ED-4DB2-BD59-A6C34878D82A}">
                    <a16:rowId xmlns:a16="http://schemas.microsoft.com/office/drawing/2014/main" val="3397592477"/>
                  </a:ext>
                </a:extLst>
              </a:tr>
              <a:tr h="343016">
                <a:tc>
                  <a:txBody>
                    <a:bodyPr/>
                    <a:lstStyle/>
                    <a:p>
                      <a:r>
                        <a:rPr lang="zh-CN" altLang="en-US" sz="1600" dirty="0"/>
                        <a:t>权益乘数</a:t>
                      </a:r>
                    </a:p>
                  </a:txBody>
                  <a:tcPr/>
                </a:tc>
                <a:tc>
                  <a:txBody>
                    <a:bodyPr/>
                    <a:lstStyle/>
                    <a:p>
                      <a:r>
                        <a:rPr lang="en-US" altLang="zh-CN" sz="1600" dirty="0"/>
                        <a:t>1.29</a:t>
                      </a:r>
                      <a:endParaRPr lang="zh-CN" altLang="en-US" sz="1600" dirty="0"/>
                    </a:p>
                  </a:txBody>
                  <a:tcPr/>
                </a:tc>
                <a:tc>
                  <a:txBody>
                    <a:bodyPr/>
                    <a:lstStyle/>
                    <a:p>
                      <a:r>
                        <a:rPr lang="en-US" altLang="zh-CN" sz="1600" dirty="0"/>
                        <a:t>1.27</a:t>
                      </a:r>
                      <a:endParaRPr lang="zh-CN" altLang="en-US" sz="1600" dirty="0"/>
                    </a:p>
                  </a:txBody>
                  <a:tcPr/>
                </a:tc>
                <a:tc>
                  <a:txBody>
                    <a:bodyPr/>
                    <a:lstStyle/>
                    <a:p>
                      <a:r>
                        <a:rPr lang="en-US" altLang="zh-CN" sz="1600" dirty="0"/>
                        <a:t>1.30</a:t>
                      </a:r>
                      <a:endParaRPr lang="zh-CN" altLang="en-US" sz="1600" dirty="0"/>
                    </a:p>
                  </a:txBody>
                  <a:tcPr/>
                </a:tc>
                <a:tc>
                  <a:txBody>
                    <a:bodyPr/>
                    <a:lstStyle/>
                    <a:p>
                      <a:r>
                        <a:rPr lang="en-US" altLang="zh-CN" sz="1600" dirty="0"/>
                        <a:t>1.24</a:t>
                      </a:r>
                      <a:endParaRPr lang="zh-CN" altLang="en-US" sz="1600" dirty="0"/>
                    </a:p>
                  </a:txBody>
                  <a:tcPr/>
                </a:tc>
                <a:tc>
                  <a:txBody>
                    <a:bodyPr/>
                    <a:lstStyle/>
                    <a:p>
                      <a:r>
                        <a:rPr lang="en-US" altLang="zh-CN" sz="1600" dirty="0"/>
                        <a:t>1.22</a:t>
                      </a:r>
                      <a:endParaRPr lang="zh-CN" altLang="en-US" sz="1600" dirty="0"/>
                    </a:p>
                  </a:txBody>
                  <a:tcPr/>
                </a:tc>
                <a:extLst>
                  <a:ext uri="{0D108BD9-81ED-4DB2-BD59-A6C34878D82A}">
                    <a16:rowId xmlns:a16="http://schemas.microsoft.com/office/drawing/2014/main" val="1496262240"/>
                  </a:ext>
                </a:extLst>
              </a:tr>
            </a:tbl>
          </a:graphicData>
        </a:graphic>
      </p:graphicFrame>
      <p:graphicFrame>
        <p:nvGraphicFramePr>
          <p:cNvPr id="12" name="表格 11">
            <a:extLst>
              <a:ext uri="{FF2B5EF4-FFF2-40B4-BE49-F238E27FC236}">
                <a16:creationId xmlns:a16="http://schemas.microsoft.com/office/drawing/2014/main" id="{FF0FD39A-C345-545A-87BB-AE1D37FDDBC5}"/>
              </a:ext>
            </a:extLst>
          </p:cNvPr>
          <p:cNvGraphicFramePr>
            <a:graphicFrameLocks noGrp="1"/>
          </p:cNvGraphicFramePr>
          <p:nvPr>
            <p:extLst>
              <p:ext uri="{D42A27DB-BD31-4B8C-83A1-F6EECF244321}">
                <p14:modId xmlns:p14="http://schemas.microsoft.com/office/powerpoint/2010/main" val="3129193936"/>
              </p:ext>
            </p:extLst>
          </p:nvPr>
        </p:nvGraphicFramePr>
        <p:xfrm>
          <a:off x="322005" y="2462094"/>
          <a:ext cx="9800067" cy="935070"/>
        </p:xfrm>
        <a:graphic>
          <a:graphicData uri="http://schemas.openxmlformats.org/drawingml/2006/table">
            <a:tbl>
              <a:tblPr firstRow="1" bandRow="1">
                <a:tableStyleId>{5C22544A-7EE6-4342-B048-85BDC9FD1C3A}</a:tableStyleId>
              </a:tblPr>
              <a:tblGrid>
                <a:gridCol w="1626687">
                  <a:extLst>
                    <a:ext uri="{9D8B030D-6E8A-4147-A177-3AD203B41FA5}">
                      <a16:colId xmlns:a16="http://schemas.microsoft.com/office/drawing/2014/main" val="3842115582"/>
                    </a:ext>
                  </a:extLst>
                </a:gridCol>
                <a:gridCol w="1634676">
                  <a:extLst>
                    <a:ext uri="{9D8B030D-6E8A-4147-A177-3AD203B41FA5}">
                      <a16:colId xmlns:a16="http://schemas.microsoft.com/office/drawing/2014/main" val="2920387568"/>
                    </a:ext>
                  </a:extLst>
                </a:gridCol>
                <a:gridCol w="1634676">
                  <a:extLst>
                    <a:ext uri="{9D8B030D-6E8A-4147-A177-3AD203B41FA5}">
                      <a16:colId xmlns:a16="http://schemas.microsoft.com/office/drawing/2014/main" val="1441804674"/>
                    </a:ext>
                  </a:extLst>
                </a:gridCol>
                <a:gridCol w="1634676">
                  <a:extLst>
                    <a:ext uri="{9D8B030D-6E8A-4147-A177-3AD203B41FA5}">
                      <a16:colId xmlns:a16="http://schemas.microsoft.com/office/drawing/2014/main" val="746049078"/>
                    </a:ext>
                  </a:extLst>
                </a:gridCol>
                <a:gridCol w="1634676">
                  <a:extLst>
                    <a:ext uri="{9D8B030D-6E8A-4147-A177-3AD203B41FA5}">
                      <a16:colId xmlns:a16="http://schemas.microsoft.com/office/drawing/2014/main" val="821788654"/>
                    </a:ext>
                  </a:extLst>
                </a:gridCol>
                <a:gridCol w="1634676">
                  <a:extLst>
                    <a:ext uri="{9D8B030D-6E8A-4147-A177-3AD203B41FA5}">
                      <a16:colId xmlns:a16="http://schemas.microsoft.com/office/drawing/2014/main" val="1762316443"/>
                    </a:ext>
                  </a:extLst>
                </a:gridCol>
              </a:tblGrid>
              <a:tr h="343016">
                <a:tc>
                  <a:txBody>
                    <a:bodyPr/>
                    <a:lstStyle/>
                    <a:p>
                      <a:r>
                        <a:rPr lang="zh-CN" altLang="en-US" sz="1600" dirty="0"/>
                        <a:t>资产总额</a:t>
                      </a:r>
                    </a:p>
                  </a:txBody>
                  <a:tcPr/>
                </a:tc>
                <a:tc>
                  <a:txBody>
                    <a:bodyPr/>
                    <a:lstStyle/>
                    <a:p>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1830.42</a:t>
                      </a:r>
                      <a:endParaRPr lang="zh-CN" altLang="en-US" sz="1600" dirty="0"/>
                    </a:p>
                  </a:txBody>
                  <a:tcPr/>
                </a:tc>
                <a:tc>
                  <a:txBody>
                    <a:bodyPr/>
                    <a:lstStyle/>
                    <a:p>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2133.96</a:t>
                      </a:r>
                      <a:endParaRPr lang="zh-CN" altLang="en-US" sz="1600" dirty="0"/>
                    </a:p>
                  </a:txBody>
                  <a:tcPr/>
                </a:tc>
                <a:tc>
                  <a:txBody>
                    <a:bodyPr/>
                    <a:lstStyle/>
                    <a:p>
                      <a:r>
                        <a:rPr lang="en-US" altLang="zh-CN" sz="1600" dirty="0"/>
                        <a:t>2551.68</a:t>
                      </a:r>
                      <a:endParaRPr lang="zh-CN" altLang="en-US" sz="1600" dirty="0"/>
                    </a:p>
                  </a:txBody>
                  <a:tcPr/>
                </a:tc>
                <a:tc>
                  <a:txBody>
                    <a:bodyPr/>
                    <a:lstStyle/>
                    <a:p>
                      <a:r>
                        <a:rPr lang="en-US" altLang="zh-CN" sz="1600" b="1" kern="1200" dirty="0">
                          <a:solidFill>
                            <a:schemeClr val="lt1"/>
                          </a:solidFill>
                          <a:effectLst/>
                          <a:latin typeface="+mn-lt"/>
                          <a:ea typeface="+mn-ea"/>
                          <a:cs typeface="+mn-cs"/>
                        </a:rPr>
                        <a:t>2545.01</a:t>
                      </a:r>
                      <a:endParaRPr lang="zh-CN" altLang="en-US" sz="1600" dirty="0"/>
                    </a:p>
                  </a:txBody>
                  <a:tcPr/>
                </a:tc>
                <a:tc>
                  <a:txBody>
                    <a:bodyPr/>
                    <a:lstStyle/>
                    <a:p>
                      <a:r>
                        <a:rPr lang="en-US" altLang="zh-CN" sz="1600" b="1" kern="1200" dirty="0">
                          <a:solidFill>
                            <a:schemeClr val="lt1"/>
                          </a:solidFill>
                          <a:effectLst/>
                          <a:latin typeface="+mn-lt"/>
                          <a:ea typeface="+mn-ea"/>
                          <a:cs typeface="+mn-cs"/>
                        </a:rPr>
                        <a:t>2727.00</a:t>
                      </a:r>
                      <a:endParaRPr lang="zh-CN" altLang="en-US" sz="1600" dirty="0"/>
                    </a:p>
                  </a:txBody>
                  <a:tcPr/>
                </a:tc>
                <a:extLst>
                  <a:ext uri="{0D108BD9-81ED-4DB2-BD59-A6C34878D82A}">
                    <a16:rowId xmlns:a16="http://schemas.microsoft.com/office/drawing/2014/main" val="2527568904"/>
                  </a:ext>
                </a:extLst>
              </a:tr>
              <a:tr h="592054">
                <a:tc>
                  <a:txBody>
                    <a:bodyPr/>
                    <a:lstStyle/>
                    <a:p>
                      <a:r>
                        <a:rPr lang="zh-CN" altLang="en-US" sz="1600" dirty="0"/>
                        <a:t>所有者权益总额</a:t>
                      </a:r>
                    </a:p>
                  </a:txBody>
                  <a:tcPr/>
                </a:tc>
                <a:tc>
                  <a:txBody>
                    <a:bodyPr/>
                    <a:lstStyle/>
                    <a:p>
                      <a:r>
                        <a:rPr lang="en-US" altLang="zh-CN" sz="1600" kern="1200" dirty="0">
                          <a:solidFill>
                            <a:schemeClr val="dk1"/>
                          </a:solidFill>
                          <a:effectLst/>
                          <a:latin typeface="+mn-lt"/>
                          <a:ea typeface="+mn-ea"/>
                          <a:cs typeface="+mn-cs"/>
                        </a:rPr>
                        <a:t>1418.76</a:t>
                      </a:r>
                      <a:endParaRPr lang="zh-CN" altLang="en-US" sz="1600" dirty="0"/>
                    </a:p>
                  </a:txBody>
                  <a:tcPr/>
                </a:tc>
                <a:tc>
                  <a:txBody>
                    <a:bodyPr/>
                    <a:lstStyle/>
                    <a:p>
                      <a:r>
                        <a:rPr lang="en-US" altLang="zh-CN" sz="1600" dirty="0"/>
                        <a:t>1677.21</a:t>
                      </a:r>
                      <a:endParaRPr lang="zh-CN" altLang="en-US" sz="1600" dirty="0"/>
                    </a:p>
                  </a:txBody>
                  <a:tcPr/>
                </a:tc>
                <a:tc>
                  <a:txBody>
                    <a:bodyPr/>
                    <a:lstStyle/>
                    <a:p>
                      <a:r>
                        <a:rPr lang="en-US" altLang="zh-CN" sz="1600" dirty="0"/>
                        <a:t>1969.58</a:t>
                      </a:r>
                      <a:endParaRPr lang="zh-CN" altLang="en-US" sz="1600" dirty="0"/>
                    </a:p>
                  </a:txBody>
                  <a:tcPr/>
                </a:tc>
                <a:tc>
                  <a:txBody>
                    <a:bodyPr/>
                    <a:lstStyle/>
                    <a:p>
                      <a:r>
                        <a:rPr lang="en-US" altLang="zh-CN" sz="1600" dirty="0"/>
                        <a:t>2049.38</a:t>
                      </a:r>
                      <a:endParaRPr lang="zh-CN" altLang="en-US" sz="1600" dirty="0"/>
                    </a:p>
                  </a:txBody>
                  <a:tcPr/>
                </a:tc>
                <a:tc>
                  <a:txBody>
                    <a:bodyPr/>
                    <a:lstStyle/>
                    <a:p>
                      <a:r>
                        <a:rPr lang="en-US" altLang="zh-CN" sz="1600" dirty="0"/>
                        <a:t>2236.56</a:t>
                      </a:r>
                      <a:endParaRPr lang="zh-CN" altLang="en-US" sz="1600" dirty="0"/>
                    </a:p>
                  </a:txBody>
                  <a:tcPr/>
                </a:tc>
                <a:extLst>
                  <a:ext uri="{0D108BD9-81ED-4DB2-BD59-A6C34878D82A}">
                    <a16:rowId xmlns:a16="http://schemas.microsoft.com/office/drawing/2014/main" val="830185937"/>
                  </a:ext>
                </a:extLst>
              </a:tr>
            </a:tbl>
          </a:graphicData>
        </a:graphic>
      </p:graphicFrame>
    </p:spTree>
    <p:extLst>
      <p:ext uri="{BB962C8B-B14F-4D97-AF65-F5344CB8AC3E}">
        <p14:creationId xmlns:p14="http://schemas.microsoft.com/office/powerpoint/2010/main" val="4045186289"/>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par>
                                <p:cTn id="13" presetID="14"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788E2E9-1BDA-35E5-E462-025464723F18}"/>
              </a:ext>
            </a:extLst>
          </p:cNvPr>
          <p:cNvPicPr>
            <a:picLocks noChangeAspect="1"/>
          </p:cNvPicPr>
          <p:nvPr/>
        </p:nvPicPr>
        <p:blipFill>
          <a:blip r:embed="rId3"/>
          <a:stretch>
            <a:fillRect/>
          </a:stretch>
        </p:blipFill>
        <p:spPr>
          <a:xfrm>
            <a:off x="1476919" y="935390"/>
            <a:ext cx="9240252" cy="5045409"/>
          </a:xfrm>
          <a:prstGeom prst="rect">
            <a:avLst/>
          </a:prstGeom>
        </p:spPr>
      </p:pic>
      <p:sp>
        <p:nvSpPr>
          <p:cNvPr id="19" name="任意多边形: 形状 18">
            <a:extLst>
              <a:ext uri="{FF2B5EF4-FFF2-40B4-BE49-F238E27FC236}">
                <a16:creationId xmlns:a16="http://schemas.microsoft.com/office/drawing/2014/main" id="{4643376D-0D46-4640-9A8F-2F89E457CC6F}"/>
              </a:ext>
            </a:extLst>
          </p:cNvPr>
          <p:cNvSpPr/>
          <p:nvPr/>
        </p:nvSpPr>
        <p:spPr>
          <a:xfrm>
            <a:off x="404353" y="3547242"/>
            <a:ext cx="11787648" cy="2443656"/>
          </a:xfrm>
          <a:custGeom>
            <a:avLst/>
            <a:gdLst>
              <a:gd name="connsiteX0" fmla="*/ 1402300 w 11787648"/>
              <a:gd name="connsiteY0" fmla="*/ 0 h 2443656"/>
              <a:gd name="connsiteX1" fmla="*/ 11787648 w 11787648"/>
              <a:gd name="connsiteY1" fmla="*/ 0 h 2443656"/>
              <a:gd name="connsiteX2" fmla="*/ 11787648 w 11787648"/>
              <a:gd name="connsiteY2" fmla="*/ 2443656 h 2443656"/>
              <a:gd name="connsiteX3" fmla="*/ 0 w 11787648"/>
              <a:gd name="connsiteY3" fmla="*/ 2443656 h 2443656"/>
            </a:gdLst>
            <a:ahLst/>
            <a:cxnLst>
              <a:cxn ang="0">
                <a:pos x="connsiteX0" y="connsiteY0"/>
              </a:cxn>
              <a:cxn ang="0">
                <a:pos x="connsiteX1" y="connsiteY1"/>
              </a:cxn>
              <a:cxn ang="0">
                <a:pos x="connsiteX2" y="connsiteY2"/>
              </a:cxn>
              <a:cxn ang="0">
                <a:pos x="connsiteX3" y="connsiteY3"/>
              </a:cxn>
            </a:cxnLst>
            <a:rect l="l" t="t" r="r" b="b"/>
            <a:pathLst>
              <a:path w="11787648" h="2443656">
                <a:moveTo>
                  <a:pt x="1402300" y="0"/>
                </a:moveTo>
                <a:lnTo>
                  <a:pt x="11787648" y="0"/>
                </a:lnTo>
                <a:lnTo>
                  <a:pt x="11787648" y="2443656"/>
                </a:lnTo>
                <a:lnTo>
                  <a:pt x="0" y="2443656"/>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19089507-A640-4EEA-91FF-104D3FE501CB}"/>
              </a:ext>
            </a:extLst>
          </p:cNvPr>
          <p:cNvSpPr txBox="1"/>
          <p:nvPr/>
        </p:nvSpPr>
        <p:spPr>
          <a:xfrm flipH="1">
            <a:off x="6436225" y="4338183"/>
            <a:ext cx="3184352" cy="584775"/>
          </a:xfrm>
          <a:prstGeom prst="rect">
            <a:avLst/>
          </a:prstGeom>
          <a:noFill/>
        </p:spPr>
        <p:txBody>
          <a:bodyPr wrap="square" rtlCol="0">
            <a:spAutoFit/>
          </a:bodyPr>
          <a:lstStyle/>
          <a:p>
            <a:pPr algn="r"/>
            <a:r>
              <a:rPr lang="zh-CN" altLang="en-US" sz="3200" dirty="0">
                <a:solidFill>
                  <a:srgbClr val="002060"/>
                </a:solidFill>
                <a:cs typeface="+mn-ea"/>
                <a:sym typeface="+mn-lt"/>
              </a:rPr>
              <a:t>资产结构</a:t>
            </a:r>
          </a:p>
        </p:txBody>
      </p:sp>
      <p:grpSp>
        <p:nvGrpSpPr>
          <p:cNvPr id="3" name="组合 2">
            <a:extLst>
              <a:ext uri="{FF2B5EF4-FFF2-40B4-BE49-F238E27FC236}">
                <a16:creationId xmlns:a16="http://schemas.microsoft.com/office/drawing/2014/main" id="{EEE2CC03-6ACA-4429-BD21-92A0298575A7}"/>
              </a:ext>
            </a:extLst>
          </p:cNvPr>
          <p:cNvGrpSpPr/>
          <p:nvPr/>
        </p:nvGrpSpPr>
        <p:grpSpPr>
          <a:xfrm>
            <a:off x="9660675" y="3851070"/>
            <a:ext cx="1836000" cy="1836000"/>
            <a:chOff x="9620578" y="3901966"/>
            <a:chExt cx="1836000" cy="1836000"/>
          </a:xfrm>
        </p:grpSpPr>
        <p:sp>
          <p:nvSpPr>
            <p:cNvPr id="11" name="矩形 10">
              <a:extLst>
                <a:ext uri="{FF2B5EF4-FFF2-40B4-BE49-F238E27FC236}">
                  <a16:creationId xmlns:a16="http://schemas.microsoft.com/office/drawing/2014/main" id="{9468E86E-91DF-40FF-80AC-DCB7260C44CC}"/>
                </a:ext>
              </a:extLst>
            </p:cNvPr>
            <p:cNvSpPr/>
            <p:nvPr/>
          </p:nvSpPr>
          <p:spPr>
            <a:xfrm>
              <a:off x="9620578" y="3901966"/>
              <a:ext cx="1836000" cy="1836000"/>
            </a:xfrm>
            <a:prstGeom prst="rect">
              <a:avLst/>
            </a:prstGeom>
            <a:solidFill>
              <a:srgbClr val="FF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文本框 8">
              <a:extLst>
                <a:ext uri="{FF2B5EF4-FFF2-40B4-BE49-F238E27FC236}">
                  <a16:creationId xmlns:a16="http://schemas.microsoft.com/office/drawing/2014/main" id="{CF1E4694-8B88-4449-8AE9-813B6C40A029}"/>
                </a:ext>
              </a:extLst>
            </p:cNvPr>
            <p:cNvSpPr txBox="1"/>
            <p:nvPr/>
          </p:nvSpPr>
          <p:spPr>
            <a:xfrm>
              <a:off x="10038987" y="4358301"/>
              <a:ext cx="999183" cy="923330"/>
            </a:xfrm>
            <a:prstGeom prst="rect">
              <a:avLst/>
            </a:prstGeom>
            <a:noFill/>
          </p:spPr>
          <p:txBody>
            <a:bodyPr wrap="square" rtlCol="0">
              <a:spAutoFit/>
            </a:bodyPr>
            <a:lstStyle/>
            <a:p>
              <a:pPr algn="ctr"/>
              <a:r>
                <a:rPr lang="en-US" altLang="zh-CN" sz="5400" dirty="0">
                  <a:solidFill>
                    <a:schemeClr val="bg1"/>
                  </a:solidFill>
                  <a:cs typeface="+mn-ea"/>
                  <a:sym typeface="+mn-lt"/>
                </a:rPr>
                <a:t>04</a:t>
              </a:r>
            </a:p>
          </p:txBody>
        </p:sp>
      </p:grpSp>
      <p:sp>
        <p:nvSpPr>
          <p:cNvPr id="2" name="任意多边形: 形状 1">
            <a:extLst>
              <a:ext uri="{FF2B5EF4-FFF2-40B4-BE49-F238E27FC236}">
                <a16:creationId xmlns:a16="http://schemas.microsoft.com/office/drawing/2014/main" id="{0FF3C5F6-36CC-4533-9D6B-70F55C98CF0B}"/>
              </a:ext>
            </a:extLst>
          </p:cNvPr>
          <p:cNvSpPr/>
          <p:nvPr/>
        </p:nvSpPr>
        <p:spPr>
          <a:xfrm rot="10800000" flipH="1" flipV="1">
            <a:off x="-3352068" y="0"/>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4" name="直接连接符 13">
            <a:extLst>
              <a:ext uri="{FF2B5EF4-FFF2-40B4-BE49-F238E27FC236}">
                <a16:creationId xmlns:a16="http://schemas.microsoft.com/office/drawing/2014/main" id="{E56ACB86-6645-4604-8B7A-F2818BD0C4E7}"/>
              </a:ext>
            </a:extLst>
          </p:cNvPr>
          <p:cNvCxnSpPr>
            <a:cxnSpLocks/>
          </p:cNvCxnSpPr>
          <p:nvPr/>
        </p:nvCxnSpPr>
        <p:spPr>
          <a:xfrm flipH="1">
            <a:off x="653211" y="5860509"/>
            <a:ext cx="574850" cy="9974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86D71DB-DCAD-4E60-8891-F20BC4BB6EBD}"/>
              </a:ext>
            </a:extLst>
          </p:cNvPr>
          <p:cNvCxnSpPr>
            <a:cxnSpLocks/>
          </p:cNvCxnSpPr>
          <p:nvPr/>
        </p:nvCxnSpPr>
        <p:spPr>
          <a:xfrm flipH="1">
            <a:off x="761896" y="5670729"/>
            <a:ext cx="466166" cy="80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79E2DEB-179D-43EE-9F31-090241BD6378}"/>
              </a:ext>
            </a:extLst>
          </p:cNvPr>
          <p:cNvCxnSpPr>
            <a:cxnSpLocks/>
          </p:cNvCxnSpPr>
          <p:nvPr/>
        </p:nvCxnSpPr>
        <p:spPr>
          <a:xfrm flipH="1">
            <a:off x="4704111" y="-1"/>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12CE56F-4FC2-4F89-BCAE-72922C853D62}"/>
              </a:ext>
            </a:extLst>
          </p:cNvPr>
          <p:cNvCxnSpPr>
            <a:cxnSpLocks/>
          </p:cNvCxnSpPr>
          <p:nvPr/>
        </p:nvCxnSpPr>
        <p:spPr>
          <a:xfrm flipH="1">
            <a:off x="1739721" y="0"/>
            <a:ext cx="3952233" cy="6858000"/>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sp>
        <p:nvSpPr>
          <p:cNvPr id="13" name="平行四边形 12">
            <a:extLst>
              <a:ext uri="{FF2B5EF4-FFF2-40B4-BE49-F238E27FC236}">
                <a16:creationId xmlns:a16="http://schemas.microsoft.com/office/drawing/2014/main" id="{2CCBB89C-5C40-418B-AC8C-3F7746D1FE26}"/>
              </a:ext>
            </a:extLst>
          </p:cNvPr>
          <p:cNvSpPr/>
          <p:nvPr/>
        </p:nvSpPr>
        <p:spPr>
          <a:xfrm>
            <a:off x="2483992" y="4007617"/>
            <a:ext cx="995991" cy="1402664"/>
          </a:xfrm>
          <a:prstGeom prst="parallelogram">
            <a:avLst>
              <a:gd name="adj" fmla="val 81010"/>
            </a:avLst>
          </a:prstGeom>
          <a:solidFill>
            <a:srgbClr val="FF99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1" name="任意多边形: 形状 20">
            <a:extLst>
              <a:ext uri="{FF2B5EF4-FFF2-40B4-BE49-F238E27FC236}">
                <a16:creationId xmlns:a16="http://schemas.microsoft.com/office/drawing/2014/main" id="{238BC879-81A2-4D7E-B902-82D6633A6280}"/>
              </a:ext>
            </a:extLst>
          </p:cNvPr>
          <p:cNvSpPr/>
          <p:nvPr/>
        </p:nvSpPr>
        <p:spPr>
          <a:xfrm rot="10800000" flipH="1" flipV="1">
            <a:off x="-5703389" y="-958822"/>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BDC61BC7-F7AB-DEA0-4CEA-03559A9ED8CC}"/>
              </a:ext>
            </a:extLst>
          </p:cNvPr>
          <p:cNvSpPr txBox="1"/>
          <p:nvPr/>
        </p:nvSpPr>
        <p:spPr>
          <a:xfrm>
            <a:off x="7676369" y="4859546"/>
            <a:ext cx="2026244" cy="738664"/>
          </a:xfrm>
          <a:prstGeom prst="rect">
            <a:avLst/>
          </a:prstGeom>
          <a:noFill/>
        </p:spPr>
        <p:txBody>
          <a:bodyPr wrap="square" rtlCol="0">
            <a:spAutoFit/>
          </a:bodyPr>
          <a:lstStyle/>
          <a:p>
            <a:r>
              <a:rPr lang="en-US" altLang="zh-CN" sz="1400" spc="600" dirty="0">
                <a:latin typeface="Segoe UI Web (West European)"/>
              </a:rPr>
              <a:t>Asset structure</a:t>
            </a:r>
          </a:p>
          <a:p>
            <a:endParaRPr lang="zh-CN" altLang="en-US" sz="1400" dirty="0">
              <a:solidFill>
                <a:srgbClr val="002060"/>
              </a:solidFill>
              <a:latin typeface="Arial" panose="020B0604020202020204" pitchFamily="34" charset="0"/>
              <a:cs typeface="Arial" panose="020B0604020202020204" pitchFamily="34" charset="0"/>
              <a:sym typeface="+mn-lt"/>
            </a:endParaRPr>
          </a:p>
        </p:txBody>
      </p:sp>
    </p:spTree>
    <p:extLst>
      <p:ext uri="{BB962C8B-B14F-4D97-AF65-F5344CB8AC3E}">
        <p14:creationId xmlns:p14="http://schemas.microsoft.com/office/powerpoint/2010/main" val="1273193943"/>
      </p:ext>
    </p:extLst>
  </p:cSld>
  <p:clrMapOvr>
    <a:masterClrMapping/>
  </p:clrMapOvr>
  <mc:AlternateContent xmlns:mc="http://schemas.openxmlformats.org/markup-compatibility/2006">
    <mc:Choice xmlns:p14="http://schemas.microsoft.com/office/powerpoint/2010/main" Requires="p14">
      <p:transition spd="slow" p14:dur="1600" advClick="0" advTm="0">
        <p14:gallery dir="l"/>
      </p:transition>
    </mc:Choice>
    <mc:Fallback>
      <p:transition spd="slow" advClick="0"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69000">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14:bounceEnd="69000">
                                          <p:cBhvr additive="base">
                                            <p:cTn id="11" dur="750" fill="hold"/>
                                            <p:tgtEl>
                                              <p:spTgt spid="21"/>
                                            </p:tgtEl>
                                            <p:attrNameLst>
                                              <p:attrName>ppt_x</p:attrName>
                                            </p:attrNameLst>
                                          </p:cBhvr>
                                          <p:tavLst>
                                            <p:tav tm="0">
                                              <p:val>
                                                <p:strVal val="0-#ppt_w/2"/>
                                              </p:val>
                                            </p:tav>
                                            <p:tav tm="100000">
                                              <p:val>
                                                <p:strVal val="#ppt_x"/>
                                              </p:val>
                                            </p:tav>
                                          </p:tavLst>
                                        </p:anim>
                                        <p:anim calcmode="lin" valueType="num" p14:bounceEnd="69000">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75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25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500"/>
                                </p:stCondLst>
                                <p:childTnLst>
                                  <p:par>
                                    <p:cTn id="38" presetID="16" presetClass="entr" presetSubtype="4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outHorizontal)">
                                          <p:cBhvr>
                                            <p:cTn id="40" dur="750"/>
                                            <p:tgtEl>
                                              <p:spTgt spid="13"/>
                                            </p:tgtEl>
                                          </p:cBhvr>
                                        </p:animEffect>
                                      </p:childTnLst>
                                    </p:cTn>
                                  </p:par>
                                  <p:par>
                                    <p:cTn id="41" presetID="2" presetClass="entr" presetSubtype="1" accel="40000" fill="hold" nodeType="withEffect" p14:presetBounceEnd="60000">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14:bounceEnd="60000">
                                          <p:cBhvr additive="base">
                                            <p:cTn id="43" dur="750" fill="hold"/>
                                            <p:tgtEl>
                                              <p:spTgt spid="16"/>
                                            </p:tgtEl>
                                            <p:attrNameLst>
                                              <p:attrName>ppt_x</p:attrName>
                                            </p:attrNameLst>
                                          </p:cBhvr>
                                          <p:tavLst>
                                            <p:tav tm="0">
                                              <p:val>
                                                <p:strVal val="#ppt_x"/>
                                              </p:val>
                                            </p:tav>
                                            <p:tav tm="100000">
                                              <p:val>
                                                <p:strVal val="#ppt_x"/>
                                              </p:val>
                                            </p:tav>
                                          </p:tavLst>
                                        </p:anim>
                                        <p:anim calcmode="lin" valueType="num" p14:bounceEnd="60000">
                                          <p:cBhvr additive="base">
                                            <p:cTn id="44" dur="750" fill="hold"/>
                                            <p:tgtEl>
                                              <p:spTgt spid="16"/>
                                            </p:tgtEl>
                                            <p:attrNameLst>
                                              <p:attrName>ppt_y</p:attrName>
                                            </p:attrNameLst>
                                          </p:cBhvr>
                                          <p:tavLst>
                                            <p:tav tm="0">
                                              <p:val>
                                                <p:strVal val="0-#ppt_h/2"/>
                                              </p:val>
                                            </p:tav>
                                            <p:tav tm="100000">
                                              <p:val>
                                                <p:strVal val="#ppt_y"/>
                                              </p:val>
                                            </p:tav>
                                          </p:tavLst>
                                        </p:anim>
                                      </p:childTnLst>
                                    </p:cTn>
                                  </p:par>
                                  <p:par>
                                    <p:cTn id="45" presetID="2" presetClass="entr" presetSubtype="4" accel="40000" fill="hold" nodeType="withEffect" p14:presetBounceEnd="60000">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14:bounceEnd="60000">
                                          <p:cBhvr additive="base">
                                            <p:cTn id="47" dur="75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48" dur="75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accel="40000" fill="hold" nodeType="withEffect" p14:presetBounceEnd="60000">
                                      <p:stCondLst>
                                        <p:cond delay="500"/>
                                      </p:stCondLst>
                                      <p:childTnLst>
                                        <p:set>
                                          <p:cBhvr>
                                            <p:cTn id="50" dur="1" fill="hold">
                                              <p:stCondLst>
                                                <p:cond delay="0"/>
                                              </p:stCondLst>
                                            </p:cTn>
                                            <p:tgtEl>
                                              <p:spTgt spid="15"/>
                                            </p:tgtEl>
                                            <p:attrNameLst>
                                              <p:attrName>style.visibility</p:attrName>
                                            </p:attrNameLst>
                                          </p:cBhvr>
                                          <p:to>
                                            <p:strVal val="visible"/>
                                          </p:to>
                                        </p:set>
                                        <p:anim calcmode="lin" valueType="num" p14:bounceEnd="60000">
                                          <p:cBhvr additive="base">
                                            <p:cTn id="51" dur="750" fill="hold"/>
                                            <p:tgtEl>
                                              <p:spTgt spid="15"/>
                                            </p:tgtEl>
                                            <p:attrNameLst>
                                              <p:attrName>ppt_x</p:attrName>
                                            </p:attrNameLst>
                                          </p:cBhvr>
                                          <p:tavLst>
                                            <p:tav tm="0">
                                              <p:val>
                                                <p:strVal val="#ppt_x"/>
                                              </p:val>
                                            </p:tav>
                                            <p:tav tm="100000">
                                              <p:val>
                                                <p:strVal val="#ppt_x"/>
                                              </p:val>
                                            </p:tav>
                                          </p:tavLst>
                                        </p:anim>
                                        <p:anim calcmode="lin" valueType="num" p14:bounceEnd="60000">
                                          <p:cBhvr additive="base">
                                            <p:cTn id="52" dur="7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0-#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75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25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500"/>
                                </p:stCondLst>
                                <p:childTnLst>
                                  <p:par>
                                    <p:cTn id="38" presetID="16" presetClass="entr" presetSubtype="4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outHorizontal)">
                                          <p:cBhvr>
                                            <p:cTn id="40" dur="750"/>
                                            <p:tgtEl>
                                              <p:spTgt spid="13"/>
                                            </p:tgtEl>
                                          </p:cBhvr>
                                        </p:animEffect>
                                      </p:childTnLst>
                                    </p:cTn>
                                  </p:par>
                                  <p:par>
                                    <p:cTn id="41" presetID="2" presetClass="entr" presetSubtype="1" accel="4000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750" fill="hold"/>
                                            <p:tgtEl>
                                              <p:spTgt spid="16"/>
                                            </p:tgtEl>
                                            <p:attrNameLst>
                                              <p:attrName>ppt_x</p:attrName>
                                            </p:attrNameLst>
                                          </p:cBhvr>
                                          <p:tavLst>
                                            <p:tav tm="0">
                                              <p:val>
                                                <p:strVal val="#ppt_x"/>
                                              </p:val>
                                            </p:tav>
                                            <p:tav tm="100000">
                                              <p:val>
                                                <p:strVal val="#ppt_x"/>
                                              </p:val>
                                            </p:tav>
                                          </p:tavLst>
                                        </p:anim>
                                        <p:anim calcmode="lin" valueType="num">
                                          <p:cBhvr additive="base">
                                            <p:cTn id="44" dur="750" fill="hold"/>
                                            <p:tgtEl>
                                              <p:spTgt spid="16"/>
                                            </p:tgtEl>
                                            <p:attrNameLst>
                                              <p:attrName>ppt_y</p:attrName>
                                            </p:attrNameLst>
                                          </p:cBhvr>
                                          <p:tavLst>
                                            <p:tav tm="0">
                                              <p:val>
                                                <p:strVal val="0-#ppt_h/2"/>
                                              </p:val>
                                            </p:tav>
                                            <p:tav tm="100000">
                                              <p:val>
                                                <p:strVal val="#ppt_y"/>
                                              </p:val>
                                            </p:tav>
                                          </p:tavLst>
                                        </p:anim>
                                      </p:childTnLst>
                                    </p:cTn>
                                  </p:par>
                                  <p:par>
                                    <p:cTn id="45" presetID="2" presetClass="entr" presetSubtype="4" accel="40000" fill="hold" nodeType="with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750" fill="hold"/>
                                            <p:tgtEl>
                                              <p:spTgt spid="14"/>
                                            </p:tgtEl>
                                            <p:attrNameLst>
                                              <p:attrName>ppt_x</p:attrName>
                                            </p:attrNameLst>
                                          </p:cBhvr>
                                          <p:tavLst>
                                            <p:tav tm="0">
                                              <p:val>
                                                <p:strVal val="#ppt_x"/>
                                              </p:val>
                                            </p:tav>
                                            <p:tav tm="100000">
                                              <p:val>
                                                <p:strVal val="#ppt_x"/>
                                              </p:val>
                                            </p:tav>
                                          </p:tavLst>
                                        </p:anim>
                                        <p:anim calcmode="lin" valueType="num">
                                          <p:cBhvr additive="base">
                                            <p:cTn id="48" dur="75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accel="40000" fill="hold" nodeType="withEffect">
                                      <p:stCondLst>
                                        <p:cond delay="50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750" fill="hold"/>
                                            <p:tgtEl>
                                              <p:spTgt spid="15"/>
                                            </p:tgtEl>
                                            <p:attrNameLst>
                                              <p:attrName>ppt_x</p:attrName>
                                            </p:attrNameLst>
                                          </p:cBhvr>
                                          <p:tavLst>
                                            <p:tav tm="0">
                                              <p:val>
                                                <p:strVal val="#ppt_x"/>
                                              </p:val>
                                            </p:tav>
                                            <p:tav tm="100000">
                                              <p:val>
                                                <p:strVal val="#ppt_x"/>
                                              </p:val>
                                            </p:tav>
                                          </p:tavLst>
                                        </p:anim>
                                        <p:anim calcmode="lin" valueType="num">
                                          <p:cBhvr additive="base">
                                            <p:cTn id="52" dur="7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D94F785-D557-39F5-22D1-A503A18999DF}"/>
              </a:ext>
            </a:extLst>
          </p:cNvPr>
          <p:cNvSpPr/>
          <p:nvPr/>
        </p:nvSpPr>
        <p:spPr>
          <a:xfrm>
            <a:off x="6222895" y="2864795"/>
            <a:ext cx="4496986" cy="3076212"/>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1AA3A2CC-8442-ED9A-717D-1E41CBB32C77}"/>
              </a:ext>
            </a:extLst>
          </p:cNvPr>
          <p:cNvSpPr txBox="1"/>
          <p:nvPr/>
        </p:nvSpPr>
        <p:spPr>
          <a:xfrm>
            <a:off x="234365" y="408968"/>
            <a:ext cx="1979956" cy="307777"/>
          </a:xfrm>
          <a:prstGeom prst="rect">
            <a:avLst/>
          </a:prstGeom>
          <a:noFill/>
        </p:spPr>
        <p:txBody>
          <a:bodyPr wrap="square" rtlCol="0">
            <a:spAutoFit/>
          </a:bodyPr>
          <a:lstStyle/>
          <a:p>
            <a:pPr algn="ctr"/>
            <a:r>
              <a:rPr lang="zh-CN" altLang="en-US" sz="1400" b="1" dirty="0">
                <a:cs typeface="+mn-ea"/>
                <a:sym typeface="+mn-lt"/>
              </a:rPr>
              <a:t>资产结构</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graphicFrame>
        <p:nvGraphicFramePr>
          <p:cNvPr id="5" name="表格 4">
            <a:extLst>
              <a:ext uri="{FF2B5EF4-FFF2-40B4-BE49-F238E27FC236}">
                <a16:creationId xmlns:a16="http://schemas.microsoft.com/office/drawing/2014/main" id="{9F8F471F-F622-0315-7EC3-0C3EB3E62550}"/>
              </a:ext>
            </a:extLst>
          </p:cNvPr>
          <p:cNvGraphicFramePr/>
          <p:nvPr>
            <p:custDataLst>
              <p:tags r:id="rId1"/>
            </p:custDataLst>
            <p:extLst>
              <p:ext uri="{D42A27DB-BD31-4B8C-83A1-F6EECF244321}">
                <p14:modId xmlns:p14="http://schemas.microsoft.com/office/powerpoint/2010/main" val="2243749981"/>
              </p:ext>
            </p:extLst>
          </p:nvPr>
        </p:nvGraphicFramePr>
        <p:xfrm>
          <a:off x="1468015" y="830331"/>
          <a:ext cx="9509760" cy="173291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gridCol w="1584960">
                  <a:extLst>
                    <a:ext uri="{9D8B030D-6E8A-4147-A177-3AD203B41FA5}">
                      <a16:colId xmlns:a16="http://schemas.microsoft.com/office/drawing/2014/main" val="20005"/>
                    </a:ext>
                  </a:extLst>
                </a:gridCol>
              </a:tblGrid>
              <a:tr h="518795">
                <a:tc>
                  <a:txBody>
                    <a:bodyPr/>
                    <a:lstStyle/>
                    <a:p>
                      <a:pPr algn="l">
                        <a:buClrTx/>
                        <a:buSzTx/>
                        <a:buFontTx/>
                        <a:buNone/>
                      </a:pPr>
                      <a:r>
                        <a:rPr lang="en-US" altLang="zh-CN" sz="1800" dirty="0" err="1"/>
                        <a:t>年份</a:t>
                      </a:r>
                      <a:endParaRPr lang="en-US" altLang="zh-CN" sz="1800" dirty="0"/>
                    </a:p>
                  </a:txBody>
                  <a:tcPr marL="12700" marR="12700" marT="12700" anchor="ctr"/>
                </a:tc>
                <a:tc>
                  <a:txBody>
                    <a:bodyPr/>
                    <a:lstStyle/>
                    <a:p>
                      <a:pPr algn="l">
                        <a:buClrTx/>
                        <a:buSzTx/>
                        <a:buFontTx/>
                        <a:buNone/>
                      </a:pPr>
                      <a:r>
                        <a:rPr lang="en-US" altLang="zh-CN" sz="1800" dirty="0"/>
                        <a:t>2019</a:t>
                      </a:r>
                    </a:p>
                  </a:txBody>
                  <a:tcPr marL="12700" marR="12700" marT="12700" anchor="ctr"/>
                </a:tc>
                <a:tc>
                  <a:txBody>
                    <a:bodyPr/>
                    <a:lstStyle/>
                    <a:p>
                      <a:pPr algn="l">
                        <a:buClrTx/>
                        <a:buSzTx/>
                        <a:buFontTx/>
                        <a:buNone/>
                      </a:pPr>
                      <a:r>
                        <a:rPr lang="en-US" altLang="zh-CN" sz="1800" dirty="0"/>
                        <a:t>2020</a:t>
                      </a:r>
                    </a:p>
                  </a:txBody>
                  <a:tcPr marL="12700" marR="12700" marT="12700" anchor="ctr"/>
                </a:tc>
                <a:tc>
                  <a:txBody>
                    <a:bodyPr/>
                    <a:lstStyle/>
                    <a:p>
                      <a:pPr algn="l">
                        <a:buClrTx/>
                        <a:buSzTx/>
                        <a:buFontTx/>
                        <a:buNone/>
                      </a:pPr>
                      <a:r>
                        <a:rPr lang="en-US" altLang="zh-CN" sz="1800" dirty="0"/>
                        <a:t>2021</a:t>
                      </a:r>
                    </a:p>
                  </a:txBody>
                  <a:tcPr marL="12700" marR="12700" marT="12700" anchor="ctr"/>
                </a:tc>
                <a:tc>
                  <a:txBody>
                    <a:bodyPr/>
                    <a:lstStyle/>
                    <a:p>
                      <a:pPr algn="l">
                        <a:buClrTx/>
                        <a:buSzTx/>
                        <a:buFontTx/>
                        <a:buNone/>
                      </a:pPr>
                      <a:r>
                        <a:rPr lang="en-US" altLang="zh-CN" sz="1800" dirty="0"/>
                        <a:t>2022</a:t>
                      </a:r>
                    </a:p>
                  </a:txBody>
                  <a:tcPr marL="12700" marR="12700" marT="12700" anchor="ctr"/>
                </a:tc>
                <a:tc>
                  <a:txBody>
                    <a:bodyPr/>
                    <a:lstStyle/>
                    <a:p>
                      <a:pPr algn="l">
                        <a:buClrTx/>
                        <a:buSzTx/>
                        <a:buFontTx/>
                        <a:buNone/>
                      </a:pPr>
                      <a:r>
                        <a:rPr lang="en-US" altLang="zh-CN" sz="1800"/>
                        <a:t>2023</a:t>
                      </a:r>
                    </a:p>
                  </a:txBody>
                  <a:tcPr marL="12700" marR="12700" marT="12700" anchor="ctr"/>
                </a:tc>
                <a:extLst>
                  <a:ext uri="{0D108BD9-81ED-4DB2-BD59-A6C34878D82A}">
                    <a16:rowId xmlns:a16="http://schemas.microsoft.com/office/drawing/2014/main" val="10000"/>
                  </a:ext>
                </a:extLst>
              </a:tr>
              <a:tr h="607060">
                <a:tc>
                  <a:txBody>
                    <a:bodyPr/>
                    <a:lstStyle/>
                    <a:p>
                      <a:pPr algn="l">
                        <a:buClrTx/>
                        <a:buSzTx/>
                        <a:buFontTx/>
                        <a:buNone/>
                      </a:pPr>
                      <a:r>
                        <a:rPr lang="en-US" altLang="zh-CN" sz="1800" b="1" dirty="0" err="1">
                          <a:solidFill>
                            <a:schemeClr val="tx1"/>
                          </a:solidFill>
                          <a:uFillTx/>
                        </a:rPr>
                        <a:t>流动资产占总资产比重</a:t>
                      </a:r>
                      <a:endParaRPr lang="en-US" altLang="zh-CN" sz="1800" b="1" dirty="0">
                        <a:solidFill>
                          <a:schemeClr val="tx1"/>
                        </a:solidFill>
                        <a:uFillTx/>
                      </a:endParaRPr>
                    </a:p>
                  </a:txBody>
                  <a:tcPr marL="12700" marR="12700" marT="12700" anchor="ctr"/>
                </a:tc>
                <a:tc>
                  <a:txBody>
                    <a:bodyPr/>
                    <a:lstStyle/>
                    <a:p>
                      <a:pPr algn="l">
                        <a:buClrTx/>
                        <a:buSzTx/>
                        <a:buFontTx/>
                        <a:buNone/>
                      </a:pPr>
                      <a:r>
                        <a:rPr lang="en-US" altLang="zh-CN" sz="1800" b="1" dirty="0">
                          <a:solidFill>
                            <a:schemeClr val="tx1"/>
                          </a:solidFill>
                          <a:uFillTx/>
                        </a:rPr>
                        <a:t>75.59%</a:t>
                      </a:r>
                    </a:p>
                  </a:txBody>
                  <a:tcPr marL="12700" marR="12700" marT="12700" anchor="ctr"/>
                </a:tc>
                <a:tc>
                  <a:txBody>
                    <a:bodyPr/>
                    <a:lstStyle/>
                    <a:p>
                      <a:pPr algn="l">
                        <a:buClrTx/>
                        <a:buSzTx/>
                        <a:buFontTx/>
                        <a:buNone/>
                      </a:pPr>
                      <a:r>
                        <a:rPr lang="en-US" altLang="zh-CN" sz="1800" b="1" dirty="0">
                          <a:solidFill>
                            <a:schemeClr val="tx1"/>
                          </a:solidFill>
                          <a:uFillTx/>
                        </a:rPr>
                        <a:t>74.96%</a:t>
                      </a:r>
                    </a:p>
                  </a:txBody>
                  <a:tcPr marL="12700" marR="12700" marT="12700" anchor="ctr"/>
                </a:tc>
                <a:tc>
                  <a:txBody>
                    <a:bodyPr/>
                    <a:lstStyle/>
                    <a:p>
                      <a:pPr algn="l">
                        <a:buClrTx/>
                        <a:buSzTx/>
                        <a:buFontTx/>
                        <a:buNone/>
                      </a:pPr>
                      <a:r>
                        <a:rPr lang="en-US" altLang="zh-CN" sz="1800" b="1" dirty="0">
                          <a:solidFill>
                            <a:schemeClr val="tx1"/>
                          </a:solidFill>
                          <a:uFillTx/>
                        </a:rPr>
                        <a:t>74.31%</a:t>
                      </a:r>
                    </a:p>
                  </a:txBody>
                  <a:tcPr marL="12700" marR="12700" marT="12700" anchor="ctr"/>
                </a:tc>
                <a:tc>
                  <a:txBody>
                    <a:bodyPr/>
                    <a:lstStyle/>
                    <a:p>
                      <a:pPr algn="l">
                        <a:buClrTx/>
                        <a:buSzTx/>
                        <a:buFontTx/>
                        <a:buNone/>
                      </a:pPr>
                      <a:r>
                        <a:rPr lang="en-US" altLang="zh-CN" sz="1800" b="1">
                          <a:solidFill>
                            <a:schemeClr val="tx1"/>
                          </a:solidFill>
                          <a:uFillTx/>
                        </a:rPr>
                        <a:t>76.85%</a:t>
                      </a:r>
                    </a:p>
                  </a:txBody>
                  <a:tcPr marL="12700" marR="12700" marT="12700" anchor="ctr"/>
                </a:tc>
                <a:tc>
                  <a:txBody>
                    <a:bodyPr/>
                    <a:lstStyle/>
                    <a:p>
                      <a:pPr algn="l">
                        <a:buClrTx/>
                        <a:buSzTx/>
                        <a:buFontTx/>
                        <a:buNone/>
                      </a:pPr>
                      <a:r>
                        <a:rPr lang="en-US" altLang="zh-CN" sz="1800" b="1">
                          <a:solidFill>
                            <a:schemeClr val="tx1"/>
                          </a:solidFill>
                          <a:uFillTx/>
                        </a:rPr>
                        <a:t>77.63%</a:t>
                      </a:r>
                    </a:p>
                  </a:txBody>
                  <a:tcPr marL="12700" marR="12700" marT="12700" anchor="ctr"/>
                </a:tc>
                <a:extLst>
                  <a:ext uri="{0D108BD9-81ED-4DB2-BD59-A6C34878D82A}">
                    <a16:rowId xmlns:a16="http://schemas.microsoft.com/office/drawing/2014/main" val="10001"/>
                  </a:ext>
                </a:extLst>
              </a:tr>
              <a:tr h="535940">
                <a:tc>
                  <a:txBody>
                    <a:bodyPr/>
                    <a:lstStyle/>
                    <a:p>
                      <a:pPr algn="l">
                        <a:buClrTx/>
                        <a:buSzTx/>
                        <a:buFontTx/>
                        <a:buNone/>
                      </a:pPr>
                      <a:r>
                        <a:rPr lang="en-US" altLang="zh-CN" sz="1800" b="1">
                          <a:solidFill>
                            <a:schemeClr val="tx1"/>
                          </a:solidFill>
                          <a:uFillTx/>
                        </a:rPr>
                        <a:t>非流动资产占总资产比重</a:t>
                      </a:r>
                    </a:p>
                  </a:txBody>
                  <a:tcPr marL="12700" marR="12700" marT="12700" anchor="ctr"/>
                </a:tc>
                <a:tc>
                  <a:txBody>
                    <a:bodyPr/>
                    <a:lstStyle/>
                    <a:p>
                      <a:pPr algn="l">
                        <a:buClrTx/>
                        <a:buSzTx/>
                        <a:buFontTx/>
                        <a:buNone/>
                      </a:pPr>
                      <a:r>
                        <a:rPr lang="en-US" altLang="zh-CN" sz="1800" b="1" dirty="0">
                          <a:solidFill>
                            <a:schemeClr val="tx1"/>
                          </a:solidFill>
                          <a:uFillTx/>
                        </a:rPr>
                        <a:t>24.41%</a:t>
                      </a:r>
                    </a:p>
                  </a:txBody>
                  <a:tcPr marL="12700" marR="12700" marT="12700" anchor="ctr"/>
                </a:tc>
                <a:tc>
                  <a:txBody>
                    <a:bodyPr/>
                    <a:lstStyle/>
                    <a:p>
                      <a:pPr algn="l">
                        <a:buClrTx/>
                        <a:buSzTx/>
                        <a:buFontTx/>
                        <a:buNone/>
                      </a:pPr>
                      <a:r>
                        <a:rPr lang="en-US" altLang="zh-CN" sz="1800" b="1" dirty="0">
                          <a:solidFill>
                            <a:schemeClr val="tx1"/>
                          </a:solidFill>
                          <a:uFillTx/>
                        </a:rPr>
                        <a:t>25.04%</a:t>
                      </a:r>
                    </a:p>
                  </a:txBody>
                  <a:tcPr marL="12700" marR="12700" marT="12700" anchor="ctr"/>
                </a:tc>
                <a:tc>
                  <a:txBody>
                    <a:bodyPr/>
                    <a:lstStyle/>
                    <a:p>
                      <a:pPr algn="l">
                        <a:buClrTx/>
                        <a:buSzTx/>
                        <a:buFontTx/>
                        <a:buNone/>
                      </a:pPr>
                      <a:r>
                        <a:rPr lang="en-US" altLang="zh-CN" sz="1800" b="1" dirty="0">
                          <a:solidFill>
                            <a:schemeClr val="tx1"/>
                          </a:solidFill>
                          <a:uFillTx/>
                        </a:rPr>
                        <a:t>25.69%</a:t>
                      </a:r>
                    </a:p>
                  </a:txBody>
                  <a:tcPr marL="12700" marR="12700" marT="12700" anchor="ctr"/>
                </a:tc>
                <a:tc>
                  <a:txBody>
                    <a:bodyPr/>
                    <a:lstStyle/>
                    <a:p>
                      <a:pPr algn="l">
                        <a:buClrTx/>
                        <a:buSzTx/>
                        <a:buFontTx/>
                        <a:buNone/>
                      </a:pPr>
                      <a:r>
                        <a:rPr lang="en-US" altLang="zh-CN" sz="1800" b="1" dirty="0">
                          <a:solidFill>
                            <a:schemeClr val="tx1"/>
                          </a:solidFill>
                          <a:uFillTx/>
                        </a:rPr>
                        <a:t>23.15%</a:t>
                      </a:r>
                    </a:p>
                  </a:txBody>
                  <a:tcPr marL="12700" marR="12700" marT="12700" anchor="ctr"/>
                </a:tc>
                <a:tc>
                  <a:txBody>
                    <a:bodyPr/>
                    <a:lstStyle/>
                    <a:p>
                      <a:pPr algn="l">
                        <a:buClrTx/>
                        <a:buSzTx/>
                        <a:buFontTx/>
                        <a:buNone/>
                      </a:pPr>
                      <a:r>
                        <a:rPr lang="en-US" altLang="zh-CN" sz="1800" b="1" dirty="0">
                          <a:solidFill>
                            <a:schemeClr val="tx1"/>
                          </a:solidFill>
                          <a:uFillTx/>
                        </a:rPr>
                        <a:t>22.37%</a:t>
                      </a:r>
                    </a:p>
                  </a:txBody>
                  <a:tcPr marL="12700" marR="12700" marT="12700" anchor="ctr"/>
                </a:tc>
                <a:extLst>
                  <a:ext uri="{0D108BD9-81ED-4DB2-BD59-A6C34878D82A}">
                    <a16:rowId xmlns:a16="http://schemas.microsoft.com/office/drawing/2014/main" val="10002"/>
                  </a:ext>
                </a:extLst>
              </a:tr>
            </a:tbl>
          </a:graphicData>
        </a:graphic>
      </p:graphicFrame>
      <p:graphicFrame>
        <p:nvGraphicFramePr>
          <p:cNvPr id="6" name="图表 5">
            <a:extLst>
              <a:ext uri="{FF2B5EF4-FFF2-40B4-BE49-F238E27FC236}">
                <a16:creationId xmlns:a16="http://schemas.microsoft.com/office/drawing/2014/main" id="{789A35F5-B912-7F44-D461-FD2B3A262382}"/>
              </a:ext>
            </a:extLst>
          </p:cNvPr>
          <p:cNvGraphicFramePr/>
          <p:nvPr>
            <p:extLst>
              <p:ext uri="{D42A27DB-BD31-4B8C-83A1-F6EECF244321}">
                <p14:modId xmlns:p14="http://schemas.microsoft.com/office/powerpoint/2010/main" val="556631083"/>
              </p:ext>
            </p:extLst>
          </p:nvPr>
        </p:nvGraphicFramePr>
        <p:xfrm>
          <a:off x="445327" y="2864795"/>
          <a:ext cx="5323176" cy="2988663"/>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框 6">
            <a:extLst>
              <a:ext uri="{FF2B5EF4-FFF2-40B4-BE49-F238E27FC236}">
                <a16:creationId xmlns:a16="http://schemas.microsoft.com/office/drawing/2014/main" id="{475BE84C-8D2B-BFF8-6CC9-CD656AD78F1F}"/>
              </a:ext>
            </a:extLst>
          </p:cNvPr>
          <p:cNvSpPr txBox="1"/>
          <p:nvPr/>
        </p:nvSpPr>
        <p:spPr>
          <a:xfrm>
            <a:off x="6351121" y="2952344"/>
            <a:ext cx="4064000" cy="4181475"/>
          </a:xfrm>
          <a:prstGeom prst="rect">
            <a:avLst/>
          </a:prstGeom>
          <a:noFill/>
        </p:spPr>
        <p:txBody>
          <a:bodyPr wrap="square" rtlCol="0">
            <a:noAutofit/>
          </a:bodyPr>
          <a:lstStyle/>
          <a:p>
            <a:r>
              <a:rPr lang="zh-CN" altLang="en-US" sz="2000" dirty="0"/>
              <a:t>可以看出，贵州茅台的流动资产占总资产的比重较高，且总体呈现出逐年上升的趋势，非流动资产占总资产的比重则相对较低，且呈现出逐年下降的趋势。这表明贵州茅台的资产结构相对较为稳定，流动资产的比重较高，说明公司的资金流动性较好，能够更好地应对市场变化和经营风险。</a:t>
            </a:r>
          </a:p>
        </p:txBody>
      </p:sp>
    </p:spTree>
    <p:extLst>
      <p:ext uri="{BB962C8B-B14F-4D97-AF65-F5344CB8AC3E}">
        <p14:creationId xmlns:p14="http://schemas.microsoft.com/office/powerpoint/2010/main" val="278016091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D94F785-D557-39F5-22D1-A503A18999DF}"/>
              </a:ext>
            </a:extLst>
          </p:cNvPr>
          <p:cNvSpPr/>
          <p:nvPr/>
        </p:nvSpPr>
        <p:spPr>
          <a:xfrm>
            <a:off x="6351121" y="2864795"/>
            <a:ext cx="4496986" cy="3076212"/>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1AA3A2CC-8442-ED9A-717D-1E41CBB32C77}"/>
              </a:ext>
            </a:extLst>
          </p:cNvPr>
          <p:cNvSpPr txBox="1"/>
          <p:nvPr/>
        </p:nvSpPr>
        <p:spPr>
          <a:xfrm>
            <a:off x="234365" y="408968"/>
            <a:ext cx="1979956" cy="307777"/>
          </a:xfrm>
          <a:prstGeom prst="rect">
            <a:avLst/>
          </a:prstGeom>
          <a:noFill/>
        </p:spPr>
        <p:txBody>
          <a:bodyPr wrap="square" rtlCol="0">
            <a:spAutoFit/>
          </a:bodyPr>
          <a:lstStyle/>
          <a:p>
            <a:pPr algn="ctr"/>
            <a:r>
              <a:rPr lang="zh-CN" altLang="en-US" sz="1400" b="1" dirty="0">
                <a:cs typeface="+mn-ea"/>
                <a:sym typeface="+mn-lt"/>
              </a:rPr>
              <a:t>资产结构</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graphicFrame>
        <p:nvGraphicFramePr>
          <p:cNvPr id="2" name="表格 1">
            <a:extLst>
              <a:ext uri="{FF2B5EF4-FFF2-40B4-BE49-F238E27FC236}">
                <a16:creationId xmlns:a16="http://schemas.microsoft.com/office/drawing/2014/main" id="{A91CB832-6F4A-F768-0404-074CCFFBBFB9}"/>
              </a:ext>
            </a:extLst>
          </p:cNvPr>
          <p:cNvGraphicFramePr/>
          <p:nvPr>
            <p:custDataLst>
              <p:tags r:id="rId1"/>
            </p:custDataLst>
            <p:extLst>
              <p:ext uri="{D42A27DB-BD31-4B8C-83A1-F6EECF244321}">
                <p14:modId xmlns:p14="http://schemas.microsoft.com/office/powerpoint/2010/main" val="221226136"/>
              </p:ext>
            </p:extLst>
          </p:nvPr>
        </p:nvGraphicFramePr>
        <p:xfrm>
          <a:off x="1571058" y="916993"/>
          <a:ext cx="8530590" cy="1143000"/>
        </p:xfrm>
        <a:graphic>
          <a:graphicData uri="http://schemas.openxmlformats.org/drawingml/2006/table">
            <a:tbl>
              <a:tblPr firstRow="1" bandRow="1">
                <a:tableStyleId>{5C22544A-7EE6-4342-B048-85BDC9FD1C3A}</a:tableStyleId>
              </a:tblPr>
              <a:tblGrid>
                <a:gridCol w="1421765">
                  <a:extLst>
                    <a:ext uri="{9D8B030D-6E8A-4147-A177-3AD203B41FA5}">
                      <a16:colId xmlns:a16="http://schemas.microsoft.com/office/drawing/2014/main" val="20000"/>
                    </a:ext>
                  </a:extLst>
                </a:gridCol>
                <a:gridCol w="1421765">
                  <a:extLst>
                    <a:ext uri="{9D8B030D-6E8A-4147-A177-3AD203B41FA5}">
                      <a16:colId xmlns:a16="http://schemas.microsoft.com/office/drawing/2014/main" val="20001"/>
                    </a:ext>
                  </a:extLst>
                </a:gridCol>
                <a:gridCol w="1421765">
                  <a:extLst>
                    <a:ext uri="{9D8B030D-6E8A-4147-A177-3AD203B41FA5}">
                      <a16:colId xmlns:a16="http://schemas.microsoft.com/office/drawing/2014/main" val="20002"/>
                    </a:ext>
                  </a:extLst>
                </a:gridCol>
                <a:gridCol w="1421765">
                  <a:extLst>
                    <a:ext uri="{9D8B030D-6E8A-4147-A177-3AD203B41FA5}">
                      <a16:colId xmlns:a16="http://schemas.microsoft.com/office/drawing/2014/main" val="20003"/>
                    </a:ext>
                  </a:extLst>
                </a:gridCol>
                <a:gridCol w="1421765">
                  <a:extLst>
                    <a:ext uri="{9D8B030D-6E8A-4147-A177-3AD203B41FA5}">
                      <a16:colId xmlns:a16="http://schemas.microsoft.com/office/drawing/2014/main" val="20004"/>
                    </a:ext>
                  </a:extLst>
                </a:gridCol>
                <a:gridCol w="1421765">
                  <a:extLst>
                    <a:ext uri="{9D8B030D-6E8A-4147-A177-3AD203B41FA5}">
                      <a16:colId xmlns:a16="http://schemas.microsoft.com/office/drawing/2014/main" val="20005"/>
                    </a:ext>
                  </a:extLst>
                </a:gridCol>
              </a:tblGrid>
              <a:tr h="381000">
                <a:tc>
                  <a:txBody>
                    <a:bodyPr/>
                    <a:lstStyle/>
                    <a:p>
                      <a:pPr>
                        <a:buNone/>
                      </a:pPr>
                      <a:r>
                        <a:rPr lang="zh-CN" altLang="en-US"/>
                        <a:t>年份</a:t>
                      </a:r>
                    </a:p>
                  </a:txBody>
                  <a:tcPr/>
                </a:tc>
                <a:tc>
                  <a:txBody>
                    <a:bodyPr/>
                    <a:lstStyle/>
                    <a:p>
                      <a:pPr>
                        <a:buNone/>
                      </a:pPr>
                      <a:r>
                        <a:rPr lang="en-US" altLang="zh-CN"/>
                        <a:t>2019</a:t>
                      </a:r>
                    </a:p>
                  </a:txBody>
                  <a:tcPr/>
                </a:tc>
                <a:tc>
                  <a:txBody>
                    <a:bodyPr/>
                    <a:lstStyle/>
                    <a:p>
                      <a:pPr>
                        <a:buNone/>
                      </a:pPr>
                      <a:r>
                        <a:rPr lang="en-US" altLang="zh-CN"/>
                        <a:t>2020</a:t>
                      </a:r>
                    </a:p>
                  </a:txBody>
                  <a:tcPr/>
                </a:tc>
                <a:tc>
                  <a:txBody>
                    <a:bodyPr/>
                    <a:lstStyle/>
                    <a:p>
                      <a:pPr>
                        <a:buNone/>
                      </a:pPr>
                      <a:r>
                        <a:rPr lang="en-US" altLang="zh-CN" dirty="0"/>
                        <a:t>2021</a:t>
                      </a:r>
                    </a:p>
                  </a:txBody>
                  <a:tcPr/>
                </a:tc>
                <a:tc>
                  <a:txBody>
                    <a:bodyPr/>
                    <a:lstStyle/>
                    <a:p>
                      <a:pPr>
                        <a:buNone/>
                      </a:pPr>
                      <a:r>
                        <a:rPr lang="en-US" altLang="zh-CN"/>
                        <a:t>2022</a:t>
                      </a:r>
                    </a:p>
                  </a:txBody>
                  <a:tcPr/>
                </a:tc>
                <a:tc>
                  <a:txBody>
                    <a:bodyPr/>
                    <a:lstStyle/>
                    <a:p>
                      <a:pPr>
                        <a:buNone/>
                      </a:pPr>
                      <a:r>
                        <a:rPr lang="en-US" altLang="zh-CN"/>
                        <a:t>2023</a:t>
                      </a:r>
                    </a:p>
                  </a:txBody>
                  <a:tcPr/>
                </a:tc>
                <a:extLst>
                  <a:ext uri="{0D108BD9-81ED-4DB2-BD59-A6C34878D82A}">
                    <a16:rowId xmlns:a16="http://schemas.microsoft.com/office/drawing/2014/main" val="10000"/>
                  </a:ext>
                </a:extLst>
              </a:tr>
              <a:tr h="381000">
                <a:tc>
                  <a:txBody>
                    <a:bodyPr/>
                    <a:lstStyle/>
                    <a:p>
                      <a:pPr>
                        <a:buNone/>
                      </a:pPr>
                      <a:r>
                        <a:rPr lang="zh-CN" altLang="en-US"/>
                        <a:t>流动比率</a:t>
                      </a:r>
                    </a:p>
                  </a:txBody>
                  <a:tcPr/>
                </a:tc>
                <a:tc>
                  <a:txBody>
                    <a:bodyPr/>
                    <a:lstStyle/>
                    <a:p>
                      <a:pPr>
                        <a:buNone/>
                      </a:pPr>
                      <a:r>
                        <a:rPr lang="zh-CN" altLang="en-US"/>
                        <a:t>3.8698</a:t>
                      </a:r>
                    </a:p>
                  </a:txBody>
                  <a:tcPr/>
                </a:tc>
                <a:tc>
                  <a:txBody>
                    <a:bodyPr/>
                    <a:lstStyle/>
                    <a:p>
                      <a:pPr>
                        <a:buNone/>
                      </a:pPr>
                      <a:r>
                        <a:rPr lang="zh-CN" altLang="en-US" dirty="0"/>
                        <a:t>4.0648</a:t>
                      </a:r>
                    </a:p>
                  </a:txBody>
                  <a:tcPr/>
                </a:tc>
                <a:tc>
                  <a:txBody>
                    <a:bodyPr/>
                    <a:lstStyle/>
                    <a:p>
                      <a:pPr>
                        <a:buNone/>
                      </a:pPr>
                      <a:r>
                        <a:rPr lang="zh-CN" altLang="en-US"/>
                        <a:t>3.8119</a:t>
                      </a:r>
                    </a:p>
                  </a:txBody>
                  <a:tcPr/>
                </a:tc>
                <a:tc>
                  <a:txBody>
                    <a:bodyPr/>
                    <a:lstStyle/>
                    <a:p>
                      <a:pPr>
                        <a:buNone/>
                      </a:pPr>
                      <a:r>
                        <a:rPr lang="zh-CN" altLang="en-US"/>
                        <a:t>4.4147</a:t>
                      </a:r>
                    </a:p>
                  </a:txBody>
                  <a:tcPr/>
                </a:tc>
                <a:tc>
                  <a:txBody>
                    <a:bodyPr/>
                    <a:lstStyle/>
                    <a:p>
                      <a:pPr>
                        <a:buNone/>
                      </a:pPr>
                      <a:r>
                        <a:rPr lang="zh-CN" altLang="en-US"/>
                        <a:t>4.6239</a:t>
                      </a:r>
                    </a:p>
                  </a:txBody>
                  <a:tcPr/>
                </a:tc>
                <a:extLst>
                  <a:ext uri="{0D108BD9-81ED-4DB2-BD59-A6C34878D82A}">
                    <a16:rowId xmlns:a16="http://schemas.microsoft.com/office/drawing/2014/main" val="10001"/>
                  </a:ext>
                </a:extLst>
              </a:tr>
              <a:tr h="381000">
                <a:tc>
                  <a:txBody>
                    <a:bodyPr/>
                    <a:lstStyle/>
                    <a:p>
                      <a:pPr>
                        <a:buNone/>
                      </a:pPr>
                      <a:r>
                        <a:rPr lang="zh-CN" altLang="en-US"/>
                        <a:t>速动比率</a:t>
                      </a:r>
                    </a:p>
                  </a:txBody>
                  <a:tcPr/>
                </a:tc>
                <a:tc>
                  <a:txBody>
                    <a:bodyPr/>
                    <a:lstStyle/>
                    <a:p>
                      <a:pPr>
                        <a:buNone/>
                      </a:pPr>
                      <a:r>
                        <a:rPr lang="zh-CN" altLang="en-US"/>
                        <a:t>3.2545</a:t>
                      </a:r>
                    </a:p>
                  </a:txBody>
                  <a:tcPr/>
                </a:tc>
                <a:tc>
                  <a:txBody>
                    <a:bodyPr/>
                    <a:lstStyle/>
                    <a:p>
                      <a:pPr>
                        <a:buNone/>
                      </a:pPr>
                      <a:r>
                        <a:rPr lang="zh-CN" altLang="en-US"/>
                        <a:t>3.4327</a:t>
                      </a:r>
                    </a:p>
                  </a:txBody>
                  <a:tcPr/>
                </a:tc>
                <a:tc>
                  <a:txBody>
                    <a:bodyPr/>
                    <a:lstStyle/>
                    <a:p>
                      <a:pPr>
                        <a:buNone/>
                      </a:pPr>
                      <a:r>
                        <a:rPr lang="zh-CN" altLang="en-US"/>
                        <a:t>3.2353</a:t>
                      </a:r>
                    </a:p>
                  </a:txBody>
                  <a:tcPr/>
                </a:tc>
                <a:tc>
                  <a:txBody>
                    <a:bodyPr/>
                    <a:lstStyle/>
                    <a:p>
                      <a:pPr>
                        <a:buNone/>
                      </a:pPr>
                      <a:r>
                        <a:rPr lang="zh-CN" altLang="en-US"/>
                        <a:t>3.6235</a:t>
                      </a:r>
                    </a:p>
                  </a:txBody>
                  <a:tcPr/>
                </a:tc>
                <a:tc>
                  <a:txBody>
                    <a:bodyPr/>
                    <a:lstStyle/>
                    <a:p>
                      <a:pPr>
                        <a:buNone/>
                      </a:pPr>
                      <a:r>
                        <a:rPr lang="zh-CN" altLang="en-US" dirty="0"/>
                        <a:t>3.6704</a:t>
                      </a:r>
                    </a:p>
                  </a:txBody>
                  <a:tcPr/>
                </a:tc>
                <a:extLst>
                  <a:ext uri="{0D108BD9-81ED-4DB2-BD59-A6C34878D82A}">
                    <a16:rowId xmlns:a16="http://schemas.microsoft.com/office/drawing/2014/main" val="10002"/>
                  </a:ext>
                </a:extLst>
              </a:tr>
            </a:tbl>
          </a:graphicData>
        </a:graphic>
      </p:graphicFrame>
      <p:graphicFrame>
        <p:nvGraphicFramePr>
          <p:cNvPr id="3" name="图表 2">
            <a:extLst>
              <a:ext uri="{FF2B5EF4-FFF2-40B4-BE49-F238E27FC236}">
                <a16:creationId xmlns:a16="http://schemas.microsoft.com/office/drawing/2014/main" id="{84451D61-2873-E5DB-9764-802B6B8D3FDE}"/>
              </a:ext>
            </a:extLst>
          </p:cNvPr>
          <p:cNvGraphicFramePr/>
          <p:nvPr>
            <p:extLst>
              <p:ext uri="{D42A27DB-BD31-4B8C-83A1-F6EECF244321}">
                <p14:modId xmlns:p14="http://schemas.microsoft.com/office/powerpoint/2010/main" val="3482955003"/>
              </p:ext>
            </p:extLst>
          </p:nvPr>
        </p:nvGraphicFramePr>
        <p:xfrm>
          <a:off x="160976" y="3036496"/>
          <a:ext cx="5675377" cy="2934821"/>
        </p:xfrm>
        <a:graphic>
          <a:graphicData uri="http://schemas.openxmlformats.org/drawingml/2006/chart">
            <c:chart xmlns:c="http://schemas.openxmlformats.org/drawingml/2006/chart" xmlns:r="http://schemas.openxmlformats.org/officeDocument/2006/relationships" r:id="rId4"/>
          </a:graphicData>
        </a:graphic>
      </p:graphicFrame>
      <p:sp>
        <p:nvSpPr>
          <p:cNvPr id="8" name="副标题 2">
            <a:extLst>
              <a:ext uri="{FF2B5EF4-FFF2-40B4-BE49-F238E27FC236}">
                <a16:creationId xmlns:a16="http://schemas.microsoft.com/office/drawing/2014/main" id="{082B3832-A367-C402-E3FC-6201F5CAA7AE}"/>
              </a:ext>
            </a:extLst>
          </p:cNvPr>
          <p:cNvSpPr txBox="1">
            <a:spLocks/>
          </p:cNvSpPr>
          <p:nvPr>
            <p:custDataLst>
              <p:tags r:id="rId2"/>
            </p:custDataLst>
          </p:nvPr>
        </p:nvSpPr>
        <p:spPr>
          <a:xfrm>
            <a:off x="6533033" y="3036496"/>
            <a:ext cx="4133161" cy="27328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900" dirty="0">
                <a:ea typeface="黑体" panose="02010609060101010101" charset="-122"/>
                <a:cs typeface="黑体" panose="02010609060101010101" charset="-122"/>
              </a:rPr>
              <a:t>就前两个表来看，2019~2023年贵州茅台的流动和速动比率整体呈现增长的趋势，从数据来看，主要是经营现金流量的增加引起的上升趋势。在2021年，流动比率和速动比率出现了同步大幅下降，几乎为近5年来的最低点，通过数据调查，发现预付账款在2021年，相比上年减少5.09亿，这是导致流动比率和速动比率下降的主要原因。</a:t>
            </a:r>
          </a:p>
        </p:txBody>
      </p:sp>
    </p:spTree>
    <p:extLst>
      <p:ext uri="{BB962C8B-B14F-4D97-AF65-F5344CB8AC3E}">
        <p14:creationId xmlns:p14="http://schemas.microsoft.com/office/powerpoint/2010/main" val="4141190204"/>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788E2E9-1BDA-35E5-E462-025464723F18}"/>
              </a:ext>
            </a:extLst>
          </p:cNvPr>
          <p:cNvPicPr>
            <a:picLocks noChangeAspect="1"/>
          </p:cNvPicPr>
          <p:nvPr/>
        </p:nvPicPr>
        <p:blipFill>
          <a:blip r:embed="rId3"/>
          <a:stretch>
            <a:fillRect/>
          </a:stretch>
        </p:blipFill>
        <p:spPr>
          <a:xfrm>
            <a:off x="1476919" y="935390"/>
            <a:ext cx="9240252" cy="5045409"/>
          </a:xfrm>
          <a:prstGeom prst="rect">
            <a:avLst/>
          </a:prstGeom>
        </p:spPr>
      </p:pic>
      <p:sp>
        <p:nvSpPr>
          <p:cNvPr id="19" name="任意多边形: 形状 18">
            <a:extLst>
              <a:ext uri="{FF2B5EF4-FFF2-40B4-BE49-F238E27FC236}">
                <a16:creationId xmlns:a16="http://schemas.microsoft.com/office/drawing/2014/main" id="{4643376D-0D46-4640-9A8F-2F89E457CC6F}"/>
              </a:ext>
            </a:extLst>
          </p:cNvPr>
          <p:cNvSpPr/>
          <p:nvPr/>
        </p:nvSpPr>
        <p:spPr>
          <a:xfrm>
            <a:off x="404353" y="3547242"/>
            <a:ext cx="11787648" cy="2443656"/>
          </a:xfrm>
          <a:custGeom>
            <a:avLst/>
            <a:gdLst>
              <a:gd name="connsiteX0" fmla="*/ 1402300 w 11787648"/>
              <a:gd name="connsiteY0" fmla="*/ 0 h 2443656"/>
              <a:gd name="connsiteX1" fmla="*/ 11787648 w 11787648"/>
              <a:gd name="connsiteY1" fmla="*/ 0 h 2443656"/>
              <a:gd name="connsiteX2" fmla="*/ 11787648 w 11787648"/>
              <a:gd name="connsiteY2" fmla="*/ 2443656 h 2443656"/>
              <a:gd name="connsiteX3" fmla="*/ 0 w 11787648"/>
              <a:gd name="connsiteY3" fmla="*/ 2443656 h 2443656"/>
            </a:gdLst>
            <a:ahLst/>
            <a:cxnLst>
              <a:cxn ang="0">
                <a:pos x="connsiteX0" y="connsiteY0"/>
              </a:cxn>
              <a:cxn ang="0">
                <a:pos x="connsiteX1" y="connsiteY1"/>
              </a:cxn>
              <a:cxn ang="0">
                <a:pos x="connsiteX2" y="connsiteY2"/>
              </a:cxn>
              <a:cxn ang="0">
                <a:pos x="connsiteX3" y="connsiteY3"/>
              </a:cxn>
            </a:cxnLst>
            <a:rect l="l" t="t" r="r" b="b"/>
            <a:pathLst>
              <a:path w="11787648" h="2443656">
                <a:moveTo>
                  <a:pt x="1402300" y="0"/>
                </a:moveTo>
                <a:lnTo>
                  <a:pt x="11787648" y="0"/>
                </a:lnTo>
                <a:lnTo>
                  <a:pt x="11787648" y="2443656"/>
                </a:lnTo>
                <a:lnTo>
                  <a:pt x="0" y="2443656"/>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19089507-A640-4EEA-91FF-104D3FE501CB}"/>
              </a:ext>
            </a:extLst>
          </p:cNvPr>
          <p:cNvSpPr txBox="1"/>
          <p:nvPr/>
        </p:nvSpPr>
        <p:spPr>
          <a:xfrm flipH="1">
            <a:off x="6436225" y="4338183"/>
            <a:ext cx="3184352" cy="584775"/>
          </a:xfrm>
          <a:prstGeom prst="rect">
            <a:avLst/>
          </a:prstGeom>
          <a:noFill/>
        </p:spPr>
        <p:txBody>
          <a:bodyPr wrap="square" rtlCol="0">
            <a:spAutoFit/>
          </a:bodyPr>
          <a:lstStyle/>
          <a:p>
            <a:pPr algn="r"/>
            <a:r>
              <a:rPr lang="zh-CN" altLang="en-US" sz="3200" dirty="0">
                <a:solidFill>
                  <a:srgbClr val="002060"/>
                </a:solidFill>
                <a:cs typeface="+mn-ea"/>
                <a:sym typeface="+mn-lt"/>
              </a:rPr>
              <a:t>资产周转情况</a:t>
            </a:r>
            <a:endParaRPr lang="en-US" altLang="zh-CN" sz="3200" dirty="0">
              <a:solidFill>
                <a:srgbClr val="002060"/>
              </a:solidFill>
              <a:cs typeface="+mn-ea"/>
              <a:sym typeface="+mn-lt"/>
            </a:endParaRPr>
          </a:p>
        </p:txBody>
      </p:sp>
      <p:grpSp>
        <p:nvGrpSpPr>
          <p:cNvPr id="3" name="组合 2">
            <a:extLst>
              <a:ext uri="{FF2B5EF4-FFF2-40B4-BE49-F238E27FC236}">
                <a16:creationId xmlns:a16="http://schemas.microsoft.com/office/drawing/2014/main" id="{EEE2CC03-6ACA-4429-BD21-92A0298575A7}"/>
              </a:ext>
            </a:extLst>
          </p:cNvPr>
          <p:cNvGrpSpPr/>
          <p:nvPr/>
        </p:nvGrpSpPr>
        <p:grpSpPr>
          <a:xfrm>
            <a:off x="9660675" y="3851070"/>
            <a:ext cx="1836000" cy="1836000"/>
            <a:chOff x="9620578" y="3901966"/>
            <a:chExt cx="1836000" cy="1836000"/>
          </a:xfrm>
        </p:grpSpPr>
        <p:sp>
          <p:nvSpPr>
            <p:cNvPr id="11" name="矩形 10">
              <a:extLst>
                <a:ext uri="{FF2B5EF4-FFF2-40B4-BE49-F238E27FC236}">
                  <a16:creationId xmlns:a16="http://schemas.microsoft.com/office/drawing/2014/main" id="{9468E86E-91DF-40FF-80AC-DCB7260C44CC}"/>
                </a:ext>
              </a:extLst>
            </p:cNvPr>
            <p:cNvSpPr/>
            <p:nvPr/>
          </p:nvSpPr>
          <p:spPr>
            <a:xfrm>
              <a:off x="9620578" y="3901966"/>
              <a:ext cx="1836000" cy="1836000"/>
            </a:xfrm>
            <a:prstGeom prst="rect">
              <a:avLst/>
            </a:prstGeom>
            <a:solidFill>
              <a:srgbClr val="FF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文本框 8">
              <a:extLst>
                <a:ext uri="{FF2B5EF4-FFF2-40B4-BE49-F238E27FC236}">
                  <a16:creationId xmlns:a16="http://schemas.microsoft.com/office/drawing/2014/main" id="{CF1E4694-8B88-4449-8AE9-813B6C40A029}"/>
                </a:ext>
              </a:extLst>
            </p:cNvPr>
            <p:cNvSpPr txBox="1"/>
            <p:nvPr/>
          </p:nvSpPr>
          <p:spPr>
            <a:xfrm>
              <a:off x="10038987" y="4358301"/>
              <a:ext cx="999183" cy="923330"/>
            </a:xfrm>
            <a:prstGeom prst="rect">
              <a:avLst/>
            </a:prstGeom>
            <a:noFill/>
          </p:spPr>
          <p:txBody>
            <a:bodyPr wrap="square" rtlCol="0">
              <a:spAutoFit/>
            </a:bodyPr>
            <a:lstStyle/>
            <a:p>
              <a:pPr algn="ctr"/>
              <a:r>
                <a:rPr lang="en-US" altLang="zh-CN" sz="5400" dirty="0">
                  <a:solidFill>
                    <a:schemeClr val="bg1"/>
                  </a:solidFill>
                  <a:cs typeface="+mn-ea"/>
                  <a:sym typeface="+mn-lt"/>
                </a:rPr>
                <a:t>05</a:t>
              </a:r>
            </a:p>
          </p:txBody>
        </p:sp>
      </p:grpSp>
      <p:sp>
        <p:nvSpPr>
          <p:cNvPr id="2" name="任意多边形: 形状 1">
            <a:extLst>
              <a:ext uri="{FF2B5EF4-FFF2-40B4-BE49-F238E27FC236}">
                <a16:creationId xmlns:a16="http://schemas.microsoft.com/office/drawing/2014/main" id="{0FF3C5F6-36CC-4533-9D6B-70F55C98CF0B}"/>
              </a:ext>
            </a:extLst>
          </p:cNvPr>
          <p:cNvSpPr/>
          <p:nvPr/>
        </p:nvSpPr>
        <p:spPr>
          <a:xfrm rot="10800000" flipH="1" flipV="1">
            <a:off x="-3352068" y="0"/>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4" name="直接连接符 13">
            <a:extLst>
              <a:ext uri="{FF2B5EF4-FFF2-40B4-BE49-F238E27FC236}">
                <a16:creationId xmlns:a16="http://schemas.microsoft.com/office/drawing/2014/main" id="{E56ACB86-6645-4604-8B7A-F2818BD0C4E7}"/>
              </a:ext>
            </a:extLst>
          </p:cNvPr>
          <p:cNvCxnSpPr>
            <a:cxnSpLocks/>
          </p:cNvCxnSpPr>
          <p:nvPr/>
        </p:nvCxnSpPr>
        <p:spPr>
          <a:xfrm flipH="1">
            <a:off x="653211" y="5860509"/>
            <a:ext cx="574850" cy="9974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86D71DB-DCAD-4E60-8891-F20BC4BB6EBD}"/>
              </a:ext>
            </a:extLst>
          </p:cNvPr>
          <p:cNvCxnSpPr>
            <a:cxnSpLocks/>
          </p:cNvCxnSpPr>
          <p:nvPr/>
        </p:nvCxnSpPr>
        <p:spPr>
          <a:xfrm flipH="1">
            <a:off x="761896" y="5670729"/>
            <a:ext cx="466166" cy="80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79E2DEB-179D-43EE-9F31-090241BD6378}"/>
              </a:ext>
            </a:extLst>
          </p:cNvPr>
          <p:cNvCxnSpPr>
            <a:cxnSpLocks/>
          </p:cNvCxnSpPr>
          <p:nvPr/>
        </p:nvCxnSpPr>
        <p:spPr>
          <a:xfrm flipH="1">
            <a:off x="4704111" y="-1"/>
            <a:ext cx="318036" cy="5518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12CE56F-4FC2-4F89-BCAE-72922C853D62}"/>
              </a:ext>
            </a:extLst>
          </p:cNvPr>
          <p:cNvCxnSpPr>
            <a:cxnSpLocks/>
          </p:cNvCxnSpPr>
          <p:nvPr/>
        </p:nvCxnSpPr>
        <p:spPr>
          <a:xfrm flipH="1">
            <a:off x="1739721" y="0"/>
            <a:ext cx="3952233" cy="6858000"/>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sp>
        <p:nvSpPr>
          <p:cNvPr id="13" name="平行四边形 12">
            <a:extLst>
              <a:ext uri="{FF2B5EF4-FFF2-40B4-BE49-F238E27FC236}">
                <a16:creationId xmlns:a16="http://schemas.microsoft.com/office/drawing/2014/main" id="{2CCBB89C-5C40-418B-AC8C-3F7746D1FE26}"/>
              </a:ext>
            </a:extLst>
          </p:cNvPr>
          <p:cNvSpPr/>
          <p:nvPr/>
        </p:nvSpPr>
        <p:spPr>
          <a:xfrm>
            <a:off x="2483992" y="4007617"/>
            <a:ext cx="995991" cy="1402664"/>
          </a:xfrm>
          <a:prstGeom prst="parallelogram">
            <a:avLst>
              <a:gd name="adj" fmla="val 81010"/>
            </a:avLst>
          </a:prstGeom>
          <a:solidFill>
            <a:srgbClr val="FF990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1" name="任意多边形: 形状 20">
            <a:extLst>
              <a:ext uri="{FF2B5EF4-FFF2-40B4-BE49-F238E27FC236}">
                <a16:creationId xmlns:a16="http://schemas.microsoft.com/office/drawing/2014/main" id="{238BC879-81A2-4D7E-B902-82D6633A6280}"/>
              </a:ext>
            </a:extLst>
          </p:cNvPr>
          <p:cNvSpPr/>
          <p:nvPr/>
        </p:nvSpPr>
        <p:spPr>
          <a:xfrm rot="10800000" flipH="1" flipV="1">
            <a:off x="-5703389" y="-958822"/>
            <a:ext cx="8873469" cy="6858000"/>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BDC61BC7-F7AB-DEA0-4CEA-03559A9ED8CC}"/>
              </a:ext>
            </a:extLst>
          </p:cNvPr>
          <p:cNvSpPr txBox="1"/>
          <p:nvPr/>
        </p:nvSpPr>
        <p:spPr>
          <a:xfrm>
            <a:off x="7676369" y="4859546"/>
            <a:ext cx="2026244" cy="307777"/>
          </a:xfrm>
          <a:prstGeom prst="rect">
            <a:avLst/>
          </a:prstGeom>
          <a:noFill/>
        </p:spPr>
        <p:txBody>
          <a:bodyPr wrap="square" rtlCol="0">
            <a:spAutoFit/>
          </a:bodyPr>
          <a:lstStyle/>
          <a:p>
            <a:r>
              <a:rPr lang="en-US" altLang="zh-CN" sz="1400" spc="300" dirty="0">
                <a:latin typeface="Segoe UI Web (West European)"/>
              </a:rPr>
              <a:t>Asset turnover</a:t>
            </a:r>
            <a:endParaRPr lang="zh-CN" altLang="en-US" sz="1400" spc="300" dirty="0">
              <a:solidFill>
                <a:srgbClr val="002060"/>
              </a:solidFill>
              <a:latin typeface="Arial" panose="020B0604020202020204" pitchFamily="34" charset="0"/>
              <a:cs typeface="Arial" panose="020B0604020202020204" pitchFamily="34" charset="0"/>
              <a:sym typeface="+mn-lt"/>
            </a:endParaRPr>
          </a:p>
        </p:txBody>
      </p:sp>
    </p:spTree>
    <p:extLst>
      <p:ext uri="{BB962C8B-B14F-4D97-AF65-F5344CB8AC3E}">
        <p14:creationId xmlns:p14="http://schemas.microsoft.com/office/powerpoint/2010/main" val="3353688433"/>
      </p:ext>
    </p:extLst>
  </p:cSld>
  <p:clrMapOvr>
    <a:masterClrMapping/>
  </p:clrMapOvr>
  <mc:AlternateContent xmlns:mc="http://schemas.openxmlformats.org/markup-compatibility/2006">
    <mc:Choice xmlns:p14="http://schemas.microsoft.com/office/powerpoint/2010/main" Requires="p14">
      <p:transition spd="slow" p14:dur="1600" advClick="0" advTm="0">
        <p14:gallery dir="l"/>
      </p:transition>
    </mc:Choice>
    <mc:Fallback>
      <p:transition spd="slow" advClick="0"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69000">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14:bounceEnd="69000">
                                          <p:cBhvr additive="base">
                                            <p:cTn id="11" dur="750" fill="hold"/>
                                            <p:tgtEl>
                                              <p:spTgt spid="21"/>
                                            </p:tgtEl>
                                            <p:attrNameLst>
                                              <p:attrName>ppt_x</p:attrName>
                                            </p:attrNameLst>
                                          </p:cBhvr>
                                          <p:tavLst>
                                            <p:tav tm="0">
                                              <p:val>
                                                <p:strVal val="0-#ppt_w/2"/>
                                              </p:val>
                                            </p:tav>
                                            <p:tav tm="100000">
                                              <p:val>
                                                <p:strVal val="#ppt_x"/>
                                              </p:val>
                                            </p:tav>
                                          </p:tavLst>
                                        </p:anim>
                                        <p:anim calcmode="lin" valueType="num" p14:bounceEnd="69000">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75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25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500"/>
                                </p:stCondLst>
                                <p:childTnLst>
                                  <p:par>
                                    <p:cTn id="38" presetID="16" presetClass="entr" presetSubtype="4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outHorizontal)">
                                          <p:cBhvr>
                                            <p:cTn id="40" dur="750"/>
                                            <p:tgtEl>
                                              <p:spTgt spid="13"/>
                                            </p:tgtEl>
                                          </p:cBhvr>
                                        </p:animEffect>
                                      </p:childTnLst>
                                    </p:cTn>
                                  </p:par>
                                  <p:par>
                                    <p:cTn id="41" presetID="2" presetClass="entr" presetSubtype="1" accel="40000" fill="hold" nodeType="withEffect" p14:presetBounceEnd="60000">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14:bounceEnd="60000">
                                          <p:cBhvr additive="base">
                                            <p:cTn id="43" dur="750" fill="hold"/>
                                            <p:tgtEl>
                                              <p:spTgt spid="16"/>
                                            </p:tgtEl>
                                            <p:attrNameLst>
                                              <p:attrName>ppt_x</p:attrName>
                                            </p:attrNameLst>
                                          </p:cBhvr>
                                          <p:tavLst>
                                            <p:tav tm="0">
                                              <p:val>
                                                <p:strVal val="#ppt_x"/>
                                              </p:val>
                                            </p:tav>
                                            <p:tav tm="100000">
                                              <p:val>
                                                <p:strVal val="#ppt_x"/>
                                              </p:val>
                                            </p:tav>
                                          </p:tavLst>
                                        </p:anim>
                                        <p:anim calcmode="lin" valueType="num" p14:bounceEnd="60000">
                                          <p:cBhvr additive="base">
                                            <p:cTn id="44" dur="750" fill="hold"/>
                                            <p:tgtEl>
                                              <p:spTgt spid="16"/>
                                            </p:tgtEl>
                                            <p:attrNameLst>
                                              <p:attrName>ppt_y</p:attrName>
                                            </p:attrNameLst>
                                          </p:cBhvr>
                                          <p:tavLst>
                                            <p:tav tm="0">
                                              <p:val>
                                                <p:strVal val="0-#ppt_h/2"/>
                                              </p:val>
                                            </p:tav>
                                            <p:tav tm="100000">
                                              <p:val>
                                                <p:strVal val="#ppt_y"/>
                                              </p:val>
                                            </p:tav>
                                          </p:tavLst>
                                        </p:anim>
                                      </p:childTnLst>
                                    </p:cTn>
                                  </p:par>
                                  <p:par>
                                    <p:cTn id="45" presetID="2" presetClass="entr" presetSubtype="4" accel="40000" fill="hold" nodeType="withEffect" p14:presetBounceEnd="60000">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14:bounceEnd="60000">
                                          <p:cBhvr additive="base">
                                            <p:cTn id="47" dur="75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48" dur="75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accel="40000" fill="hold" nodeType="withEffect" p14:presetBounceEnd="60000">
                                      <p:stCondLst>
                                        <p:cond delay="500"/>
                                      </p:stCondLst>
                                      <p:childTnLst>
                                        <p:set>
                                          <p:cBhvr>
                                            <p:cTn id="50" dur="1" fill="hold">
                                              <p:stCondLst>
                                                <p:cond delay="0"/>
                                              </p:stCondLst>
                                            </p:cTn>
                                            <p:tgtEl>
                                              <p:spTgt spid="15"/>
                                            </p:tgtEl>
                                            <p:attrNameLst>
                                              <p:attrName>style.visibility</p:attrName>
                                            </p:attrNameLst>
                                          </p:cBhvr>
                                          <p:to>
                                            <p:strVal val="visible"/>
                                          </p:to>
                                        </p:set>
                                        <p:anim calcmode="lin" valueType="num" p14:bounceEnd="60000">
                                          <p:cBhvr additive="base">
                                            <p:cTn id="51" dur="750" fill="hold"/>
                                            <p:tgtEl>
                                              <p:spTgt spid="15"/>
                                            </p:tgtEl>
                                            <p:attrNameLst>
                                              <p:attrName>ppt_x</p:attrName>
                                            </p:attrNameLst>
                                          </p:cBhvr>
                                          <p:tavLst>
                                            <p:tav tm="0">
                                              <p:val>
                                                <p:strVal val="#ppt_x"/>
                                              </p:val>
                                            </p:tav>
                                            <p:tav tm="100000">
                                              <p:val>
                                                <p:strVal val="#ppt_x"/>
                                              </p:val>
                                            </p:tav>
                                          </p:tavLst>
                                        </p:anim>
                                        <p:anim calcmode="lin" valueType="num" p14:bounceEnd="60000">
                                          <p:cBhvr additive="base">
                                            <p:cTn id="52" dur="7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0-#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2" decel="10000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1+#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par>
                                    <p:cTn id="18" presetID="2" presetClass="entr" presetSubtype="2" decel="100000" fill="hold" nodeType="withEffect">
                                      <p:stCondLst>
                                        <p:cond delay="25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750" fill="hold"/>
                                            <p:tgtEl>
                                              <p:spTgt spid="3"/>
                                            </p:tgtEl>
                                            <p:attrNameLst>
                                              <p:attrName>ppt_x</p:attrName>
                                            </p:attrNameLst>
                                          </p:cBhvr>
                                          <p:tavLst>
                                            <p:tav tm="0">
                                              <p:val>
                                                <p:strVal val="1+#ppt_w/2"/>
                                              </p:val>
                                            </p:tav>
                                            <p:tav tm="100000">
                                              <p:val>
                                                <p:strVal val="#ppt_x"/>
                                              </p:val>
                                            </p:tav>
                                          </p:tavLst>
                                        </p:anim>
                                        <p:anim calcmode="lin" valueType="num">
                                          <p:cBhvr additive="base">
                                            <p:cTn id="21" dur="75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750"/>
                                </p:stCondLst>
                                <p:childTnLst>
                                  <p:par>
                                    <p:cTn id="27" presetID="2" presetClass="entr" presetSubtype="4"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25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500"/>
                                </p:stCondLst>
                                <p:childTnLst>
                                  <p:par>
                                    <p:cTn id="38" presetID="16" presetClass="entr" presetSubtype="42"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outHorizontal)">
                                          <p:cBhvr>
                                            <p:cTn id="40" dur="750"/>
                                            <p:tgtEl>
                                              <p:spTgt spid="13"/>
                                            </p:tgtEl>
                                          </p:cBhvr>
                                        </p:animEffect>
                                      </p:childTnLst>
                                    </p:cTn>
                                  </p:par>
                                  <p:par>
                                    <p:cTn id="41" presetID="2" presetClass="entr" presetSubtype="1" accel="4000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750" fill="hold"/>
                                            <p:tgtEl>
                                              <p:spTgt spid="16"/>
                                            </p:tgtEl>
                                            <p:attrNameLst>
                                              <p:attrName>ppt_x</p:attrName>
                                            </p:attrNameLst>
                                          </p:cBhvr>
                                          <p:tavLst>
                                            <p:tav tm="0">
                                              <p:val>
                                                <p:strVal val="#ppt_x"/>
                                              </p:val>
                                            </p:tav>
                                            <p:tav tm="100000">
                                              <p:val>
                                                <p:strVal val="#ppt_x"/>
                                              </p:val>
                                            </p:tav>
                                          </p:tavLst>
                                        </p:anim>
                                        <p:anim calcmode="lin" valueType="num">
                                          <p:cBhvr additive="base">
                                            <p:cTn id="44" dur="750" fill="hold"/>
                                            <p:tgtEl>
                                              <p:spTgt spid="16"/>
                                            </p:tgtEl>
                                            <p:attrNameLst>
                                              <p:attrName>ppt_y</p:attrName>
                                            </p:attrNameLst>
                                          </p:cBhvr>
                                          <p:tavLst>
                                            <p:tav tm="0">
                                              <p:val>
                                                <p:strVal val="0-#ppt_h/2"/>
                                              </p:val>
                                            </p:tav>
                                            <p:tav tm="100000">
                                              <p:val>
                                                <p:strVal val="#ppt_y"/>
                                              </p:val>
                                            </p:tav>
                                          </p:tavLst>
                                        </p:anim>
                                      </p:childTnLst>
                                    </p:cTn>
                                  </p:par>
                                  <p:par>
                                    <p:cTn id="45" presetID="2" presetClass="entr" presetSubtype="4" accel="40000" fill="hold" nodeType="with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750" fill="hold"/>
                                            <p:tgtEl>
                                              <p:spTgt spid="14"/>
                                            </p:tgtEl>
                                            <p:attrNameLst>
                                              <p:attrName>ppt_x</p:attrName>
                                            </p:attrNameLst>
                                          </p:cBhvr>
                                          <p:tavLst>
                                            <p:tav tm="0">
                                              <p:val>
                                                <p:strVal val="#ppt_x"/>
                                              </p:val>
                                            </p:tav>
                                            <p:tav tm="100000">
                                              <p:val>
                                                <p:strVal val="#ppt_x"/>
                                              </p:val>
                                            </p:tav>
                                          </p:tavLst>
                                        </p:anim>
                                        <p:anim calcmode="lin" valueType="num">
                                          <p:cBhvr additive="base">
                                            <p:cTn id="48" dur="75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accel="40000" fill="hold" nodeType="withEffect">
                                      <p:stCondLst>
                                        <p:cond delay="50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750" fill="hold"/>
                                            <p:tgtEl>
                                              <p:spTgt spid="15"/>
                                            </p:tgtEl>
                                            <p:attrNameLst>
                                              <p:attrName>ppt_x</p:attrName>
                                            </p:attrNameLst>
                                          </p:cBhvr>
                                          <p:tavLst>
                                            <p:tav tm="0">
                                              <p:val>
                                                <p:strVal val="#ppt_x"/>
                                              </p:val>
                                            </p:tav>
                                            <p:tav tm="100000">
                                              <p:val>
                                                <p:strVal val="#ppt_x"/>
                                              </p:val>
                                            </p:tav>
                                          </p:tavLst>
                                        </p:anim>
                                        <p:anim calcmode="lin" valueType="num">
                                          <p:cBhvr additive="base">
                                            <p:cTn id="52" dur="7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p:bldP spid="2" grpId="0" animBg="1"/>
          <p:bldP spid="13" grpId="0" animBg="1"/>
          <p:bldP spid="21" grpId="0" animBg="1"/>
          <p:bldP spid="5"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C69053B-716F-A9DB-8DB9-912706793CCD}"/>
              </a:ext>
            </a:extLst>
          </p:cNvPr>
          <p:cNvSpPr/>
          <p:nvPr/>
        </p:nvSpPr>
        <p:spPr>
          <a:xfrm>
            <a:off x="1657663" y="2388583"/>
            <a:ext cx="8695626" cy="2768028"/>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1AA3A2CC-8442-ED9A-717D-1E41CBB32C77}"/>
              </a:ext>
            </a:extLst>
          </p:cNvPr>
          <p:cNvSpPr txBox="1"/>
          <p:nvPr/>
        </p:nvSpPr>
        <p:spPr>
          <a:xfrm>
            <a:off x="380280" y="408968"/>
            <a:ext cx="1979956" cy="307777"/>
          </a:xfrm>
          <a:prstGeom prst="rect">
            <a:avLst/>
          </a:prstGeom>
          <a:noFill/>
        </p:spPr>
        <p:txBody>
          <a:bodyPr wrap="square" rtlCol="0">
            <a:spAutoFit/>
          </a:bodyPr>
          <a:lstStyle/>
          <a:p>
            <a:pPr algn="ctr"/>
            <a:r>
              <a:rPr lang="zh-CN" altLang="en-US" sz="1400" b="1" dirty="0">
                <a:cs typeface="+mn-ea"/>
                <a:sym typeface="+mn-lt"/>
              </a:rPr>
              <a:t>资产周转情况</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sp>
        <p:nvSpPr>
          <p:cNvPr id="18" name="文本框 17">
            <a:extLst>
              <a:ext uri="{FF2B5EF4-FFF2-40B4-BE49-F238E27FC236}">
                <a16:creationId xmlns:a16="http://schemas.microsoft.com/office/drawing/2014/main" id="{660C6D69-4296-17BC-ECC5-A8B617BE7A44}"/>
              </a:ext>
            </a:extLst>
          </p:cNvPr>
          <p:cNvSpPr txBox="1"/>
          <p:nvPr/>
        </p:nvSpPr>
        <p:spPr>
          <a:xfrm>
            <a:off x="1787181" y="2756935"/>
            <a:ext cx="8436590" cy="2031325"/>
          </a:xfrm>
          <a:prstGeom prst="rect">
            <a:avLst/>
          </a:prstGeom>
          <a:noFill/>
        </p:spPr>
        <p:txBody>
          <a:bodyPr wrap="square" rtlCol="0">
            <a:spAutoFit/>
          </a:bodyPr>
          <a:lstStyle/>
          <a:p>
            <a:pPr lvl="0" defTabSz="914400">
              <a:defRPr/>
            </a:pPr>
            <a:r>
              <a:rPr lang="zh-CN" altLang="en-US" dirty="0">
                <a:solidFill>
                  <a:srgbClr val="000000"/>
                </a:solidFill>
                <a:latin typeface="Calibri Light"/>
                <a:ea typeface="微软雅黑 Light"/>
              </a:rPr>
              <a:t>从表格上来</a:t>
            </a:r>
            <a:r>
              <a:rPr lang="en-US" altLang="zh-CN" dirty="0">
                <a:solidFill>
                  <a:srgbClr val="000000"/>
                </a:solidFill>
                <a:latin typeface="Calibri Light"/>
                <a:ea typeface="微软雅黑 Light"/>
              </a:rPr>
              <a:t>2019</a:t>
            </a:r>
            <a:r>
              <a:rPr lang="zh-CN" altLang="en-US" dirty="0">
                <a:solidFill>
                  <a:srgbClr val="000000"/>
                </a:solidFill>
                <a:latin typeface="Calibri Light"/>
                <a:ea typeface="微软雅黑 Light"/>
              </a:rPr>
              <a:t>到</a:t>
            </a:r>
            <a:r>
              <a:rPr lang="en-US" altLang="zh-CN" dirty="0">
                <a:solidFill>
                  <a:srgbClr val="000000"/>
                </a:solidFill>
                <a:latin typeface="Calibri Light"/>
                <a:ea typeface="微软雅黑 Light"/>
              </a:rPr>
              <a:t>2023</a:t>
            </a:r>
            <a:r>
              <a:rPr lang="zh-CN" altLang="en-US" dirty="0">
                <a:solidFill>
                  <a:srgbClr val="000000"/>
                </a:solidFill>
                <a:latin typeface="Calibri Light"/>
                <a:ea typeface="微软雅黑 Light"/>
              </a:rPr>
              <a:t>总资产周转率都是比较低的。而</a:t>
            </a:r>
            <a:r>
              <a:rPr lang="en-US" altLang="zh-CN" dirty="0">
                <a:solidFill>
                  <a:srgbClr val="000000"/>
                </a:solidFill>
                <a:latin typeface="Calibri Light"/>
                <a:ea typeface="微软雅黑 Light"/>
              </a:rPr>
              <a:t>2023</a:t>
            </a:r>
            <a:r>
              <a:rPr lang="zh-CN" altLang="en-US" dirty="0">
                <a:solidFill>
                  <a:srgbClr val="000000"/>
                </a:solidFill>
                <a:latin typeface="Calibri Light"/>
                <a:ea typeface="微软雅黑 Light"/>
              </a:rPr>
              <a:t>年贵州茅台的总资产周转率最高也仅为</a:t>
            </a:r>
            <a:r>
              <a:rPr lang="en-US" altLang="zh-CN" dirty="0">
                <a:solidFill>
                  <a:srgbClr val="000000"/>
                </a:solidFill>
                <a:latin typeface="Calibri Light"/>
                <a:ea typeface="微软雅黑 Light"/>
              </a:rPr>
              <a:t>0.56</a:t>
            </a:r>
            <a:r>
              <a:rPr lang="zh-CN" altLang="en-US" dirty="0">
                <a:solidFill>
                  <a:srgbClr val="000000"/>
                </a:solidFill>
                <a:latin typeface="Calibri Light"/>
                <a:ea typeface="微软雅黑 Light"/>
              </a:rPr>
              <a:t>，这表明公司在</a:t>
            </a:r>
            <a:r>
              <a:rPr lang="en-US" altLang="zh-CN" dirty="0">
                <a:solidFill>
                  <a:srgbClr val="000000"/>
                </a:solidFill>
                <a:latin typeface="Calibri Light"/>
                <a:ea typeface="微软雅黑 Light"/>
              </a:rPr>
              <a:t>2023</a:t>
            </a:r>
            <a:r>
              <a:rPr lang="zh-CN" altLang="en-US" dirty="0">
                <a:solidFill>
                  <a:srgbClr val="000000"/>
                </a:solidFill>
                <a:latin typeface="Calibri Light"/>
                <a:ea typeface="微软雅黑 Light"/>
              </a:rPr>
              <a:t>年期间使用其总资产来产生销售收入的效率相对较慢。总资产周转率是衡量企业运营效率的一个关键指标，总资产周转率低也显示了公司在一年内通过其资产产生销售收入的能力较低。 总资产周转率的原因：一是贵州茅台的业务模式相对单一，主要是酒类生产和销售，资产周转速度受到生产和销售周期的影响较大；二是贵州茅台的产能较为有限，供不应求，公司不需要过多地使用流动资产进行扩张和投资，也导致了总资产周转率较低。</a:t>
            </a:r>
          </a:p>
        </p:txBody>
      </p:sp>
      <p:pic>
        <p:nvPicPr>
          <p:cNvPr id="9" name="图片 8" descr="图片包含 食物, 桌子, 水, 站&#10;&#10;描述已自动生成">
            <a:extLst>
              <a:ext uri="{FF2B5EF4-FFF2-40B4-BE49-F238E27FC236}">
                <a16:creationId xmlns:a16="http://schemas.microsoft.com/office/drawing/2014/main" id="{B59AD303-233D-D89B-9EAA-76A36746E04F}"/>
              </a:ext>
            </a:extLst>
          </p:cNvPr>
          <p:cNvPicPr>
            <a:picLocks noChangeAspect="1"/>
          </p:cNvPicPr>
          <p:nvPr/>
        </p:nvPicPr>
        <p:blipFill rotWithShape="1">
          <a:blip r:embed="rId2">
            <a:extLst>
              <a:ext uri="{28A0092B-C50C-407E-A947-70E740481C1C}">
                <a14:useLocalDpi xmlns:a14="http://schemas.microsoft.com/office/drawing/2010/main" val="0"/>
              </a:ext>
            </a:extLst>
          </a:blip>
          <a:srcRect l="27150" t="2425" r="26042" b="7512"/>
          <a:stretch/>
        </p:blipFill>
        <p:spPr>
          <a:xfrm>
            <a:off x="11176349" y="3695307"/>
            <a:ext cx="1015651" cy="2083324"/>
          </a:xfrm>
          <a:prstGeom prst="rect">
            <a:avLst/>
          </a:prstGeom>
        </p:spPr>
      </p:pic>
      <p:graphicFrame>
        <p:nvGraphicFramePr>
          <p:cNvPr id="4" name="表格 3">
            <a:extLst>
              <a:ext uri="{FF2B5EF4-FFF2-40B4-BE49-F238E27FC236}">
                <a16:creationId xmlns:a16="http://schemas.microsoft.com/office/drawing/2014/main" id="{50EB8FBD-5601-B415-D00B-78BDC1E111C7}"/>
              </a:ext>
            </a:extLst>
          </p:cNvPr>
          <p:cNvGraphicFramePr>
            <a:graphicFrameLocks noGrp="1"/>
          </p:cNvGraphicFramePr>
          <p:nvPr>
            <p:extLst>
              <p:ext uri="{D42A27DB-BD31-4B8C-83A1-F6EECF244321}">
                <p14:modId xmlns:p14="http://schemas.microsoft.com/office/powerpoint/2010/main" val="663981601"/>
              </p:ext>
            </p:extLst>
          </p:nvPr>
        </p:nvGraphicFramePr>
        <p:xfrm>
          <a:off x="2101758" y="1166648"/>
          <a:ext cx="7988484" cy="1037759"/>
        </p:xfrm>
        <a:graphic>
          <a:graphicData uri="http://schemas.openxmlformats.org/drawingml/2006/table">
            <a:tbl>
              <a:tblPr firstRow="1" bandRow="1">
                <a:tableStyleId>{5C22544A-7EE6-4342-B048-85BDC9FD1C3A}</a:tableStyleId>
              </a:tblPr>
              <a:tblGrid>
                <a:gridCol w="1612922">
                  <a:extLst>
                    <a:ext uri="{9D8B030D-6E8A-4147-A177-3AD203B41FA5}">
                      <a16:colId xmlns:a16="http://schemas.microsoft.com/office/drawing/2014/main" val="1514594848"/>
                    </a:ext>
                  </a:extLst>
                </a:gridCol>
                <a:gridCol w="1298380">
                  <a:extLst>
                    <a:ext uri="{9D8B030D-6E8A-4147-A177-3AD203B41FA5}">
                      <a16:colId xmlns:a16="http://schemas.microsoft.com/office/drawing/2014/main" val="1371576124"/>
                    </a:ext>
                  </a:extLst>
                </a:gridCol>
                <a:gridCol w="1298380">
                  <a:extLst>
                    <a:ext uri="{9D8B030D-6E8A-4147-A177-3AD203B41FA5}">
                      <a16:colId xmlns:a16="http://schemas.microsoft.com/office/drawing/2014/main" val="2492939241"/>
                    </a:ext>
                  </a:extLst>
                </a:gridCol>
                <a:gridCol w="1298380">
                  <a:extLst>
                    <a:ext uri="{9D8B030D-6E8A-4147-A177-3AD203B41FA5}">
                      <a16:colId xmlns:a16="http://schemas.microsoft.com/office/drawing/2014/main" val="2776538220"/>
                    </a:ext>
                  </a:extLst>
                </a:gridCol>
                <a:gridCol w="1240211">
                  <a:extLst>
                    <a:ext uri="{9D8B030D-6E8A-4147-A177-3AD203B41FA5}">
                      <a16:colId xmlns:a16="http://schemas.microsoft.com/office/drawing/2014/main" val="3413898050"/>
                    </a:ext>
                  </a:extLst>
                </a:gridCol>
                <a:gridCol w="1240211">
                  <a:extLst>
                    <a:ext uri="{9D8B030D-6E8A-4147-A177-3AD203B41FA5}">
                      <a16:colId xmlns:a16="http://schemas.microsoft.com/office/drawing/2014/main" val="736412465"/>
                    </a:ext>
                  </a:extLst>
                </a:gridCol>
              </a:tblGrid>
              <a:tr h="0">
                <a:tc>
                  <a:txBody>
                    <a:bodyPr/>
                    <a:lstStyle/>
                    <a:p>
                      <a:r>
                        <a:rPr lang="zh-CN" altLang="en-US" sz="1600" dirty="0"/>
                        <a:t>年份</a:t>
                      </a:r>
                    </a:p>
                  </a:txBody>
                  <a:tcPr/>
                </a:tc>
                <a:tc>
                  <a:txBody>
                    <a:bodyPr/>
                    <a:lstStyle/>
                    <a:p>
                      <a:r>
                        <a:rPr lang="en-US" altLang="zh-CN" sz="1600" dirty="0"/>
                        <a:t>2019</a:t>
                      </a:r>
                      <a:endParaRPr lang="zh-CN" altLang="en-US" sz="1600" dirty="0"/>
                    </a:p>
                  </a:txBody>
                  <a:tcPr/>
                </a:tc>
                <a:tc>
                  <a:txBody>
                    <a:bodyPr/>
                    <a:lstStyle/>
                    <a:p>
                      <a:r>
                        <a:rPr lang="en-US" altLang="zh-CN" sz="1600" dirty="0"/>
                        <a:t>2020</a:t>
                      </a:r>
                      <a:endParaRPr lang="zh-CN" altLang="en-US" sz="1600" dirty="0"/>
                    </a:p>
                  </a:txBody>
                  <a:tcPr/>
                </a:tc>
                <a:tc>
                  <a:txBody>
                    <a:bodyPr/>
                    <a:lstStyle/>
                    <a:p>
                      <a:r>
                        <a:rPr lang="en-US" altLang="zh-CN" sz="1600" dirty="0"/>
                        <a:t>2021</a:t>
                      </a:r>
                      <a:endParaRPr lang="zh-CN" altLang="en-US" sz="1600" dirty="0"/>
                    </a:p>
                  </a:txBody>
                  <a:tcPr/>
                </a:tc>
                <a:tc>
                  <a:txBody>
                    <a:bodyPr/>
                    <a:lstStyle/>
                    <a:p>
                      <a:r>
                        <a:rPr lang="en-US" altLang="zh-CN" sz="1600" dirty="0"/>
                        <a:t>2022</a:t>
                      </a:r>
                      <a:endParaRPr lang="zh-CN" altLang="en-US" sz="1600" dirty="0"/>
                    </a:p>
                  </a:txBody>
                  <a:tcPr/>
                </a:tc>
                <a:tc>
                  <a:txBody>
                    <a:bodyPr/>
                    <a:lstStyle/>
                    <a:p>
                      <a:r>
                        <a:rPr lang="en-US" altLang="zh-CN" sz="1600" dirty="0"/>
                        <a:t>2023</a:t>
                      </a:r>
                      <a:endParaRPr lang="zh-CN" altLang="en-US" sz="1600" dirty="0"/>
                    </a:p>
                  </a:txBody>
                  <a:tcPr/>
                </a:tc>
                <a:extLst>
                  <a:ext uri="{0D108BD9-81ED-4DB2-BD59-A6C34878D82A}">
                    <a16:rowId xmlns:a16="http://schemas.microsoft.com/office/drawing/2014/main" val="3425190331"/>
                  </a:ext>
                </a:extLst>
              </a:tr>
              <a:tr h="367199">
                <a:tc>
                  <a:txBody>
                    <a:bodyPr/>
                    <a:lstStyle/>
                    <a:p>
                      <a:r>
                        <a:rPr lang="zh-CN" altLang="en-US" sz="1600" dirty="0"/>
                        <a:t>总资产周转率</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0.4983</a:t>
                      </a:r>
                      <a:endParaRPr lang="zh-CN" altLang="en-US" sz="1600" dirty="0"/>
                    </a:p>
                  </a:txBody>
                  <a:tcPr/>
                </a:tc>
                <a:tc>
                  <a:txBody>
                    <a:bodyPr/>
                    <a:lstStyle/>
                    <a:p>
                      <a:r>
                        <a:rPr lang="en-US" altLang="zh-CN" sz="1600" dirty="0"/>
                        <a:t>0.4788</a:t>
                      </a:r>
                      <a:endParaRPr lang="zh-CN" altLang="en-US" sz="1600" dirty="0"/>
                    </a:p>
                  </a:txBody>
                  <a:tcPr/>
                </a:tc>
                <a:tc>
                  <a:txBody>
                    <a:bodyPr/>
                    <a:lstStyle/>
                    <a:p>
                      <a:r>
                        <a:rPr lang="en-US" altLang="zh-CN" sz="1600" dirty="0"/>
                        <a:t>0.4533</a:t>
                      </a:r>
                      <a:endParaRPr lang="zh-CN" altLang="en-US" sz="1600" dirty="0"/>
                    </a:p>
                  </a:txBody>
                  <a:tcPr/>
                </a:tc>
                <a:tc>
                  <a:txBody>
                    <a:bodyPr/>
                    <a:lstStyle/>
                    <a:p>
                      <a:r>
                        <a:rPr lang="en-US" altLang="zh-CN" sz="1600" dirty="0"/>
                        <a:t>0.4871</a:t>
                      </a:r>
                      <a:endParaRPr lang="zh-CN" altLang="en-US" sz="1600" dirty="0"/>
                    </a:p>
                  </a:txBody>
                  <a:tcPr/>
                </a:tc>
                <a:tc>
                  <a:txBody>
                    <a:bodyPr/>
                    <a:lstStyle/>
                    <a:p>
                      <a:r>
                        <a:rPr lang="en-US" altLang="zh-CN" sz="1600" dirty="0"/>
                        <a:t>0.5604</a:t>
                      </a:r>
                      <a:endParaRPr lang="zh-CN" altLang="en-US" sz="1600" dirty="0"/>
                    </a:p>
                  </a:txBody>
                  <a:tcPr/>
                </a:tc>
                <a:extLst>
                  <a:ext uri="{0D108BD9-81ED-4DB2-BD59-A6C34878D82A}">
                    <a16:rowId xmlns:a16="http://schemas.microsoft.com/office/drawing/2014/main" val="97231067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总资产周转天数</a:t>
                      </a:r>
                    </a:p>
                  </a:txBody>
                  <a:tcPr/>
                </a:tc>
                <a:tc>
                  <a:txBody>
                    <a:bodyPr/>
                    <a:lstStyle/>
                    <a:p>
                      <a:r>
                        <a:rPr lang="en-US" altLang="zh-CN" sz="1600" dirty="0"/>
                        <a:t>722.4564</a:t>
                      </a:r>
                      <a:endParaRPr lang="zh-CN" altLang="en-US" sz="1600" dirty="0"/>
                    </a:p>
                  </a:txBody>
                  <a:tcPr/>
                </a:tc>
                <a:tc>
                  <a:txBody>
                    <a:bodyPr/>
                    <a:lstStyle/>
                    <a:p>
                      <a:r>
                        <a:rPr lang="en-US" altLang="zh-CN" sz="1600" dirty="0"/>
                        <a:t>751.8797</a:t>
                      </a:r>
                      <a:endParaRPr lang="zh-CN" altLang="en-US" sz="1600" dirty="0"/>
                    </a:p>
                  </a:txBody>
                  <a:tcPr/>
                </a:tc>
                <a:tc>
                  <a:txBody>
                    <a:bodyPr/>
                    <a:lstStyle/>
                    <a:p>
                      <a:r>
                        <a:rPr lang="en-US" altLang="zh-CN" sz="1600" dirty="0"/>
                        <a:t>794.176</a:t>
                      </a:r>
                      <a:endParaRPr lang="zh-CN" altLang="en-US" sz="1600" dirty="0"/>
                    </a:p>
                  </a:txBody>
                  <a:tcPr/>
                </a:tc>
                <a:tc>
                  <a:txBody>
                    <a:bodyPr/>
                    <a:lstStyle/>
                    <a:p>
                      <a:r>
                        <a:rPr lang="en-US" altLang="zh-CN" sz="1600" dirty="0"/>
                        <a:t>739.068</a:t>
                      </a:r>
                      <a:endParaRPr lang="zh-CN" altLang="en-US" sz="1600" dirty="0"/>
                    </a:p>
                  </a:txBody>
                  <a:tcPr/>
                </a:tc>
                <a:tc>
                  <a:txBody>
                    <a:bodyPr/>
                    <a:lstStyle/>
                    <a:p>
                      <a:r>
                        <a:rPr lang="en-US" altLang="zh-CN" sz="1600" dirty="0"/>
                        <a:t>642.3983</a:t>
                      </a:r>
                      <a:endParaRPr lang="zh-CN" altLang="en-US" sz="1600" dirty="0"/>
                    </a:p>
                  </a:txBody>
                  <a:tcPr/>
                </a:tc>
                <a:extLst>
                  <a:ext uri="{0D108BD9-81ED-4DB2-BD59-A6C34878D82A}">
                    <a16:rowId xmlns:a16="http://schemas.microsoft.com/office/drawing/2014/main" val="1356735519"/>
                  </a:ext>
                </a:extLst>
              </a:tr>
            </a:tbl>
          </a:graphicData>
        </a:graphic>
      </p:graphicFrame>
      <p:sp>
        <p:nvSpPr>
          <p:cNvPr id="5" name="矩形 4">
            <a:extLst>
              <a:ext uri="{FF2B5EF4-FFF2-40B4-BE49-F238E27FC236}">
                <a16:creationId xmlns:a16="http://schemas.microsoft.com/office/drawing/2014/main" id="{D8A6457A-FF02-B3CE-09DB-E1B43F60134A}"/>
              </a:ext>
            </a:extLst>
          </p:cNvPr>
          <p:cNvSpPr/>
          <p:nvPr/>
        </p:nvSpPr>
        <p:spPr>
          <a:xfrm>
            <a:off x="0" y="5778631"/>
            <a:ext cx="12192000" cy="1079369"/>
          </a:xfrm>
          <a:prstGeom prst="rect">
            <a:avLst/>
          </a:prstGeom>
          <a:solidFill>
            <a:srgbClr val="C1040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686367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par>
                                <p:cTn id="13" presetID="16" presetClass="entr" presetSubtype="21"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par>
                                <p:cTn id="16" presetID="14" presetClass="entr" presetSubtype="1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randombar(horizont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B4BAD0A-F0EC-239D-DCB3-50CE917EC3A5}"/>
              </a:ext>
            </a:extLst>
          </p:cNvPr>
          <p:cNvSpPr/>
          <p:nvPr/>
        </p:nvSpPr>
        <p:spPr>
          <a:xfrm>
            <a:off x="201939" y="3429000"/>
            <a:ext cx="9549355" cy="3307818"/>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1AA3A2CC-8442-ED9A-717D-1E41CBB32C77}"/>
              </a:ext>
            </a:extLst>
          </p:cNvPr>
          <p:cNvSpPr txBox="1"/>
          <p:nvPr/>
        </p:nvSpPr>
        <p:spPr>
          <a:xfrm>
            <a:off x="524258" y="418752"/>
            <a:ext cx="1979956" cy="307777"/>
          </a:xfrm>
          <a:prstGeom prst="rect">
            <a:avLst/>
          </a:prstGeom>
          <a:noFill/>
        </p:spPr>
        <p:txBody>
          <a:bodyPr wrap="square" rtlCol="0">
            <a:spAutoFit/>
          </a:bodyPr>
          <a:lstStyle/>
          <a:p>
            <a:pPr algn="ctr"/>
            <a:r>
              <a:rPr lang="zh-CN" altLang="en-US" sz="1400" b="1" dirty="0">
                <a:cs typeface="+mn-ea"/>
                <a:sym typeface="+mn-lt"/>
              </a:rPr>
              <a:t>资产周转情况</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sp>
        <p:nvSpPr>
          <p:cNvPr id="18" name="文本框 17">
            <a:extLst>
              <a:ext uri="{FF2B5EF4-FFF2-40B4-BE49-F238E27FC236}">
                <a16:creationId xmlns:a16="http://schemas.microsoft.com/office/drawing/2014/main" id="{660C6D69-4296-17BC-ECC5-A8B617BE7A44}"/>
              </a:ext>
            </a:extLst>
          </p:cNvPr>
          <p:cNvSpPr txBox="1"/>
          <p:nvPr/>
        </p:nvSpPr>
        <p:spPr>
          <a:xfrm>
            <a:off x="455054" y="3695307"/>
            <a:ext cx="8973648" cy="3170099"/>
          </a:xfrm>
          <a:prstGeom prst="rect">
            <a:avLst/>
          </a:prstGeom>
          <a:noFill/>
        </p:spPr>
        <p:txBody>
          <a:bodyPr wrap="square" rtlCol="0">
            <a:spAutoFit/>
          </a:bodyPr>
          <a:lstStyle/>
          <a:p>
            <a:pPr lvl="0" defTabSz="914400">
              <a:defRPr/>
            </a:pPr>
            <a:r>
              <a:rPr lang="zh-CN" altLang="en-US" dirty="0"/>
              <a:t>从上表来看</a:t>
            </a:r>
            <a:r>
              <a:rPr lang="en-US" altLang="zh-CN" dirty="0"/>
              <a:t>2019-2021</a:t>
            </a:r>
            <a:r>
              <a:rPr lang="zh-CN" altLang="en-US" dirty="0"/>
              <a:t>年应收账款为</a:t>
            </a:r>
            <a:r>
              <a:rPr lang="en-US" altLang="zh-CN" dirty="0"/>
              <a:t>0</a:t>
            </a:r>
            <a:r>
              <a:rPr lang="zh-CN" altLang="en-US" dirty="0"/>
              <a:t>，现金流量表中的经营现金流是逐年增加的，意味着茅台酒销售实行现金销售方式，没有赊账情况的发生，证明茅台酒的消售是很火爆的，不需要进行赊销。</a:t>
            </a:r>
            <a:endParaRPr lang="en-US" altLang="zh-CN" dirty="0"/>
          </a:p>
          <a:p>
            <a:pPr lvl="0" defTabSz="914400">
              <a:defRPr/>
            </a:pPr>
            <a:r>
              <a:rPr lang="zh-CN" altLang="en-US" dirty="0"/>
              <a:t>而</a:t>
            </a:r>
            <a:r>
              <a:rPr lang="en-US" altLang="zh-CN" dirty="0"/>
              <a:t>2022</a:t>
            </a:r>
            <a:r>
              <a:rPr lang="zh-CN" altLang="en-US" dirty="0"/>
              <a:t>和</a:t>
            </a:r>
            <a:r>
              <a:rPr lang="en-US" altLang="zh-CN" dirty="0"/>
              <a:t>2023</a:t>
            </a:r>
            <a:r>
              <a:rPr lang="zh-CN" altLang="en-US" dirty="0"/>
              <a:t>年的分别为</a:t>
            </a:r>
            <a:r>
              <a:rPr lang="en-US" altLang="zh-CN" dirty="0"/>
              <a:t>12148.00</a:t>
            </a:r>
            <a:r>
              <a:rPr lang="zh-CN" altLang="en-US" dirty="0"/>
              <a:t>、</a:t>
            </a:r>
            <a:r>
              <a:rPr lang="en-US" altLang="zh-CN" dirty="0"/>
              <a:t>0.030</a:t>
            </a:r>
            <a:r>
              <a:rPr lang="zh-CN" altLang="en-US" dirty="0"/>
              <a:t>和</a:t>
            </a:r>
            <a:r>
              <a:rPr lang="en-US" altLang="zh-CN" dirty="0"/>
              <a:t>3699.26</a:t>
            </a:r>
            <a:r>
              <a:rPr lang="zh-CN" altLang="en-US" dirty="0"/>
              <a:t>、</a:t>
            </a:r>
            <a:r>
              <a:rPr lang="en-US" altLang="zh-CN" dirty="0"/>
              <a:t>0.097</a:t>
            </a:r>
            <a:r>
              <a:rPr lang="zh-CN" altLang="en-US" dirty="0"/>
              <a:t>，</a:t>
            </a:r>
            <a:r>
              <a:rPr lang="en-US" altLang="zh-CN" dirty="0"/>
              <a:t>2022</a:t>
            </a:r>
            <a:r>
              <a:rPr lang="zh-CN" altLang="en-US" dirty="0"/>
              <a:t>年应收账款</a:t>
            </a:r>
            <a:r>
              <a:rPr lang="en-US" altLang="zh-CN" dirty="0"/>
              <a:t>2093.71</a:t>
            </a:r>
            <a:r>
              <a:rPr lang="zh-CN" altLang="en-US" dirty="0"/>
              <a:t>万元，但这并非产生于“茅台酒”主品牌，而是产生于其控股子公司贵州赖茅酒业，并已在</a:t>
            </a:r>
            <a:r>
              <a:rPr lang="en-US" altLang="zh-CN" dirty="0"/>
              <a:t>2023</a:t>
            </a:r>
            <a:r>
              <a:rPr lang="zh-CN" altLang="en-US" dirty="0"/>
              <a:t>年</a:t>
            </a:r>
            <a:r>
              <a:rPr lang="en-US" altLang="zh-CN" dirty="0"/>
              <a:t>1</a:t>
            </a:r>
            <a:r>
              <a:rPr lang="zh-CN" altLang="en-US" dirty="0"/>
              <a:t>月收回。未发现</a:t>
            </a:r>
            <a:r>
              <a:rPr lang="en-US" altLang="zh-CN" dirty="0"/>
              <a:t>2023</a:t>
            </a:r>
            <a:r>
              <a:rPr lang="zh-CN" altLang="en-US" dirty="0"/>
              <a:t>年贵州茅台存在应收账款</a:t>
            </a:r>
            <a:r>
              <a:rPr lang="en-US" altLang="zh-CN" dirty="0"/>
              <a:t>6373.41</a:t>
            </a:r>
            <a:r>
              <a:rPr lang="zh-CN" altLang="en-US" dirty="0"/>
              <a:t>万元的原因。不过，根据</a:t>
            </a:r>
            <a:r>
              <a:rPr lang="en-US" altLang="zh-CN" dirty="0"/>
              <a:t>2023</a:t>
            </a:r>
            <a:r>
              <a:rPr lang="zh-CN" altLang="en-US" dirty="0"/>
              <a:t>年贵州茅台半年报，其应收账款为</a:t>
            </a:r>
            <a:r>
              <a:rPr lang="en-US" altLang="zh-CN" dirty="0"/>
              <a:t>0.32</a:t>
            </a:r>
            <a:r>
              <a:rPr lang="zh-CN" altLang="en-US" dirty="0"/>
              <a:t>亿元，主要是巽风科技（贵州）有限公司的劳务费。巽风科技（贵州）有限公司是茅台酒厂（集团）文化旅游有限责任公司的控股子公司。应收账款回收的速度快，企业管理工作效率较高，可以及时收回货款，保障了企业资产的流动性和短期偿债能力。</a:t>
            </a:r>
          </a:p>
          <a:p>
            <a:pPr lvl="0" defTabSz="914400">
              <a:defRPr/>
            </a:pPr>
            <a:endParaRPr lang="zh-CN" altLang="en-US" sz="2000" dirty="0"/>
          </a:p>
        </p:txBody>
      </p:sp>
      <p:pic>
        <p:nvPicPr>
          <p:cNvPr id="9" name="图片 8" descr="图片包含 食物, 桌子, 水, 站&#10;&#10;描述已自动生成">
            <a:extLst>
              <a:ext uri="{FF2B5EF4-FFF2-40B4-BE49-F238E27FC236}">
                <a16:creationId xmlns:a16="http://schemas.microsoft.com/office/drawing/2014/main" id="{B59AD303-233D-D89B-9EAA-76A36746E04F}"/>
              </a:ext>
            </a:extLst>
          </p:cNvPr>
          <p:cNvPicPr>
            <a:picLocks noChangeAspect="1"/>
          </p:cNvPicPr>
          <p:nvPr/>
        </p:nvPicPr>
        <p:blipFill rotWithShape="1">
          <a:blip r:embed="rId2">
            <a:extLst>
              <a:ext uri="{28A0092B-C50C-407E-A947-70E740481C1C}">
                <a14:useLocalDpi xmlns:a14="http://schemas.microsoft.com/office/drawing/2010/main" val="0"/>
              </a:ext>
            </a:extLst>
          </a:blip>
          <a:srcRect l="27150" t="2425" r="26042" b="7512"/>
          <a:stretch/>
        </p:blipFill>
        <p:spPr>
          <a:xfrm>
            <a:off x="10255980" y="3179836"/>
            <a:ext cx="1734081" cy="3556982"/>
          </a:xfrm>
          <a:prstGeom prst="rect">
            <a:avLst/>
          </a:prstGeom>
        </p:spPr>
      </p:pic>
      <p:graphicFrame>
        <p:nvGraphicFramePr>
          <p:cNvPr id="4" name="表格 3">
            <a:extLst>
              <a:ext uri="{FF2B5EF4-FFF2-40B4-BE49-F238E27FC236}">
                <a16:creationId xmlns:a16="http://schemas.microsoft.com/office/drawing/2014/main" id="{798F46E0-F4D9-F6AC-6EBE-D41609CF18FA}"/>
              </a:ext>
            </a:extLst>
          </p:cNvPr>
          <p:cNvGraphicFramePr>
            <a:graphicFrameLocks noGrp="1"/>
          </p:cNvGraphicFramePr>
          <p:nvPr>
            <p:extLst>
              <p:ext uri="{D42A27DB-BD31-4B8C-83A1-F6EECF244321}">
                <p14:modId xmlns:p14="http://schemas.microsoft.com/office/powerpoint/2010/main" val="59162221"/>
              </p:ext>
            </p:extLst>
          </p:nvPr>
        </p:nvGraphicFramePr>
        <p:xfrm>
          <a:off x="943583" y="1103638"/>
          <a:ext cx="7571640" cy="2076198"/>
        </p:xfrm>
        <a:graphic>
          <a:graphicData uri="http://schemas.openxmlformats.org/drawingml/2006/table">
            <a:tbl>
              <a:tblPr firstRow="1" bandRow="1">
                <a:tableStyleId>{5C22544A-7EE6-4342-B048-85BDC9FD1C3A}</a:tableStyleId>
              </a:tblPr>
              <a:tblGrid>
                <a:gridCol w="1261940">
                  <a:extLst>
                    <a:ext uri="{9D8B030D-6E8A-4147-A177-3AD203B41FA5}">
                      <a16:colId xmlns:a16="http://schemas.microsoft.com/office/drawing/2014/main" val="4233708104"/>
                    </a:ext>
                  </a:extLst>
                </a:gridCol>
                <a:gridCol w="1261940">
                  <a:extLst>
                    <a:ext uri="{9D8B030D-6E8A-4147-A177-3AD203B41FA5}">
                      <a16:colId xmlns:a16="http://schemas.microsoft.com/office/drawing/2014/main" val="1395620021"/>
                    </a:ext>
                  </a:extLst>
                </a:gridCol>
                <a:gridCol w="1261940">
                  <a:extLst>
                    <a:ext uri="{9D8B030D-6E8A-4147-A177-3AD203B41FA5}">
                      <a16:colId xmlns:a16="http://schemas.microsoft.com/office/drawing/2014/main" val="4092975178"/>
                    </a:ext>
                  </a:extLst>
                </a:gridCol>
                <a:gridCol w="1261940">
                  <a:extLst>
                    <a:ext uri="{9D8B030D-6E8A-4147-A177-3AD203B41FA5}">
                      <a16:colId xmlns:a16="http://schemas.microsoft.com/office/drawing/2014/main" val="2174370573"/>
                    </a:ext>
                  </a:extLst>
                </a:gridCol>
                <a:gridCol w="1261940">
                  <a:extLst>
                    <a:ext uri="{9D8B030D-6E8A-4147-A177-3AD203B41FA5}">
                      <a16:colId xmlns:a16="http://schemas.microsoft.com/office/drawing/2014/main" val="2750440620"/>
                    </a:ext>
                  </a:extLst>
                </a:gridCol>
                <a:gridCol w="1261940">
                  <a:extLst>
                    <a:ext uri="{9D8B030D-6E8A-4147-A177-3AD203B41FA5}">
                      <a16:colId xmlns:a16="http://schemas.microsoft.com/office/drawing/2014/main" val="1524169069"/>
                    </a:ext>
                  </a:extLst>
                </a:gridCol>
              </a:tblGrid>
              <a:tr h="238970">
                <a:tc>
                  <a:txBody>
                    <a:bodyPr/>
                    <a:lstStyle/>
                    <a:p>
                      <a:pPr>
                        <a:buNone/>
                      </a:pPr>
                      <a:endParaRPr lang="zh-CN" altLang="en-US" sz="1600" dirty="0"/>
                    </a:p>
                  </a:txBody>
                  <a:tcPr/>
                </a:tc>
                <a:tc>
                  <a:txBody>
                    <a:bodyPr/>
                    <a:lstStyle/>
                    <a:p>
                      <a:pPr>
                        <a:buNone/>
                      </a:pPr>
                      <a:r>
                        <a:rPr lang="en-US" altLang="zh-CN" sz="1600" dirty="0">
                          <a:latin typeface="宋体" panose="02010600030101010101" pitchFamily="2" charset="-122"/>
                          <a:ea typeface="宋体" panose="02010600030101010101" pitchFamily="2" charset="-122"/>
                        </a:rPr>
                        <a:t>2019</a:t>
                      </a:r>
                    </a:p>
                  </a:txBody>
                  <a:tcPr/>
                </a:tc>
                <a:tc>
                  <a:txBody>
                    <a:bodyPr/>
                    <a:lstStyle/>
                    <a:p>
                      <a:pPr>
                        <a:buNone/>
                      </a:pPr>
                      <a:r>
                        <a:rPr lang="en-US" altLang="zh-CN" sz="1600">
                          <a:latin typeface="宋体" panose="02010600030101010101" pitchFamily="2" charset="-122"/>
                          <a:ea typeface="宋体" panose="02010600030101010101" pitchFamily="2" charset="-122"/>
                        </a:rPr>
                        <a:t>2020</a:t>
                      </a:r>
                    </a:p>
                  </a:txBody>
                  <a:tcPr/>
                </a:tc>
                <a:tc>
                  <a:txBody>
                    <a:bodyPr/>
                    <a:lstStyle/>
                    <a:p>
                      <a:pPr>
                        <a:buNone/>
                      </a:pPr>
                      <a:r>
                        <a:rPr lang="en-US" altLang="zh-CN" sz="1600" dirty="0">
                          <a:latin typeface="宋体" panose="02010600030101010101" pitchFamily="2" charset="-122"/>
                          <a:ea typeface="宋体" panose="02010600030101010101" pitchFamily="2" charset="-122"/>
                        </a:rPr>
                        <a:t>2021</a:t>
                      </a:r>
                    </a:p>
                  </a:txBody>
                  <a:tcPr/>
                </a:tc>
                <a:tc>
                  <a:txBody>
                    <a:bodyPr/>
                    <a:lstStyle/>
                    <a:p>
                      <a:pPr>
                        <a:buNone/>
                      </a:pPr>
                      <a:r>
                        <a:rPr lang="en-US" altLang="zh-CN" sz="1600" dirty="0">
                          <a:latin typeface="宋体" panose="02010600030101010101" pitchFamily="2" charset="-122"/>
                          <a:ea typeface="宋体" panose="02010600030101010101" pitchFamily="2" charset="-122"/>
                        </a:rPr>
                        <a:t>2022</a:t>
                      </a:r>
                    </a:p>
                  </a:txBody>
                  <a:tcPr/>
                </a:tc>
                <a:tc>
                  <a:txBody>
                    <a:bodyPr/>
                    <a:lstStyle/>
                    <a:p>
                      <a:pPr>
                        <a:buNone/>
                      </a:pPr>
                      <a:r>
                        <a:rPr lang="en-US" altLang="zh-CN" sz="1600">
                          <a:latin typeface="宋体" panose="02010600030101010101" pitchFamily="2" charset="-122"/>
                          <a:ea typeface="宋体" panose="02010600030101010101" pitchFamily="2" charset="-122"/>
                        </a:rPr>
                        <a:t>2023</a:t>
                      </a:r>
                    </a:p>
                  </a:txBody>
                  <a:tcPr/>
                </a:tc>
                <a:extLst>
                  <a:ext uri="{0D108BD9-81ED-4DB2-BD59-A6C34878D82A}">
                    <a16:rowId xmlns:a16="http://schemas.microsoft.com/office/drawing/2014/main" val="1759202847"/>
                  </a:ext>
                </a:extLst>
              </a:tr>
              <a:tr h="238970">
                <a:tc>
                  <a:txBody>
                    <a:bodyPr/>
                    <a:lstStyle/>
                    <a:p>
                      <a:pPr>
                        <a:buNone/>
                      </a:pPr>
                      <a:r>
                        <a:rPr lang="zh-CN" altLang="en-US" sz="1400" dirty="0"/>
                        <a:t>销售额</a:t>
                      </a:r>
                    </a:p>
                  </a:txBody>
                  <a:tcPr/>
                </a:tc>
                <a:tc>
                  <a:txBody>
                    <a:bodyPr/>
                    <a:lstStyle/>
                    <a:p>
                      <a:pPr indent="0">
                        <a:buNone/>
                      </a:pPr>
                      <a:r>
                        <a:rPr lang="en-US" sz="1600" b="0" dirty="0">
                          <a:solidFill>
                            <a:srgbClr val="000000"/>
                          </a:solidFill>
                          <a:latin typeface="宋体" panose="02010600030101010101" pitchFamily="2" charset="-122"/>
                          <a:ea typeface="宋体" panose="02010600030101010101" pitchFamily="2" charset="-122"/>
                        </a:rPr>
                        <a:t>888.54</a:t>
                      </a:r>
                      <a:endParaRPr lang="en-US" altLang="en-US" sz="1600" b="0" dirty="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r>
                        <a:rPr lang="en-US" sz="1600" b="0" dirty="0">
                          <a:solidFill>
                            <a:srgbClr val="000000"/>
                          </a:solidFill>
                          <a:latin typeface="宋体" panose="02010600030101010101" pitchFamily="2" charset="-122"/>
                          <a:ea typeface="宋体" panose="02010600030101010101" pitchFamily="2" charset="-122"/>
                        </a:rPr>
                        <a:t>979.53</a:t>
                      </a:r>
                      <a:endParaRPr lang="en-US" altLang="en-US" sz="1600" b="0" dirty="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r>
                        <a:rPr lang="en-US" sz="1600" b="0">
                          <a:solidFill>
                            <a:srgbClr val="000000"/>
                          </a:solidFill>
                          <a:latin typeface="宋体" panose="02010600030101010101" pitchFamily="2" charset="-122"/>
                          <a:ea typeface="宋体" panose="02010600030101010101" pitchFamily="2" charset="-122"/>
                        </a:rPr>
                        <a:t>1094.64</a:t>
                      </a:r>
                      <a:endParaRPr lang="en-US" altLang="en-US" sz="1600" b="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r>
                        <a:rPr lang="en-US" sz="1600" b="0">
                          <a:solidFill>
                            <a:srgbClr val="000000"/>
                          </a:solidFill>
                          <a:latin typeface="宋体" panose="02010600030101010101" pitchFamily="2" charset="-122"/>
                          <a:ea typeface="宋体" panose="02010600030101010101" pitchFamily="2" charset="-122"/>
                        </a:rPr>
                        <a:t>1275.54</a:t>
                      </a:r>
                      <a:endParaRPr lang="en-US" altLang="en-US" sz="1600" b="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a:buNone/>
                      </a:pPr>
                      <a:r>
                        <a:rPr lang="en-US" altLang="zh-CN" sz="1600">
                          <a:latin typeface="宋体" panose="02010600030101010101" pitchFamily="2" charset="-122"/>
                          <a:ea typeface="宋体" panose="02010600030101010101" pitchFamily="2" charset="-122"/>
                        </a:rPr>
                        <a:t>1505.6</a:t>
                      </a:r>
                    </a:p>
                  </a:txBody>
                  <a:tcPr/>
                </a:tc>
                <a:extLst>
                  <a:ext uri="{0D108BD9-81ED-4DB2-BD59-A6C34878D82A}">
                    <a16:rowId xmlns:a16="http://schemas.microsoft.com/office/drawing/2014/main" val="420442296"/>
                  </a:ext>
                </a:extLst>
              </a:tr>
              <a:tr h="369318">
                <a:tc>
                  <a:txBody>
                    <a:bodyPr/>
                    <a:lstStyle/>
                    <a:p>
                      <a:pPr>
                        <a:buNone/>
                      </a:pPr>
                      <a:r>
                        <a:rPr lang="zh-CN" altLang="en-US" sz="1400" dirty="0"/>
                        <a:t>平均应收账款</a:t>
                      </a:r>
                    </a:p>
                  </a:txBody>
                  <a:tcPr/>
                </a:tc>
                <a:tc>
                  <a:txBody>
                    <a:bodyPr/>
                    <a:lstStyle/>
                    <a:p>
                      <a:pPr indent="0">
                        <a:buNone/>
                      </a:pPr>
                      <a:r>
                        <a:rPr lang="en-US" altLang="en-US" sz="1600" b="0" dirty="0">
                          <a:solidFill>
                            <a:srgbClr val="000000"/>
                          </a:solidFill>
                          <a:latin typeface="宋体" panose="02010600030101010101" pitchFamily="2" charset="-122"/>
                          <a:ea typeface="宋体" panose="02010600030101010101" pitchFamily="2" charset="-122"/>
                        </a:rPr>
                        <a:t>0</a:t>
                      </a:r>
                    </a:p>
                  </a:txBody>
                  <a:tcPr marL="12700" marR="12700" marT="12700" anchor="ctr"/>
                </a:tc>
                <a:tc>
                  <a:txBody>
                    <a:bodyPr/>
                    <a:lstStyle/>
                    <a:p>
                      <a:pPr indent="0">
                        <a:buNone/>
                      </a:pPr>
                      <a:r>
                        <a:rPr lang="en-US" altLang="en-US" sz="1600" b="0" dirty="0">
                          <a:solidFill>
                            <a:srgbClr val="000000"/>
                          </a:solidFill>
                          <a:latin typeface="宋体" panose="02010600030101010101" pitchFamily="2" charset="-122"/>
                          <a:ea typeface="宋体" panose="02010600030101010101" pitchFamily="2" charset="-122"/>
                        </a:rPr>
                        <a:t>0</a:t>
                      </a:r>
                    </a:p>
                  </a:txBody>
                  <a:tcPr marL="12700" marR="12700" marT="12700" anchor="ctr"/>
                </a:tc>
                <a:tc>
                  <a:txBody>
                    <a:bodyPr/>
                    <a:lstStyle/>
                    <a:p>
                      <a:pPr indent="0">
                        <a:buNone/>
                      </a:pPr>
                      <a:r>
                        <a:rPr lang="en-US" altLang="en-US" sz="1600" b="0" dirty="0">
                          <a:solidFill>
                            <a:srgbClr val="000000"/>
                          </a:solidFill>
                          <a:latin typeface="宋体" panose="02010600030101010101" pitchFamily="2" charset="-122"/>
                          <a:ea typeface="宋体" panose="02010600030101010101" pitchFamily="2" charset="-122"/>
                        </a:rPr>
                        <a:t>0</a:t>
                      </a:r>
                    </a:p>
                  </a:txBody>
                  <a:tcPr marL="12700" marR="12700" marT="12700" anchor="ctr"/>
                </a:tc>
                <a:tc>
                  <a:txBody>
                    <a:bodyPr/>
                    <a:lstStyle/>
                    <a:p>
                      <a:pPr indent="0">
                        <a:buNone/>
                      </a:pPr>
                      <a:r>
                        <a:rPr lang="en-US" altLang="en-US" sz="1600" b="0" dirty="0">
                          <a:solidFill>
                            <a:srgbClr val="000000"/>
                          </a:solidFill>
                          <a:latin typeface="宋体" panose="02010600030101010101" pitchFamily="2" charset="-122"/>
                          <a:ea typeface="宋体" panose="02010600030101010101" pitchFamily="2" charset="-122"/>
                        </a:rPr>
                        <a:t>0.105</a:t>
                      </a:r>
                    </a:p>
                  </a:txBody>
                  <a:tcPr marL="12700" marR="12700" marT="12700" anchor="ctr"/>
                </a:tc>
                <a:tc>
                  <a:txBody>
                    <a:bodyPr/>
                    <a:lstStyle/>
                    <a:p>
                      <a:pPr algn="just">
                        <a:buNone/>
                      </a:pPr>
                      <a:r>
                        <a:rPr lang="en-US" altLang="zh-CN" sz="1600" dirty="0">
                          <a:latin typeface="宋体" panose="02010600030101010101" pitchFamily="2" charset="-122"/>
                          <a:ea typeface="宋体" panose="02010600030101010101" pitchFamily="2" charset="-122"/>
                        </a:rPr>
                        <a:t> 0.406</a:t>
                      </a:r>
                    </a:p>
                  </a:txBody>
                  <a:tcPr/>
                </a:tc>
                <a:extLst>
                  <a:ext uri="{0D108BD9-81ED-4DB2-BD59-A6C34878D82A}">
                    <a16:rowId xmlns:a16="http://schemas.microsoft.com/office/drawing/2014/main" val="2726521892"/>
                  </a:ext>
                </a:extLst>
              </a:tr>
              <a:tr h="411209">
                <a:tc>
                  <a:txBody>
                    <a:bodyPr/>
                    <a:lstStyle/>
                    <a:p>
                      <a:pPr>
                        <a:buNone/>
                      </a:pPr>
                      <a:r>
                        <a:rPr lang="zh-CN" altLang="en-US" sz="1400" dirty="0"/>
                        <a:t>应收账款周转率（次数）</a:t>
                      </a:r>
                    </a:p>
                  </a:txBody>
                  <a:tcPr/>
                </a:tc>
                <a:tc>
                  <a:txBody>
                    <a:bodyPr/>
                    <a:lstStyle/>
                    <a:p>
                      <a:pPr indent="0">
                        <a:buNone/>
                      </a:pPr>
                      <a:endParaRPr lang="en-US" altLang="en-US" sz="1600" b="0" dirty="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endParaRPr lang="en-US" altLang="en-US" sz="1600" b="0" dirty="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endParaRPr lang="en-US" altLang="en-US" sz="1600" b="0" dirty="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r>
                        <a:rPr lang="en-US" altLang="en-US" sz="1600" b="0" dirty="0">
                          <a:solidFill>
                            <a:srgbClr val="000000"/>
                          </a:solidFill>
                          <a:latin typeface="宋体" panose="02010600030101010101" pitchFamily="2" charset="-122"/>
                          <a:ea typeface="宋体" panose="02010600030101010101" pitchFamily="2" charset="-122"/>
                        </a:rPr>
                        <a:t>12148.00</a:t>
                      </a:r>
                    </a:p>
                  </a:txBody>
                  <a:tcPr marL="12700" marR="12700" marT="12700" anchor="ctr"/>
                </a:tc>
                <a:tc>
                  <a:txBody>
                    <a:bodyPr/>
                    <a:lstStyle/>
                    <a:p>
                      <a:pPr marL="0" indent="0" algn="ctr">
                        <a:buFont typeface="Arial" panose="020B0604020202020204" pitchFamily="34" charset="0"/>
                        <a:buNone/>
                      </a:pPr>
                      <a:r>
                        <a:rPr lang="zh-CN" altLang="en-US" sz="1600" dirty="0">
                          <a:latin typeface="宋体" panose="02010600030101010101" pitchFamily="2" charset="-122"/>
                          <a:ea typeface="宋体" panose="02010600030101010101" pitchFamily="2" charset="-122"/>
                        </a:rPr>
                        <a:t>  3699.26 </a:t>
                      </a:r>
                    </a:p>
                  </a:txBody>
                  <a:tcPr/>
                </a:tc>
                <a:extLst>
                  <a:ext uri="{0D108BD9-81ED-4DB2-BD59-A6C34878D82A}">
                    <a16:rowId xmlns:a16="http://schemas.microsoft.com/office/drawing/2014/main" val="3007592861"/>
                  </a:ext>
                </a:extLst>
              </a:tr>
              <a:tr h="411209">
                <a:tc>
                  <a:txBody>
                    <a:bodyPr/>
                    <a:lstStyle/>
                    <a:p>
                      <a:pPr>
                        <a:buNone/>
                      </a:pPr>
                      <a:r>
                        <a:rPr lang="zh-CN" altLang="en-US" sz="1400" dirty="0"/>
                        <a:t>应收账款周转率（天数）</a:t>
                      </a:r>
                    </a:p>
                  </a:txBody>
                  <a:tcPr/>
                </a:tc>
                <a:tc>
                  <a:txBody>
                    <a:bodyPr/>
                    <a:lstStyle/>
                    <a:p>
                      <a:pPr indent="0">
                        <a:buNone/>
                      </a:pPr>
                      <a:endParaRPr lang="en-US" altLang="en-US" sz="1600" b="0" dirty="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endParaRPr lang="en-US" altLang="en-US" sz="1600" b="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endParaRPr lang="en-US" altLang="en-US" sz="1600" b="0" dirty="0">
                        <a:solidFill>
                          <a:srgbClr val="000000"/>
                        </a:solidFill>
                        <a:latin typeface="宋体" panose="02010600030101010101" pitchFamily="2" charset="-122"/>
                        <a:ea typeface="宋体" panose="02010600030101010101" pitchFamily="2" charset="-122"/>
                      </a:endParaRPr>
                    </a:p>
                  </a:txBody>
                  <a:tcPr marL="12700" marR="12700" marT="12700" anchor="ctr"/>
                </a:tc>
                <a:tc>
                  <a:txBody>
                    <a:bodyPr/>
                    <a:lstStyle/>
                    <a:p>
                      <a:pPr indent="0">
                        <a:buNone/>
                      </a:pPr>
                      <a:r>
                        <a:rPr lang="en-US" altLang="en-US" sz="1600" b="0" dirty="0">
                          <a:solidFill>
                            <a:srgbClr val="000000"/>
                          </a:solidFill>
                          <a:latin typeface="宋体" panose="02010600030101010101" pitchFamily="2" charset="-122"/>
                          <a:ea typeface="宋体" panose="02010600030101010101" pitchFamily="2" charset="-122"/>
                        </a:rPr>
                        <a:t>0.030</a:t>
                      </a:r>
                    </a:p>
                  </a:txBody>
                  <a:tcPr marL="12700" marR="12700" marT="12700" anchor="ctr"/>
                </a:tc>
                <a:tc>
                  <a:txBody>
                    <a:bodyPr/>
                    <a:lstStyle/>
                    <a:p>
                      <a:pPr indent="0">
                        <a:buNone/>
                      </a:pPr>
                      <a:r>
                        <a:rPr lang="en-US" sz="1600" b="0" dirty="0">
                          <a:solidFill>
                            <a:srgbClr val="000000"/>
                          </a:solidFill>
                          <a:latin typeface="宋体" panose="02010600030101010101" pitchFamily="2" charset="-122"/>
                          <a:ea typeface="宋体" panose="02010600030101010101" pitchFamily="2" charset="-122"/>
                        </a:rPr>
                        <a:t>0.097 </a:t>
                      </a:r>
                    </a:p>
                  </a:txBody>
                  <a:tcPr marL="12700" marR="12700" marT="12700" anchor="ctr"/>
                </a:tc>
                <a:extLst>
                  <a:ext uri="{0D108BD9-81ED-4DB2-BD59-A6C34878D82A}">
                    <a16:rowId xmlns:a16="http://schemas.microsoft.com/office/drawing/2014/main" val="1962753589"/>
                  </a:ext>
                </a:extLst>
              </a:tr>
            </a:tbl>
          </a:graphicData>
        </a:graphic>
      </p:graphicFrame>
    </p:spTree>
    <p:extLst>
      <p:ext uri="{BB962C8B-B14F-4D97-AF65-F5344CB8AC3E}">
        <p14:creationId xmlns:p14="http://schemas.microsoft.com/office/powerpoint/2010/main" val="242165947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par>
                                <p:cTn id="13" presetID="16" presetClass="entr" presetSubtype="21"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par>
                                <p:cTn id="16" presetID="14" presetClass="entr" presetSubtype="1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randombar(horizont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298CCC-8974-8AA1-0499-1FAA2906B847}"/>
              </a:ext>
            </a:extLst>
          </p:cNvPr>
          <p:cNvSpPr/>
          <p:nvPr/>
        </p:nvSpPr>
        <p:spPr>
          <a:xfrm>
            <a:off x="0" y="3715102"/>
            <a:ext cx="9175791" cy="2837460"/>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1AA3A2CC-8442-ED9A-717D-1E41CBB32C77}"/>
              </a:ext>
            </a:extLst>
          </p:cNvPr>
          <p:cNvSpPr txBox="1"/>
          <p:nvPr/>
        </p:nvSpPr>
        <p:spPr>
          <a:xfrm>
            <a:off x="455054" y="408968"/>
            <a:ext cx="1979956" cy="307777"/>
          </a:xfrm>
          <a:prstGeom prst="rect">
            <a:avLst/>
          </a:prstGeom>
          <a:noFill/>
        </p:spPr>
        <p:txBody>
          <a:bodyPr wrap="square" rtlCol="0">
            <a:spAutoFit/>
          </a:bodyPr>
          <a:lstStyle/>
          <a:p>
            <a:pPr algn="ctr"/>
            <a:r>
              <a:rPr lang="zh-CN" altLang="en-US" sz="1400" b="1" dirty="0">
                <a:cs typeface="+mn-ea"/>
                <a:sym typeface="+mn-lt"/>
              </a:rPr>
              <a:t>资产周转情况</a:t>
            </a:r>
          </a:p>
        </p:txBody>
      </p:sp>
      <p:sp>
        <p:nvSpPr>
          <p:cNvPr id="17" name="Freeform 227">
            <a:extLst>
              <a:ext uri="{FF2B5EF4-FFF2-40B4-BE49-F238E27FC236}">
                <a16:creationId xmlns:a16="http://schemas.microsoft.com/office/drawing/2014/main" id="{21CA021C-1A70-06E8-B100-DAD003339169}"/>
              </a:ext>
            </a:extLst>
          </p:cNvPr>
          <p:cNvSpPr/>
          <p:nvPr/>
        </p:nvSpPr>
        <p:spPr>
          <a:xfrm>
            <a:off x="234365" y="295382"/>
            <a:ext cx="441378" cy="534950"/>
          </a:xfrm>
          <a:custGeom>
            <a:avLst/>
            <a:gdLst/>
            <a:ahLst/>
            <a:cxnLst>
              <a:cxn ang="0">
                <a:pos x="wd2" y="hd2"/>
              </a:cxn>
              <a:cxn ang="5400000">
                <a:pos x="wd2" y="hd2"/>
              </a:cxn>
              <a:cxn ang="10800000">
                <a:pos x="wd2" y="hd2"/>
              </a:cxn>
              <a:cxn ang="16200000">
                <a:pos x="wd2" y="hd2"/>
              </a:cxn>
            </a:cxnLst>
            <a:rect l="0" t="0" r="r" b="b"/>
            <a:pathLst>
              <a:path w="21600" h="21600" extrusionOk="0">
                <a:moveTo>
                  <a:pt x="19358" y="3881"/>
                </a:moveTo>
                <a:cubicBezTo>
                  <a:pt x="19155" y="3713"/>
                  <a:pt x="19155" y="3713"/>
                  <a:pt x="18951" y="3713"/>
                </a:cubicBezTo>
                <a:cubicBezTo>
                  <a:pt x="12838" y="3713"/>
                  <a:pt x="12838" y="3713"/>
                  <a:pt x="12838" y="3713"/>
                </a:cubicBezTo>
                <a:cubicBezTo>
                  <a:pt x="12838" y="1688"/>
                  <a:pt x="12838" y="1688"/>
                  <a:pt x="12838" y="1688"/>
                </a:cubicBezTo>
                <a:cubicBezTo>
                  <a:pt x="12838" y="675"/>
                  <a:pt x="11819" y="0"/>
                  <a:pt x="10800" y="0"/>
                </a:cubicBezTo>
                <a:cubicBezTo>
                  <a:pt x="9781" y="0"/>
                  <a:pt x="8762" y="675"/>
                  <a:pt x="8762" y="1688"/>
                </a:cubicBezTo>
                <a:cubicBezTo>
                  <a:pt x="8762" y="3713"/>
                  <a:pt x="8762" y="3713"/>
                  <a:pt x="8762" y="3713"/>
                </a:cubicBezTo>
                <a:cubicBezTo>
                  <a:pt x="2649" y="3713"/>
                  <a:pt x="2649" y="3713"/>
                  <a:pt x="2649" y="3713"/>
                </a:cubicBezTo>
                <a:cubicBezTo>
                  <a:pt x="2038" y="3713"/>
                  <a:pt x="1426" y="4219"/>
                  <a:pt x="1426" y="4725"/>
                </a:cubicBezTo>
                <a:cubicBezTo>
                  <a:pt x="1426" y="7256"/>
                  <a:pt x="1426" y="7256"/>
                  <a:pt x="1426" y="7256"/>
                </a:cubicBezTo>
                <a:cubicBezTo>
                  <a:pt x="1426" y="7762"/>
                  <a:pt x="2038" y="8269"/>
                  <a:pt x="2649" y="8269"/>
                </a:cubicBezTo>
                <a:cubicBezTo>
                  <a:pt x="8762" y="8269"/>
                  <a:pt x="8762" y="8269"/>
                  <a:pt x="8762" y="8269"/>
                </a:cubicBezTo>
                <a:cubicBezTo>
                  <a:pt x="8762" y="10969"/>
                  <a:pt x="8762" y="10969"/>
                  <a:pt x="8762" y="10969"/>
                </a:cubicBezTo>
                <a:cubicBezTo>
                  <a:pt x="2649" y="10969"/>
                  <a:pt x="2649" y="10969"/>
                  <a:pt x="2649" y="10969"/>
                </a:cubicBezTo>
                <a:cubicBezTo>
                  <a:pt x="2445" y="10969"/>
                  <a:pt x="2445" y="11137"/>
                  <a:pt x="2242" y="11137"/>
                </a:cubicBezTo>
                <a:cubicBezTo>
                  <a:pt x="2242" y="11137"/>
                  <a:pt x="2242" y="11137"/>
                  <a:pt x="2242" y="11137"/>
                </a:cubicBezTo>
                <a:cubicBezTo>
                  <a:pt x="0" y="12994"/>
                  <a:pt x="0" y="12994"/>
                  <a:pt x="0" y="12994"/>
                </a:cubicBezTo>
                <a:cubicBezTo>
                  <a:pt x="0" y="13162"/>
                  <a:pt x="0" y="13162"/>
                  <a:pt x="0" y="13331"/>
                </a:cubicBezTo>
                <a:cubicBezTo>
                  <a:pt x="0" y="13331"/>
                  <a:pt x="0" y="13500"/>
                  <a:pt x="0" y="13500"/>
                </a:cubicBezTo>
                <a:cubicBezTo>
                  <a:pt x="2242" y="15525"/>
                  <a:pt x="2242" y="15525"/>
                  <a:pt x="2242" y="15525"/>
                </a:cubicBezTo>
                <a:cubicBezTo>
                  <a:pt x="2445" y="15525"/>
                  <a:pt x="2445" y="15525"/>
                  <a:pt x="2649" y="15525"/>
                </a:cubicBezTo>
                <a:cubicBezTo>
                  <a:pt x="8762" y="15525"/>
                  <a:pt x="8762" y="15525"/>
                  <a:pt x="8762" y="15525"/>
                </a:cubicBezTo>
                <a:cubicBezTo>
                  <a:pt x="8762" y="21600"/>
                  <a:pt x="8762" y="21600"/>
                  <a:pt x="8762" y="21600"/>
                </a:cubicBezTo>
                <a:cubicBezTo>
                  <a:pt x="12838" y="21600"/>
                  <a:pt x="12838" y="21600"/>
                  <a:pt x="12838" y="21600"/>
                </a:cubicBezTo>
                <a:cubicBezTo>
                  <a:pt x="12838" y="15525"/>
                  <a:pt x="12838" y="15525"/>
                  <a:pt x="12838" y="15525"/>
                </a:cubicBezTo>
                <a:cubicBezTo>
                  <a:pt x="18951" y="15525"/>
                  <a:pt x="18951" y="15525"/>
                  <a:pt x="18951" y="15525"/>
                </a:cubicBezTo>
                <a:cubicBezTo>
                  <a:pt x="19562" y="15525"/>
                  <a:pt x="20174" y="15187"/>
                  <a:pt x="20174" y="14512"/>
                </a:cubicBezTo>
                <a:cubicBezTo>
                  <a:pt x="20174" y="11981"/>
                  <a:pt x="20174" y="11981"/>
                  <a:pt x="20174" y="11981"/>
                </a:cubicBezTo>
                <a:cubicBezTo>
                  <a:pt x="20174" y="11475"/>
                  <a:pt x="19562" y="10969"/>
                  <a:pt x="18951" y="10969"/>
                </a:cubicBezTo>
                <a:cubicBezTo>
                  <a:pt x="12838" y="10969"/>
                  <a:pt x="12838" y="10969"/>
                  <a:pt x="12838" y="10969"/>
                </a:cubicBezTo>
                <a:cubicBezTo>
                  <a:pt x="12838" y="8269"/>
                  <a:pt x="12838" y="8269"/>
                  <a:pt x="12838" y="8269"/>
                </a:cubicBezTo>
                <a:cubicBezTo>
                  <a:pt x="18951" y="8269"/>
                  <a:pt x="18951" y="8269"/>
                  <a:pt x="18951" y="8269"/>
                </a:cubicBezTo>
                <a:cubicBezTo>
                  <a:pt x="19155" y="8269"/>
                  <a:pt x="19155" y="8269"/>
                  <a:pt x="19358" y="8100"/>
                </a:cubicBezTo>
                <a:cubicBezTo>
                  <a:pt x="19358" y="8100"/>
                  <a:pt x="19358" y="8100"/>
                  <a:pt x="19358" y="8100"/>
                </a:cubicBezTo>
                <a:cubicBezTo>
                  <a:pt x="21600" y="6244"/>
                  <a:pt x="21600" y="6244"/>
                  <a:pt x="21600" y="6244"/>
                </a:cubicBezTo>
                <a:cubicBezTo>
                  <a:pt x="21600" y="6244"/>
                  <a:pt x="21600" y="6075"/>
                  <a:pt x="21600" y="6075"/>
                </a:cubicBezTo>
                <a:cubicBezTo>
                  <a:pt x="21600" y="5906"/>
                  <a:pt x="21600" y="5737"/>
                  <a:pt x="21600" y="5737"/>
                </a:cubicBezTo>
                <a:lnTo>
                  <a:pt x="19358" y="3881"/>
                </a:lnTo>
                <a:close/>
                <a:moveTo>
                  <a:pt x="9781" y="1688"/>
                </a:moveTo>
                <a:cubicBezTo>
                  <a:pt x="9781" y="1181"/>
                  <a:pt x="10189" y="844"/>
                  <a:pt x="10800" y="844"/>
                </a:cubicBezTo>
                <a:cubicBezTo>
                  <a:pt x="11411" y="844"/>
                  <a:pt x="11819" y="1181"/>
                  <a:pt x="11819" y="1688"/>
                </a:cubicBezTo>
                <a:cubicBezTo>
                  <a:pt x="11819" y="3713"/>
                  <a:pt x="11819" y="3713"/>
                  <a:pt x="11819" y="3713"/>
                </a:cubicBezTo>
                <a:cubicBezTo>
                  <a:pt x="9781" y="3713"/>
                  <a:pt x="9781" y="3713"/>
                  <a:pt x="9781" y="3713"/>
                </a:cubicBezTo>
                <a:lnTo>
                  <a:pt x="9781" y="1688"/>
                </a:lnTo>
                <a:close/>
                <a:moveTo>
                  <a:pt x="11819" y="20756"/>
                </a:moveTo>
                <a:cubicBezTo>
                  <a:pt x="9781" y="20756"/>
                  <a:pt x="9781" y="20756"/>
                  <a:pt x="9781" y="20756"/>
                </a:cubicBezTo>
                <a:cubicBezTo>
                  <a:pt x="9781" y="15525"/>
                  <a:pt x="9781" y="15525"/>
                  <a:pt x="9781" y="15525"/>
                </a:cubicBezTo>
                <a:cubicBezTo>
                  <a:pt x="11819" y="15525"/>
                  <a:pt x="11819" y="15525"/>
                  <a:pt x="11819" y="15525"/>
                </a:cubicBezTo>
                <a:lnTo>
                  <a:pt x="11819" y="20756"/>
                </a:lnTo>
                <a:close/>
                <a:moveTo>
                  <a:pt x="19155" y="11812"/>
                </a:moveTo>
                <a:cubicBezTo>
                  <a:pt x="19155" y="14850"/>
                  <a:pt x="19155" y="14850"/>
                  <a:pt x="19155" y="14850"/>
                </a:cubicBezTo>
                <a:cubicBezTo>
                  <a:pt x="2853" y="14850"/>
                  <a:pt x="2853" y="14850"/>
                  <a:pt x="2853" y="14850"/>
                </a:cubicBezTo>
                <a:cubicBezTo>
                  <a:pt x="1019" y="13331"/>
                  <a:pt x="1019" y="13331"/>
                  <a:pt x="1019" y="13331"/>
                </a:cubicBezTo>
                <a:cubicBezTo>
                  <a:pt x="2853" y="11812"/>
                  <a:pt x="2853" y="11812"/>
                  <a:pt x="2853" y="11812"/>
                </a:cubicBezTo>
                <a:lnTo>
                  <a:pt x="19155" y="11812"/>
                </a:lnTo>
                <a:close/>
                <a:moveTo>
                  <a:pt x="9781" y="10969"/>
                </a:moveTo>
                <a:cubicBezTo>
                  <a:pt x="9781" y="8269"/>
                  <a:pt x="9781" y="8269"/>
                  <a:pt x="9781" y="8269"/>
                </a:cubicBezTo>
                <a:cubicBezTo>
                  <a:pt x="11819" y="8269"/>
                  <a:pt x="11819" y="8269"/>
                  <a:pt x="11819" y="8269"/>
                </a:cubicBezTo>
                <a:cubicBezTo>
                  <a:pt x="11819" y="10969"/>
                  <a:pt x="11819" y="10969"/>
                  <a:pt x="11819" y="10969"/>
                </a:cubicBezTo>
                <a:lnTo>
                  <a:pt x="9781" y="10969"/>
                </a:lnTo>
                <a:close/>
                <a:moveTo>
                  <a:pt x="18747" y="7425"/>
                </a:moveTo>
                <a:cubicBezTo>
                  <a:pt x="2445" y="7425"/>
                  <a:pt x="2445" y="7425"/>
                  <a:pt x="2445" y="7425"/>
                </a:cubicBezTo>
                <a:cubicBezTo>
                  <a:pt x="2445" y="4556"/>
                  <a:pt x="2445" y="4556"/>
                  <a:pt x="2445" y="4556"/>
                </a:cubicBezTo>
                <a:cubicBezTo>
                  <a:pt x="18747" y="4556"/>
                  <a:pt x="18747" y="4556"/>
                  <a:pt x="18747" y="4556"/>
                </a:cubicBezTo>
                <a:cubicBezTo>
                  <a:pt x="20581" y="6075"/>
                  <a:pt x="20581" y="6075"/>
                  <a:pt x="20581" y="6075"/>
                </a:cubicBezTo>
                <a:lnTo>
                  <a:pt x="18747" y="7425"/>
                </a:lnTo>
                <a:close/>
              </a:path>
            </a:pathLst>
          </a:custGeom>
          <a:solidFill>
            <a:srgbClr val="C00000"/>
          </a:solidFill>
          <a:ln w="12700" cap="flat">
            <a:solidFill>
              <a:srgbClr val="C00000"/>
            </a:solidFill>
            <a:miter lim="400000"/>
          </a:ln>
          <a:effectLst/>
        </p:spPr>
        <p:txBody>
          <a:bodyPr wrap="square" lIns="91439" tIns="91439" rIns="91439" bIns="91439" numCol="1" anchor="t">
            <a:noAutofit/>
          </a:bodyPr>
          <a:lstStyle/>
          <a:p>
            <a:endParaRPr dirty="0">
              <a:cs typeface="+mn-ea"/>
              <a:sym typeface="+mn-lt"/>
            </a:endParaRPr>
          </a:p>
        </p:txBody>
      </p:sp>
      <p:pic>
        <p:nvPicPr>
          <p:cNvPr id="9" name="图片 8" descr="图片包含 食物, 桌子, 水, 站&#10;&#10;描述已自动生成">
            <a:extLst>
              <a:ext uri="{FF2B5EF4-FFF2-40B4-BE49-F238E27FC236}">
                <a16:creationId xmlns:a16="http://schemas.microsoft.com/office/drawing/2014/main" id="{B59AD303-233D-D89B-9EAA-76A36746E04F}"/>
              </a:ext>
            </a:extLst>
          </p:cNvPr>
          <p:cNvPicPr>
            <a:picLocks noChangeAspect="1"/>
          </p:cNvPicPr>
          <p:nvPr/>
        </p:nvPicPr>
        <p:blipFill rotWithShape="1">
          <a:blip r:embed="rId2">
            <a:extLst>
              <a:ext uri="{28A0092B-C50C-407E-A947-70E740481C1C}">
                <a14:useLocalDpi xmlns:a14="http://schemas.microsoft.com/office/drawing/2010/main" val="0"/>
              </a:ext>
            </a:extLst>
          </a:blip>
          <a:srcRect l="27150" t="2425" r="26042" b="7512"/>
          <a:stretch/>
        </p:blipFill>
        <p:spPr>
          <a:xfrm>
            <a:off x="10116216" y="3427050"/>
            <a:ext cx="1664162" cy="3413563"/>
          </a:xfrm>
          <a:prstGeom prst="rect">
            <a:avLst/>
          </a:prstGeom>
        </p:spPr>
      </p:pic>
      <p:sp>
        <p:nvSpPr>
          <p:cNvPr id="6" name="文本框 5">
            <a:extLst>
              <a:ext uri="{FF2B5EF4-FFF2-40B4-BE49-F238E27FC236}">
                <a16:creationId xmlns:a16="http://schemas.microsoft.com/office/drawing/2014/main" id="{CFA5A26B-3550-3AD4-2954-CAD3C52B0B4B}"/>
              </a:ext>
            </a:extLst>
          </p:cNvPr>
          <p:cNvSpPr txBox="1"/>
          <p:nvPr/>
        </p:nvSpPr>
        <p:spPr>
          <a:xfrm>
            <a:off x="299527" y="4118168"/>
            <a:ext cx="8576735" cy="2031325"/>
          </a:xfrm>
          <a:prstGeom prst="rect">
            <a:avLst/>
          </a:prstGeom>
          <a:noFill/>
        </p:spPr>
        <p:txBody>
          <a:bodyPr wrap="square">
            <a:spAutoFit/>
          </a:bodyPr>
          <a:lstStyle/>
          <a:p>
            <a:pPr marL="0" indent="0">
              <a:buNone/>
            </a:pPr>
            <a:r>
              <a:rPr lang="en-US" altLang="zh-CN" dirty="0">
                <a:latin typeface="+mn-ea"/>
              </a:rPr>
              <a:t>2019-2020</a:t>
            </a:r>
            <a:r>
              <a:rPr lang="zh-CN" altLang="en-US" dirty="0">
                <a:latin typeface="+mn-ea"/>
              </a:rPr>
              <a:t>年：存货周转率略有增加，表明存货管理效率有所提升，</a:t>
            </a:r>
            <a:r>
              <a:rPr lang="en-US" altLang="zh-CN" dirty="0">
                <a:latin typeface="+mn-ea"/>
              </a:rPr>
              <a:t>2021</a:t>
            </a:r>
            <a:r>
              <a:rPr lang="zh-CN" altLang="en-US" dirty="0">
                <a:latin typeface="+mn-ea"/>
              </a:rPr>
              <a:t>年：存货周转率下降，这可能是由于期末存货大幅增加导致的。</a:t>
            </a:r>
            <a:r>
              <a:rPr lang="en-US" altLang="zh-CN" dirty="0">
                <a:latin typeface="+mn-ea"/>
              </a:rPr>
              <a:t>2022</a:t>
            </a:r>
            <a:r>
              <a:rPr lang="zh-CN" altLang="en-US" dirty="0">
                <a:latin typeface="+mn-ea"/>
              </a:rPr>
              <a:t>年：存货周转率略有回升，但仍低于</a:t>
            </a:r>
            <a:r>
              <a:rPr lang="en-US" altLang="zh-CN" dirty="0">
                <a:latin typeface="+mn-ea"/>
              </a:rPr>
              <a:t>2019</a:t>
            </a:r>
            <a:r>
              <a:rPr lang="zh-CN" altLang="en-US" dirty="0">
                <a:latin typeface="+mn-ea"/>
              </a:rPr>
              <a:t>年和</a:t>
            </a:r>
            <a:r>
              <a:rPr lang="en-US" altLang="zh-CN" dirty="0">
                <a:latin typeface="+mn-ea"/>
              </a:rPr>
              <a:t>2020</a:t>
            </a:r>
            <a:r>
              <a:rPr lang="zh-CN" altLang="en-US" dirty="0">
                <a:latin typeface="+mn-ea"/>
              </a:rPr>
              <a:t>年。</a:t>
            </a:r>
            <a:r>
              <a:rPr lang="en-US" altLang="zh-CN" dirty="0">
                <a:latin typeface="+mn-ea"/>
              </a:rPr>
              <a:t>2023</a:t>
            </a:r>
            <a:r>
              <a:rPr lang="zh-CN" altLang="en-US" dirty="0">
                <a:latin typeface="+mn-ea"/>
              </a:rPr>
              <a:t>年</a:t>
            </a:r>
            <a:r>
              <a:rPr lang="en-US" altLang="zh-CN" dirty="0">
                <a:latin typeface="+mn-ea"/>
              </a:rPr>
              <a:t>:</a:t>
            </a:r>
            <a:r>
              <a:rPr lang="zh-CN" altLang="en-US" dirty="0">
                <a:latin typeface="+mn-ea"/>
              </a:rPr>
              <a:t>存货周转率显著提高，表明公司在这一年中有效地管理了存货，提升了存货周转效率。综合杜邦分析在杜邦分析法中，存货周转率是衡量公司运营效率的重要指标之一。结合其他财务指标如净资产收益率、资产周转率等，可以全面评估公司的财务健康状况。茅台在</a:t>
            </a:r>
            <a:r>
              <a:rPr lang="en-US" altLang="zh-CN" dirty="0">
                <a:latin typeface="+mn-ea"/>
              </a:rPr>
              <a:t>2023</a:t>
            </a:r>
            <a:r>
              <a:rPr lang="zh-CN" altLang="en-US" dirty="0">
                <a:latin typeface="+mn-ea"/>
              </a:rPr>
              <a:t>年表现出色，存货周转率的提高可能带动了整体财务表现的改善。</a:t>
            </a:r>
          </a:p>
        </p:txBody>
      </p:sp>
      <p:graphicFrame>
        <p:nvGraphicFramePr>
          <p:cNvPr id="7" name="内容占位符 16">
            <a:extLst>
              <a:ext uri="{FF2B5EF4-FFF2-40B4-BE49-F238E27FC236}">
                <a16:creationId xmlns:a16="http://schemas.microsoft.com/office/drawing/2014/main" id="{9C8DFDA9-D130-FCD5-2A3B-3DEC17D4249C}"/>
              </a:ext>
            </a:extLst>
          </p:cNvPr>
          <p:cNvGraphicFramePr>
            <a:graphicFrameLocks/>
          </p:cNvGraphicFramePr>
          <p:nvPr>
            <p:extLst>
              <p:ext uri="{D42A27DB-BD31-4B8C-83A1-F6EECF244321}">
                <p14:modId xmlns:p14="http://schemas.microsoft.com/office/powerpoint/2010/main" val="1152488924"/>
              </p:ext>
            </p:extLst>
          </p:nvPr>
        </p:nvGraphicFramePr>
        <p:xfrm>
          <a:off x="675743" y="1128594"/>
          <a:ext cx="9893856" cy="2288247"/>
        </p:xfrm>
        <a:graphic>
          <a:graphicData uri="http://schemas.openxmlformats.org/drawingml/2006/table">
            <a:tbl>
              <a:tblPr firstRow="1" bandRow="1">
                <a:tableStyleId>{5C22544A-7EE6-4342-B048-85BDC9FD1C3A}</a:tableStyleId>
              </a:tblPr>
              <a:tblGrid>
                <a:gridCol w="1046508">
                  <a:extLst>
                    <a:ext uri="{9D8B030D-6E8A-4147-A177-3AD203B41FA5}">
                      <a16:colId xmlns:a16="http://schemas.microsoft.com/office/drawing/2014/main" val="3146357960"/>
                    </a:ext>
                  </a:extLst>
                </a:gridCol>
                <a:gridCol w="1474558">
                  <a:extLst>
                    <a:ext uri="{9D8B030D-6E8A-4147-A177-3AD203B41FA5}">
                      <a16:colId xmlns:a16="http://schemas.microsoft.com/office/drawing/2014/main" val="3976448361"/>
                    </a:ext>
                  </a:extLst>
                </a:gridCol>
                <a:gridCol w="1474558">
                  <a:extLst>
                    <a:ext uri="{9D8B030D-6E8A-4147-A177-3AD203B41FA5}">
                      <a16:colId xmlns:a16="http://schemas.microsoft.com/office/drawing/2014/main" val="2894850313"/>
                    </a:ext>
                  </a:extLst>
                </a:gridCol>
                <a:gridCol w="1474558">
                  <a:extLst>
                    <a:ext uri="{9D8B030D-6E8A-4147-A177-3AD203B41FA5}">
                      <a16:colId xmlns:a16="http://schemas.microsoft.com/office/drawing/2014/main" val="373788280"/>
                    </a:ext>
                  </a:extLst>
                </a:gridCol>
                <a:gridCol w="1474558">
                  <a:extLst>
                    <a:ext uri="{9D8B030D-6E8A-4147-A177-3AD203B41FA5}">
                      <a16:colId xmlns:a16="http://schemas.microsoft.com/office/drawing/2014/main" val="1872668747"/>
                    </a:ext>
                  </a:extLst>
                </a:gridCol>
                <a:gridCol w="1474558">
                  <a:extLst>
                    <a:ext uri="{9D8B030D-6E8A-4147-A177-3AD203B41FA5}">
                      <a16:colId xmlns:a16="http://schemas.microsoft.com/office/drawing/2014/main" val="2677407779"/>
                    </a:ext>
                  </a:extLst>
                </a:gridCol>
                <a:gridCol w="1474558">
                  <a:extLst>
                    <a:ext uri="{9D8B030D-6E8A-4147-A177-3AD203B41FA5}">
                      <a16:colId xmlns:a16="http://schemas.microsoft.com/office/drawing/2014/main" val="4270926102"/>
                    </a:ext>
                  </a:extLst>
                </a:gridCol>
              </a:tblGrid>
              <a:tr h="541292">
                <a:tc>
                  <a:txBody>
                    <a:bodyPr/>
                    <a:lstStyle/>
                    <a:p>
                      <a:r>
                        <a:rPr lang="zh-CN" altLang="en-US" sz="1400" dirty="0"/>
                        <a:t>年份</a:t>
                      </a:r>
                    </a:p>
                  </a:txBody>
                  <a:tcPr/>
                </a:tc>
                <a:tc>
                  <a:txBody>
                    <a:bodyPr/>
                    <a:lstStyle/>
                    <a:p>
                      <a:r>
                        <a:rPr lang="zh-CN" altLang="en-US" sz="1400" dirty="0"/>
                        <a:t>营业收入（亿元）</a:t>
                      </a:r>
                    </a:p>
                  </a:txBody>
                  <a:tcPr/>
                </a:tc>
                <a:tc>
                  <a:txBody>
                    <a:bodyPr/>
                    <a:lstStyle/>
                    <a:p>
                      <a:r>
                        <a:rPr lang="zh-CN" altLang="en-US" sz="1400" dirty="0"/>
                        <a:t>营业成本（亿元）</a:t>
                      </a:r>
                    </a:p>
                  </a:txBody>
                  <a:tcPr/>
                </a:tc>
                <a:tc>
                  <a:txBody>
                    <a:bodyPr/>
                    <a:lstStyle/>
                    <a:p>
                      <a:r>
                        <a:rPr lang="zh-CN" altLang="en-US" sz="1400" dirty="0"/>
                        <a:t>期初存货（亿元）</a:t>
                      </a:r>
                    </a:p>
                  </a:txBody>
                  <a:tcPr/>
                </a:tc>
                <a:tc>
                  <a:txBody>
                    <a:bodyPr/>
                    <a:lstStyle/>
                    <a:p>
                      <a:r>
                        <a:rPr lang="zh-CN" altLang="en-US" sz="1400" dirty="0"/>
                        <a:t>期末存货（亿元）</a:t>
                      </a:r>
                    </a:p>
                  </a:txBody>
                  <a:tcPr/>
                </a:tc>
                <a:tc>
                  <a:txBody>
                    <a:bodyPr/>
                    <a:lstStyle/>
                    <a:p>
                      <a:r>
                        <a:rPr lang="zh-CN" altLang="en-US" sz="1400" dirty="0"/>
                        <a:t>平均存货（亿元）</a:t>
                      </a:r>
                    </a:p>
                  </a:txBody>
                  <a:tcPr/>
                </a:tc>
                <a:tc>
                  <a:txBody>
                    <a:bodyPr/>
                    <a:lstStyle/>
                    <a:p>
                      <a:r>
                        <a:rPr lang="zh-CN" altLang="en-US" sz="1400" dirty="0"/>
                        <a:t>存货周转率</a:t>
                      </a:r>
                    </a:p>
                  </a:txBody>
                  <a:tcPr/>
                </a:tc>
                <a:extLst>
                  <a:ext uri="{0D108BD9-81ED-4DB2-BD59-A6C34878D82A}">
                    <a16:rowId xmlns:a16="http://schemas.microsoft.com/office/drawing/2014/main" val="1324300137"/>
                  </a:ext>
                </a:extLst>
              </a:tr>
              <a:tr h="349391">
                <a:tc>
                  <a:txBody>
                    <a:bodyPr/>
                    <a:lstStyle/>
                    <a:p>
                      <a:r>
                        <a:rPr lang="en-US" altLang="zh-CN" sz="1400" dirty="0"/>
                        <a:t>2019</a:t>
                      </a:r>
                      <a:endParaRPr lang="zh-CN" altLang="en-US" sz="1400" dirty="0"/>
                    </a:p>
                  </a:txBody>
                  <a:tcPr/>
                </a:tc>
                <a:tc>
                  <a:txBody>
                    <a:bodyPr/>
                    <a:lstStyle/>
                    <a:p>
                      <a:r>
                        <a:rPr lang="en-US" altLang="zh-CN" sz="1400" dirty="0"/>
                        <a:t>888.54</a:t>
                      </a:r>
                      <a:endParaRPr lang="zh-CN" altLang="en-US" sz="1400" dirty="0"/>
                    </a:p>
                  </a:txBody>
                  <a:tcPr/>
                </a:tc>
                <a:tc>
                  <a:txBody>
                    <a:bodyPr/>
                    <a:lstStyle/>
                    <a:p>
                      <a:r>
                        <a:rPr lang="en-US" altLang="zh-CN" sz="1400" dirty="0"/>
                        <a:t>248.63</a:t>
                      </a:r>
                      <a:endParaRPr lang="zh-CN" altLang="en-US" sz="1400" dirty="0"/>
                    </a:p>
                  </a:txBody>
                  <a:tcPr/>
                </a:tc>
                <a:tc>
                  <a:txBody>
                    <a:bodyPr/>
                    <a:lstStyle/>
                    <a:p>
                      <a:r>
                        <a:rPr lang="en-US" altLang="zh-CN" sz="1400" dirty="0"/>
                        <a:t>80.00</a:t>
                      </a:r>
                      <a:endParaRPr lang="zh-CN" altLang="en-US" sz="1400" dirty="0"/>
                    </a:p>
                  </a:txBody>
                  <a:tcPr/>
                </a:tc>
                <a:tc>
                  <a:txBody>
                    <a:bodyPr/>
                    <a:lstStyle/>
                    <a:p>
                      <a:r>
                        <a:rPr lang="en-US" altLang="zh-CN" sz="1400" dirty="0"/>
                        <a:t>85.00</a:t>
                      </a:r>
                      <a:endParaRPr lang="zh-CN" altLang="en-US" sz="1400" dirty="0"/>
                    </a:p>
                  </a:txBody>
                  <a:tcPr/>
                </a:tc>
                <a:tc>
                  <a:txBody>
                    <a:bodyPr/>
                    <a:lstStyle/>
                    <a:p>
                      <a:r>
                        <a:rPr lang="en-US" altLang="zh-CN" sz="1400" dirty="0"/>
                        <a:t>82.50</a:t>
                      </a:r>
                      <a:endParaRPr lang="zh-CN" altLang="en-US" sz="1400" dirty="0"/>
                    </a:p>
                  </a:txBody>
                  <a:tcPr/>
                </a:tc>
                <a:tc>
                  <a:txBody>
                    <a:bodyPr/>
                    <a:lstStyle/>
                    <a:p>
                      <a:r>
                        <a:rPr lang="en-US" altLang="zh-CN" sz="1400" dirty="0"/>
                        <a:t>3.01</a:t>
                      </a:r>
                      <a:endParaRPr lang="zh-CN" altLang="en-US" sz="1400" dirty="0"/>
                    </a:p>
                  </a:txBody>
                  <a:tcPr/>
                </a:tc>
                <a:extLst>
                  <a:ext uri="{0D108BD9-81ED-4DB2-BD59-A6C34878D82A}">
                    <a16:rowId xmlns:a16="http://schemas.microsoft.com/office/drawing/2014/main" val="2144784643"/>
                  </a:ext>
                </a:extLst>
              </a:tr>
              <a:tr h="349391">
                <a:tc>
                  <a:txBody>
                    <a:bodyPr/>
                    <a:lstStyle/>
                    <a:p>
                      <a:r>
                        <a:rPr lang="en-US" altLang="zh-CN" sz="1400" dirty="0"/>
                        <a:t>2020</a:t>
                      </a:r>
                      <a:endParaRPr lang="zh-CN" altLang="en-US" sz="1400" dirty="0"/>
                    </a:p>
                  </a:txBody>
                  <a:tcPr/>
                </a:tc>
                <a:tc>
                  <a:txBody>
                    <a:bodyPr/>
                    <a:lstStyle/>
                    <a:p>
                      <a:r>
                        <a:rPr lang="en-US" altLang="zh-CN" sz="1400" dirty="0"/>
                        <a:t>978.27</a:t>
                      </a:r>
                      <a:endParaRPr lang="zh-CN" altLang="en-US" sz="1400" dirty="0"/>
                    </a:p>
                  </a:txBody>
                  <a:tcPr/>
                </a:tc>
                <a:tc>
                  <a:txBody>
                    <a:bodyPr/>
                    <a:lstStyle/>
                    <a:p>
                      <a:r>
                        <a:rPr lang="en-US" altLang="zh-CN" sz="1400" dirty="0"/>
                        <a:t>273.90</a:t>
                      </a:r>
                      <a:endParaRPr lang="zh-CN" altLang="en-US" sz="1400" dirty="0"/>
                    </a:p>
                  </a:txBody>
                  <a:tcPr/>
                </a:tc>
                <a:tc>
                  <a:txBody>
                    <a:bodyPr/>
                    <a:lstStyle/>
                    <a:p>
                      <a:r>
                        <a:rPr lang="en-US" altLang="zh-CN" sz="1400" dirty="0"/>
                        <a:t>85.00</a:t>
                      </a:r>
                      <a:endParaRPr lang="zh-CN" altLang="en-US" sz="1400" dirty="0"/>
                    </a:p>
                  </a:txBody>
                  <a:tcPr/>
                </a:tc>
                <a:tc>
                  <a:txBody>
                    <a:bodyPr/>
                    <a:lstStyle/>
                    <a:p>
                      <a:r>
                        <a:rPr lang="en-US" altLang="zh-CN" sz="1400" dirty="0"/>
                        <a:t>90.00</a:t>
                      </a:r>
                      <a:endParaRPr lang="zh-CN" altLang="en-US" sz="1400" dirty="0"/>
                    </a:p>
                  </a:txBody>
                  <a:tcPr/>
                </a:tc>
                <a:tc>
                  <a:txBody>
                    <a:bodyPr/>
                    <a:lstStyle/>
                    <a:p>
                      <a:r>
                        <a:rPr lang="en-US" altLang="zh-CN" sz="1400" dirty="0"/>
                        <a:t>87.50</a:t>
                      </a:r>
                      <a:endParaRPr lang="zh-CN" altLang="en-US" sz="1400" dirty="0"/>
                    </a:p>
                  </a:txBody>
                  <a:tcPr/>
                </a:tc>
                <a:tc>
                  <a:txBody>
                    <a:bodyPr/>
                    <a:lstStyle/>
                    <a:p>
                      <a:r>
                        <a:rPr lang="en-US" altLang="zh-CN" sz="1400" dirty="0"/>
                        <a:t>3.13</a:t>
                      </a:r>
                      <a:endParaRPr lang="zh-CN" altLang="en-US" sz="1400" dirty="0"/>
                    </a:p>
                  </a:txBody>
                  <a:tcPr/>
                </a:tc>
                <a:extLst>
                  <a:ext uri="{0D108BD9-81ED-4DB2-BD59-A6C34878D82A}">
                    <a16:rowId xmlns:a16="http://schemas.microsoft.com/office/drawing/2014/main" val="2547068485"/>
                  </a:ext>
                </a:extLst>
              </a:tr>
              <a:tr h="349391">
                <a:tc>
                  <a:txBody>
                    <a:bodyPr/>
                    <a:lstStyle/>
                    <a:p>
                      <a:r>
                        <a:rPr lang="en-US" altLang="zh-CN" sz="1400" dirty="0"/>
                        <a:t>2021</a:t>
                      </a:r>
                      <a:endParaRPr lang="zh-CN" altLang="en-US" sz="1400" dirty="0"/>
                    </a:p>
                  </a:txBody>
                  <a:tcPr/>
                </a:tc>
                <a:tc>
                  <a:txBody>
                    <a:bodyPr/>
                    <a:lstStyle/>
                    <a:p>
                      <a:r>
                        <a:rPr lang="en-US" altLang="zh-CN" sz="1400" dirty="0"/>
                        <a:t>1094.55</a:t>
                      </a:r>
                      <a:endParaRPr lang="zh-CN" altLang="en-US" sz="1400" dirty="0"/>
                    </a:p>
                  </a:txBody>
                  <a:tcPr/>
                </a:tc>
                <a:tc>
                  <a:txBody>
                    <a:bodyPr/>
                    <a:lstStyle/>
                    <a:p>
                      <a:r>
                        <a:rPr lang="en-US" altLang="zh-CN" sz="1400" dirty="0"/>
                        <a:t>299.40</a:t>
                      </a:r>
                      <a:endParaRPr lang="zh-CN" altLang="en-US" sz="1400" dirty="0"/>
                    </a:p>
                  </a:txBody>
                  <a:tcPr/>
                </a:tc>
                <a:tc>
                  <a:txBody>
                    <a:bodyPr/>
                    <a:lstStyle/>
                    <a:p>
                      <a:r>
                        <a:rPr lang="en-US" altLang="zh-CN" sz="1400" dirty="0"/>
                        <a:t>90.00</a:t>
                      </a:r>
                      <a:endParaRPr lang="zh-CN" altLang="en-US" sz="1400" dirty="0"/>
                    </a:p>
                  </a:txBody>
                  <a:tcPr/>
                </a:tc>
                <a:tc>
                  <a:txBody>
                    <a:bodyPr/>
                    <a:lstStyle/>
                    <a:p>
                      <a:r>
                        <a:rPr lang="en-US" altLang="zh-CN" sz="1400" dirty="0"/>
                        <a:t>130.00</a:t>
                      </a:r>
                      <a:endParaRPr lang="zh-CN" altLang="en-US" sz="1400" dirty="0"/>
                    </a:p>
                  </a:txBody>
                  <a:tcPr/>
                </a:tc>
                <a:tc>
                  <a:txBody>
                    <a:bodyPr/>
                    <a:lstStyle/>
                    <a:p>
                      <a:r>
                        <a:rPr lang="en-US" altLang="zh-CN" sz="1400" dirty="0"/>
                        <a:t>110.00</a:t>
                      </a:r>
                      <a:endParaRPr lang="zh-CN" altLang="en-US" sz="1400" dirty="0"/>
                    </a:p>
                  </a:txBody>
                  <a:tcPr/>
                </a:tc>
                <a:tc>
                  <a:txBody>
                    <a:bodyPr/>
                    <a:lstStyle/>
                    <a:p>
                      <a:r>
                        <a:rPr lang="en-US" altLang="zh-CN" sz="1400" dirty="0"/>
                        <a:t>2.72</a:t>
                      </a:r>
                      <a:endParaRPr lang="zh-CN" altLang="en-US" sz="1400" dirty="0"/>
                    </a:p>
                  </a:txBody>
                  <a:tcPr/>
                </a:tc>
                <a:extLst>
                  <a:ext uri="{0D108BD9-81ED-4DB2-BD59-A6C34878D82A}">
                    <a16:rowId xmlns:a16="http://schemas.microsoft.com/office/drawing/2014/main" val="2735545548"/>
                  </a:ext>
                </a:extLst>
              </a:tr>
              <a:tr h="349391">
                <a:tc>
                  <a:txBody>
                    <a:bodyPr/>
                    <a:lstStyle/>
                    <a:p>
                      <a:r>
                        <a:rPr lang="en-US" altLang="zh-CN" sz="1400" dirty="0"/>
                        <a:t>2022</a:t>
                      </a:r>
                      <a:endParaRPr lang="zh-CN" altLang="en-US" sz="1400" dirty="0"/>
                    </a:p>
                  </a:txBody>
                  <a:tcPr/>
                </a:tc>
                <a:tc>
                  <a:txBody>
                    <a:bodyPr/>
                    <a:lstStyle/>
                    <a:p>
                      <a:r>
                        <a:rPr lang="en-US" altLang="zh-CN" sz="1400" dirty="0"/>
                        <a:t>1275.54</a:t>
                      </a:r>
                      <a:endParaRPr lang="zh-CN" altLang="en-US" sz="1400" dirty="0"/>
                    </a:p>
                  </a:txBody>
                  <a:tcPr/>
                </a:tc>
                <a:tc>
                  <a:txBody>
                    <a:bodyPr/>
                    <a:lstStyle/>
                    <a:p>
                      <a:r>
                        <a:rPr lang="en-US" altLang="zh-CN" sz="1400" dirty="0"/>
                        <a:t>397.63</a:t>
                      </a:r>
                      <a:endParaRPr lang="zh-CN" altLang="en-US" sz="1400" dirty="0"/>
                    </a:p>
                  </a:txBody>
                  <a:tcPr/>
                </a:tc>
                <a:tc>
                  <a:txBody>
                    <a:bodyPr/>
                    <a:lstStyle/>
                    <a:p>
                      <a:r>
                        <a:rPr lang="en-US" altLang="zh-CN" sz="1400" dirty="0"/>
                        <a:t>130.00</a:t>
                      </a:r>
                      <a:endParaRPr lang="zh-CN" altLang="en-US" sz="1400" dirty="0"/>
                    </a:p>
                  </a:txBody>
                  <a:tcPr/>
                </a:tc>
                <a:tc>
                  <a:txBody>
                    <a:bodyPr/>
                    <a:lstStyle/>
                    <a:p>
                      <a:r>
                        <a:rPr lang="en-US" altLang="zh-CN" sz="1400" dirty="0"/>
                        <a:t>150.00</a:t>
                      </a:r>
                      <a:endParaRPr lang="zh-CN" altLang="en-US" sz="1400" dirty="0"/>
                    </a:p>
                  </a:txBody>
                  <a:tcPr/>
                </a:tc>
                <a:tc>
                  <a:txBody>
                    <a:bodyPr/>
                    <a:lstStyle/>
                    <a:p>
                      <a:r>
                        <a:rPr lang="en-US" altLang="zh-CN" sz="1400" dirty="0"/>
                        <a:t>140.00</a:t>
                      </a:r>
                      <a:endParaRPr lang="zh-CN" altLang="en-US" sz="1400" dirty="0"/>
                    </a:p>
                  </a:txBody>
                  <a:tcPr/>
                </a:tc>
                <a:tc>
                  <a:txBody>
                    <a:bodyPr/>
                    <a:lstStyle/>
                    <a:p>
                      <a:r>
                        <a:rPr lang="en-US" altLang="zh-CN" sz="1400" dirty="0"/>
                        <a:t>2.84</a:t>
                      </a:r>
                      <a:endParaRPr lang="zh-CN" altLang="en-US" sz="1400" dirty="0"/>
                    </a:p>
                  </a:txBody>
                  <a:tcPr/>
                </a:tc>
                <a:extLst>
                  <a:ext uri="{0D108BD9-81ED-4DB2-BD59-A6C34878D82A}">
                    <a16:rowId xmlns:a16="http://schemas.microsoft.com/office/drawing/2014/main" val="1370767505"/>
                  </a:ext>
                </a:extLst>
              </a:tr>
              <a:tr h="349391">
                <a:tc>
                  <a:txBody>
                    <a:bodyPr/>
                    <a:lstStyle/>
                    <a:p>
                      <a:r>
                        <a:rPr lang="en-US" altLang="zh-CN" sz="1400" dirty="0"/>
                        <a:t>2023</a:t>
                      </a:r>
                      <a:endParaRPr lang="zh-CN" altLang="en-US" sz="1400" dirty="0"/>
                    </a:p>
                  </a:txBody>
                  <a:tcPr/>
                </a:tc>
                <a:tc>
                  <a:txBody>
                    <a:bodyPr/>
                    <a:lstStyle/>
                    <a:p>
                      <a:r>
                        <a:rPr lang="en-US" altLang="zh-CN" sz="1400" dirty="0"/>
                        <a:t>1506.60</a:t>
                      </a:r>
                      <a:endParaRPr lang="zh-CN" altLang="en-US" sz="1400" dirty="0"/>
                    </a:p>
                  </a:txBody>
                  <a:tcPr/>
                </a:tc>
                <a:tc>
                  <a:txBody>
                    <a:bodyPr/>
                    <a:lstStyle/>
                    <a:p>
                      <a:r>
                        <a:rPr lang="en-US" altLang="zh-CN" sz="1400" dirty="0"/>
                        <a:t>515.49</a:t>
                      </a:r>
                      <a:endParaRPr lang="zh-CN" altLang="en-US" sz="1400" dirty="0"/>
                    </a:p>
                  </a:txBody>
                  <a:tcPr/>
                </a:tc>
                <a:tc>
                  <a:txBody>
                    <a:bodyPr/>
                    <a:lstStyle/>
                    <a:p>
                      <a:r>
                        <a:rPr lang="en-US" altLang="zh-CN" sz="1400" dirty="0"/>
                        <a:t>140.00</a:t>
                      </a:r>
                      <a:endParaRPr lang="zh-CN" altLang="en-US" sz="1400" dirty="0"/>
                    </a:p>
                  </a:txBody>
                  <a:tcPr/>
                </a:tc>
                <a:tc>
                  <a:txBody>
                    <a:bodyPr/>
                    <a:lstStyle/>
                    <a:p>
                      <a:r>
                        <a:rPr lang="en-US" altLang="zh-CN" sz="1400" dirty="0"/>
                        <a:t>160.00</a:t>
                      </a:r>
                      <a:endParaRPr lang="zh-CN" altLang="en-US" sz="1400" dirty="0"/>
                    </a:p>
                  </a:txBody>
                  <a:tcPr/>
                </a:tc>
                <a:tc>
                  <a:txBody>
                    <a:bodyPr/>
                    <a:lstStyle/>
                    <a:p>
                      <a:r>
                        <a:rPr lang="en-US" altLang="zh-CN" sz="1400" dirty="0"/>
                        <a:t>150.00</a:t>
                      </a:r>
                      <a:endParaRPr lang="zh-CN" altLang="en-US" sz="1400" dirty="0"/>
                    </a:p>
                  </a:txBody>
                  <a:tcPr/>
                </a:tc>
                <a:tc>
                  <a:txBody>
                    <a:bodyPr/>
                    <a:lstStyle/>
                    <a:p>
                      <a:r>
                        <a:rPr lang="en-US" altLang="zh-CN" sz="1400" dirty="0"/>
                        <a:t>3.44</a:t>
                      </a:r>
                      <a:endParaRPr lang="zh-CN" altLang="en-US" sz="1400" dirty="0"/>
                    </a:p>
                  </a:txBody>
                  <a:tcPr/>
                </a:tc>
                <a:extLst>
                  <a:ext uri="{0D108BD9-81ED-4DB2-BD59-A6C34878D82A}">
                    <a16:rowId xmlns:a16="http://schemas.microsoft.com/office/drawing/2014/main" val="3993083780"/>
                  </a:ext>
                </a:extLst>
              </a:tr>
            </a:tbl>
          </a:graphicData>
        </a:graphic>
      </p:graphicFrame>
    </p:spTree>
    <p:extLst>
      <p:ext uri="{BB962C8B-B14F-4D97-AF65-F5344CB8AC3E}">
        <p14:creationId xmlns:p14="http://schemas.microsoft.com/office/powerpoint/2010/main" val="169730827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par>
                                <p:cTn id="13" presetID="14"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randombar(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1308D57-5BA0-4A7D-8356-182AC5551037}"/>
              </a:ext>
            </a:extLst>
          </p:cNvPr>
          <p:cNvPicPr>
            <a:picLocks noChangeAspect="1"/>
          </p:cNvPicPr>
          <p:nvPr/>
        </p:nvPicPr>
        <p:blipFill>
          <a:blip r:embed="rId3" cstate="screen">
            <a:extLst>
              <a:ext uri="{BEBA8EAE-BF5A-486C-A8C5-ECC9F3942E4B}">
                <a14:imgProps xmlns:a14="http://schemas.microsoft.com/office/drawing/2010/main">
                  <a14:imgLayer>
                    <a14:imgEffect>
                      <a14:saturation sat="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E46AC85B-E957-40C0-8B7E-88187AAF9CDF}"/>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23" name="组合 22">
            <a:extLst>
              <a:ext uri="{FF2B5EF4-FFF2-40B4-BE49-F238E27FC236}">
                <a16:creationId xmlns:a16="http://schemas.microsoft.com/office/drawing/2014/main" id="{9DAEB640-6F42-426E-8338-423B3B7E3B6D}"/>
              </a:ext>
            </a:extLst>
          </p:cNvPr>
          <p:cNvGrpSpPr/>
          <p:nvPr/>
        </p:nvGrpSpPr>
        <p:grpSpPr>
          <a:xfrm>
            <a:off x="707048" y="2200041"/>
            <a:ext cx="10789627" cy="2457920"/>
            <a:chOff x="707048" y="2200041"/>
            <a:chExt cx="10789627" cy="2457920"/>
          </a:xfrm>
          <a:solidFill>
            <a:srgbClr val="C00000"/>
          </a:solidFill>
        </p:grpSpPr>
        <p:sp>
          <p:nvSpPr>
            <p:cNvPr id="10" name="矩形 9">
              <a:extLst>
                <a:ext uri="{FF2B5EF4-FFF2-40B4-BE49-F238E27FC236}">
                  <a16:creationId xmlns:a16="http://schemas.microsoft.com/office/drawing/2014/main" id="{00E883F7-2C7A-4F0A-8EDF-EFBF42AE3679}"/>
                </a:ext>
              </a:extLst>
            </p:cNvPr>
            <p:cNvSpPr/>
            <p:nvPr/>
          </p:nvSpPr>
          <p:spPr>
            <a:xfrm>
              <a:off x="707048" y="2200042"/>
              <a:ext cx="2882904" cy="2457918"/>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bg1"/>
                </a:solidFill>
                <a:cs typeface="+mn-ea"/>
                <a:sym typeface="+mn-lt"/>
              </a:endParaRPr>
            </a:p>
          </p:txBody>
        </p:sp>
        <p:sp>
          <p:nvSpPr>
            <p:cNvPr id="11" name="矩形 10">
              <a:extLst>
                <a:ext uri="{FF2B5EF4-FFF2-40B4-BE49-F238E27FC236}">
                  <a16:creationId xmlns:a16="http://schemas.microsoft.com/office/drawing/2014/main" id="{F49643FD-D31B-4946-A1E9-7BF5E7705F61}"/>
                </a:ext>
              </a:extLst>
            </p:cNvPr>
            <p:cNvSpPr/>
            <p:nvPr/>
          </p:nvSpPr>
          <p:spPr>
            <a:xfrm>
              <a:off x="8602047" y="2200041"/>
              <a:ext cx="2894628" cy="2457919"/>
            </a:xfrm>
            <a:prstGeom prst="rect">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bg1"/>
                </a:solidFill>
                <a:cs typeface="+mn-ea"/>
                <a:sym typeface="+mn-lt"/>
              </a:endParaRPr>
            </a:p>
          </p:txBody>
        </p:sp>
        <p:sp>
          <p:nvSpPr>
            <p:cNvPr id="4" name="任意多边形: 形状 3">
              <a:extLst>
                <a:ext uri="{FF2B5EF4-FFF2-40B4-BE49-F238E27FC236}">
                  <a16:creationId xmlns:a16="http://schemas.microsoft.com/office/drawing/2014/main" id="{EF3C358A-C712-4ED7-8C58-9BE21FDD1CB1}"/>
                </a:ext>
              </a:extLst>
            </p:cNvPr>
            <p:cNvSpPr/>
            <p:nvPr/>
          </p:nvSpPr>
          <p:spPr>
            <a:xfrm flipH="1" flipV="1">
              <a:off x="5421781" y="2200042"/>
              <a:ext cx="3180266" cy="2457919"/>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bg1"/>
                </a:solidFill>
                <a:cs typeface="+mn-ea"/>
                <a:sym typeface="+mn-lt"/>
              </a:endParaRPr>
            </a:p>
          </p:txBody>
        </p:sp>
        <p:sp>
          <p:nvSpPr>
            <p:cNvPr id="21" name="任意多边形: 形状 20">
              <a:extLst>
                <a:ext uri="{FF2B5EF4-FFF2-40B4-BE49-F238E27FC236}">
                  <a16:creationId xmlns:a16="http://schemas.microsoft.com/office/drawing/2014/main" id="{13BC2E3D-B7ED-4FD6-8A79-9CE6B1A6EDD0}"/>
                </a:ext>
              </a:extLst>
            </p:cNvPr>
            <p:cNvSpPr/>
            <p:nvPr/>
          </p:nvSpPr>
          <p:spPr>
            <a:xfrm rot="10800000" flipH="1" flipV="1">
              <a:off x="3589953" y="2200041"/>
              <a:ext cx="3180266" cy="2457919"/>
            </a:xfrm>
            <a:custGeom>
              <a:avLst/>
              <a:gdLst>
                <a:gd name="connsiteX0" fmla="*/ 4951872 w 8873469"/>
                <a:gd name="connsiteY0" fmla="*/ 6858000 h 6858000"/>
                <a:gd name="connsiteX1" fmla="*/ 0 w 8873469"/>
                <a:gd name="connsiteY1" fmla="*/ 6858000 h 6858000"/>
                <a:gd name="connsiteX2" fmla="*/ 0 w 8873469"/>
                <a:gd name="connsiteY2" fmla="*/ 9 h 6858000"/>
                <a:gd name="connsiteX3" fmla="*/ 4951872 w 8873469"/>
                <a:gd name="connsiteY3" fmla="*/ 9 h 6858000"/>
                <a:gd name="connsiteX4" fmla="*/ 4951872 w 8873469"/>
                <a:gd name="connsiteY4" fmla="*/ 0 h 6858000"/>
                <a:gd name="connsiteX5" fmla="*/ 8873469 w 8873469"/>
                <a:gd name="connsiteY5" fmla="*/ 0 h 6858000"/>
                <a:gd name="connsiteX6" fmla="*/ 4951872 w 8873469"/>
                <a:gd name="connsiteY6" fmla="*/ 68337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73469" h="6858000">
                  <a:moveTo>
                    <a:pt x="4951872" y="6858000"/>
                  </a:moveTo>
                  <a:lnTo>
                    <a:pt x="0" y="6858000"/>
                  </a:lnTo>
                  <a:lnTo>
                    <a:pt x="0" y="9"/>
                  </a:lnTo>
                  <a:lnTo>
                    <a:pt x="4951872" y="9"/>
                  </a:lnTo>
                  <a:lnTo>
                    <a:pt x="4951872" y="0"/>
                  </a:lnTo>
                  <a:lnTo>
                    <a:pt x="8873469" y="0"/>
                  </a:lnTo>
                  <a:lnTo>
                    <a:pt x="4951872" y="6833797"/>
                  </a:lnTo>
                  <a:close/>
                </a:path>
              </a:pathLst>
            </a:cu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bg1"/>
                </a:solidFill>
                <a:cs typeface="+mn-ea"/>
                <a:sym typeface="+mn-lt"/>
              </a:endParaRPr>
            </a:p>
          </p:txBody>
        </p:sp>
      </p:grpSp>
      <p:sp>
        <p:nvSpPr>
          <p:cNvPr id="9" name="文本框 8">
            <a:extLst>
              <a:ext uri="{FF2B5EF4-FFF2-40B4-BE49-F238E27FC236}">
                <a16:creationId xmlns:a16="http://schemas.microsoft.com/office/drawing/2014/main" id="{3F9E1F80-099D-442F-9432-8D1401CEAA46}"/>
              </a:ext>
            </a:extLst>
          </p:cNvPr>
          <p:cNvSpPr txBox="1"/>
          <p:nvPr/>
        </p:nvSpPr>
        <p:spPr>
          <a:xfrm>
            <a:off x="4142014" y="2721114"/>
            <a:ext cx="3907972" cy="1415772"/>
          </a:xfrm>
          <a:prstGeom prst="rect">
            <a:avLst/>
          </a:prstGeom>
          <a:noFill/>
        </p:spPr>
        <p:txBody>
          <a:bodyPr wrap="square" rtlCol="0">
            <a:spAutoFit/>
          </a:bodyPr>
          <a:lstStyle/>
          <a:p>
            <a:pPr algn="ctr"/>
            <a:r>
              <a:rPr lang="zh-CN" altLang="en-US" sz="6600" dirty="0">
                <a:solidFill>
                  <a:schemeClr val="bg1"/>
                </a:solidFill>
                <a:effectLst>
                  <a:reflection blurRad="19050" stA="60000" endPos="20000" dist="31750" dir="5400000" sy="-100000" algn="bl" rotWithShape="0"/>
                </a:effectLst>
                <a:cs typeface="+mn-ea"/>
                <a:sym typeface="+mn-lt"/>
              </a:rPr>
              <a:t>感谢聆听</a:t>
            </a:r>
            <a:endParaRPr lang="en-US" altLang="zh-CN" sz="6600" dirty="0">
              <a:solidFill>
                <a:schemeClr val="bg1"/>
              </a:solidFill>
              <a:effectLst>
                <a:reflection blurRad="19050" stA="60000" endPos="20000" dist="31750" dir="5400000" sy="-100000" algn="bl" rotWithShape="0"/>
              </a:effectLst>
              <a:cs typeface="+mn-ea"/>
              <a:sym typeface="+mn-lt"/>
            </a:endParaRPr>
          </a:p>
          <a:p>
            <a:pPr algn="ctr"/>
            <a:r>
              <a:rPr lang="en-US" altLang="zh-CN" sz="2000" dirty="0">
                <a:solidFill>
                  <a:schemeClr val="bg1"/>
                </a:solidFill>
                <a:effectLst>
                  <a:reflection blurRad="19050" stA="60000" endPos="20000" dist="31750" dir="5400000" sy="-100000" algn="bl" rotWithShape="0"/>
                </a:effectLst>
                <a:cs typeface="+mn-ea"/>
                <a:sym typeface="+mn-lt"/>
              </a:rPr>
              <a:t>THANKS FOR LISTENING</a:t>
            </a:r>
            <a:endParaRPr lang="zh-CN" altLang="en-US" sz="2000" dirty="0">
              <a:solidFill>
                <a:schemeClr val="bg1"/>
              </a:solidFill>
              <a:effectLst>
                <a:reflection blurRad="19050" stA="60000" endPos="20000" dist="31750" dir="5400000" sy="-100000" algn="bl" rotWithShape="0"/>
              </a:effectLst>
              <a:cs typeface="+mn-ea"/>
              <a:sym typeface="+mn-lt"/>
            </a:endParaRPr>
          </a:p>
        </p:txBody>
      </p:sp>
      <p:cxnSp>
        <p:nvCxnSpPr>
          <p:cNvPr id="12" name="直接连接符 11">
            <a:extLst>
              <a:ext uri="{FF2B5EF4-FFF2-40B4-BE49-F238E27FC236}">
                <a16:creationId xmlns:a16="http://schemas.microsoft.com/office/drawing/2014/main" id="{BBA2EC96-49E3-4119-8A6D-C01DA626BE58}"/>
              </a:ext>
            </a:extLst>
          </p:cNvPr>
          <p:cNvCxnSpPr>
            <a:cxnSpLocks/>
          </p:cNvCxnSpPr>
          <p:nvPr/>
        </p:nvCxnSpPr>
        <p:spPr>
          <a:xfrm>
            <a:off x="865414" y="3429000"/>
            <a:ext cx="3276600" cy="0"/>
          </a:xfrm>
          <a:prstGeom prst="line">
            <a:avLst/>
          </a:prstGeom>
          <a:ln>
            <a:solidFill>
              <a:srgbClr val="FF9900"/>
            </a:solidFill>
            <a:tailEnd type="oval" w="sm" len="sm"/>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C3B1C01-4D1C-4A5A-90BE-2C622FC7F203}"/>
              </a:ext>
            </a:extLst>
          </p:cNvPr>
          <p:cNvCxnSpPr>
            <a:cxnSpLocks/>
          </p:cNvCxnSpPr>
          <p:nvPr/>
        </p:nvCxnSpPr>
        <p:spPr>
          <a:xfrm>
            <a:off x="8049986" y="3429000"/>
            <a:ext cx="3276600" cy="0"/>
          </a:xfrm>
          <a:prstGeom prst="line">
            <a:avLst/>
          </a:prstGeom>
          <a:ln>
            <a:solidFill>
              <a:srgbClr val="FF9900"/>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EE97807-7D15-4460-A3FD-FC5D31B33F13}"/>
              </a:ext>
            </a:extLst>
          </p:cNvPr>
          <p:cNvSpPr txBox="1"/>
          <p:nvPr/>
        </p:nvSpPr>
        <p:spPr>
          <a:xfrm>
            <a:off x="3673098" y="4688338"/>
            <a:ext cx="4845804" cy="276999"/>
          </a:xfrm>
          <a:prstGeom prst="rect">
            <a:avLst/>
          </a:prstGeom>
          <a:noFill/>
        </p:spPr>
        <p:txBody>
          <a:bodyPr wrap="square" rtlCol="0">
            <a:spAutoFit/>
          </a:bodyPr>
          <a:lstStyle/>
          <a:p>
            <a:pPr algn="ctr"/>
            <a:r>
              <a:rPr lang="zh-CN" altLang="en-US" sz="1200" dirty="0">
                <a:solidFill>
                  <a:srgbClr val="FF9900"/>
                </a:solidFill>
                <a:cs typeface="+mn-ea"/>
                <a:sym typeface="+mn-lt"/>
              </a:rPr>
              <a:t>财管</a:t>
            </a:r>
            <a:r>
              <a:rPr lang="en-US" altLang="zh-CN" sz="1200" dirty="0">
                <a:solidFill>
                  <a:srgbClr val="FF9900"/>
                </a:solidFill>
                <a:cs typeface="+mn-ea"/>
                <a:sym typeface="+mn-lt"/>
              </a:rPr>
              <a:t>2103</a:t>
            </a:r>
            <a:r>
              <a:rPr lang="zh-CN" altLang="en-US" sz="1200" dirty="0">
                <a:solidFill>
                  <a:srgbClr val="FF9900"/>
                </a:solidFill>
                <a:cs typeface="+mn-ea"/>
                <a:sym typeface="+mn-lt"/>
              </a:rPr>
              <a:t>班</a:t>
            </a:r>
          </a:p>
        </p:txBody>
      </p:sp>
      <p:sp>
        <p:nvSpPr>
          <p:cNvPr id="6" name="文本框 5">
            <a:extLst>
              <a:ext uri="{FF2B5EF4-FFF2-40B4-BE49-F238E27FC236}">
                <a16:creationId xmlns:a16="http://schemas.microsoft.com/office/drawing/2014/main" id="{936ABF6D-181A-BB89-80BD-3DDF29B04F5F}"/>
              </a:ext>
            </a:extLst>
          </p:cNvPr>
          <p:cNvSpPr txBox="1"/>
          <p:nvPr/>
        </p:nvSpPr>
        <p:spPr>
          <a:xfrm>
            <a:off x="8691923" y="5091191"/>
            <a:ext cx="3067664" cy="923330"/>
          </a:xfrm>
          <a:prstGeom prst="rect">
            <a:avLst/>
          </a:prstGeom>
          <a:noFill/>
        </p:spPr>
        <p:txBody>
          <a:bodyPr wrap="square" rtlCol="0">
            <a:spAutoFit/>
          </a:bodyPr>
          <a:lstStyle/>
          <a:p>
            <a:r>
              <a:rPr lang="zh-CN" altLang="en-US" dirty="0">
                <a:solidFill>
                  <a:srgbClr val="002060"/>
                </a:solidFill>
                <a:latin typeface="宋体" panose="02010600030101010101" pitchFamily="2" charset="-122"/>
                <a:ea typeface="宋体" panose="02010600030101010101" pitchFamily="2" charset="-122"/>
              </a:rPr>
              <a:t>小组成员：刘才圣 唐志明 翟梓颖 曹新宇 樊瑞扬 </a:t>
            </a:r>
            <a:endParaRPr lang="en-US" altLang="zh-CN" dirty="0">
              <a:solidFill>
                <a:srgbClr val="002060"/>
              </a:solidFill>
              <a:latin typeface="宋体" panose="02010600030101010101" pitchFamily="2" charset="-122"/>
              <a:ea typeface="宋体" panose="02010600030101010101" pitchFamily="2" charset="-122"/>
            </a:endParaRPr>
          </a:p>
          <a:p>
            <a:r>
              <a:rPr lang="zh-CN" altLang="en-US" dirty="0">
                <a:solidFill>
                  <a:srgbClr val="002060"/>
                </a:solidFill>
                <a:latin typeface="宋体" panose="02010600030101010101" pitchFamily="2" charset="-122"/>
                <a:ea typeface="宋体" panose="02010600030101010101" pitchFamily="2" charset="-122"/>
              </a:rPr>
              <a:t>高国林 胡小峰 欧一波 </a:t>
            </a:r>
          </a:p>
        </p:txBody>
      </p:sp>
    </p:spTree>
    <p:extLst>
      <p:ext uri="{BB962C8B-B14F-4D97-AF65-F5344CB8AC3E}">
        <p14:creationId xmlns:p14="http://schemas.microsoft.com/office/powerpoint/2010/main" val="3953978789"/>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1250"/>
                                        <p:tgtEl>
                                          <p:spTgt spid="23"/>
                                        </p:tgtEl>
                                      </p:cBhvr>
                                    </p:animEffect>
                                  </p:childTnLst>
                                </p:cTn>
                              </p:par>
                            </p:childTnLst>
                          </p:cTn>
                        </p:par>
                        <p:par>
                          <p:cTn id="8" fill="hold">
                            <p:stCondLst>
                              <p:cond delay="125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1250"/>
                                        <p:tgtEl>
                                          <p:spTgt spid="9"/>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1250"/>
                                        <p:tgtEl>
                                          <p:spTgt spid="12"/>
                                        </p:tgtEl>
                                      </p:cBhvr>
                                    </p:animEffect>
                                  </p:childTnLst>
                                </p:cTn>
                              </p:par>
                              <p:par>
                                <p:cTn id="16" presetID="22" presetClass="entr" presetSubtype="2"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right)">
                                      <p:cBhvr>
                                        <p:cTn id="18" dur="1250"/>
                                        <p:tgtEl>
                                          <p:spTgt spid="17"/>
                                        </p:tgtEl>
                                      </p:cBhvr>
                                    </p:animEffect>
                                  </p:childTnLst>
                                </p:cTn>
                              </p:par>
                            </p:childTnLst>
                          </p:cTn>
                        </p:par>
                        <p:par>
                          <p:cTn id="19" fill="hold">
                            <p:stCondLst>
                              <p:cond delay="3750"/>
                            </p:stCondLst>
                            <p:childTnLst>
                              <p:par>
                                <p:cTn id="20" presetID="22" presetClass="entr" presetSubtype="1"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1000"/>
                                        <p:tgtEl>
                                          <p:spTgt spid="19"/>
                                        </p:tgtEl>
                                      </p:cBhvr>
                                    </p:animEffect>
                                  </p:childTnLst>
                                </p:cTn>
                              </p:par>
                            </p:childTnLst>
                          </p:cTn>
                        </p:par>
                        <p:par>
                          <p:cTn id="23" fill="hold">
                            <p:stCondLst>
                              <p:cond delay="4750"/>
                            </p:stCondLst>
                            <p:childTnLst>
                              <p:par>
                                <p:cTn id="24" presetID="42"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750"/>
                                        <p:tgtEl>
                                          <p:spTgt spid="6"/>
                                        </p:tgtEl>
                                      </p:cBhvr>
                                    </p:animEffect>
                                    <p:anim calcmode="lin" valueType="num">
                                      <p:cBhvr>
                                        <p:cTn id="27" dur="750" fill="hold"/>
                                        <p:tgtEl>
                                          <p:spTgt spid="6"/>
                                        </p:tgtEl>
                                        <p:attrNameLst>
                                          <p:attrName>ppt_x</p:attrName>
                                        </p:attrNameLst>
                                      </p:cBhvr>
                                      <p:tavLst>
                                        <p:tav tm="0">
                                          <p:val>
                                            <p:strVal val="#ppt_x"/>
                                          </p:val>
                                        </p:tav>
                                        <p:tav tm="100000">
                                          <p:val>
                                            <p:strVal val="#ppt_x"/>
                                          </p:val>
                                        </p:tav>
                                      </p:tavLst>
                                    </p:anim>
                                    <p:anim calcmode="lin" valueType="num">
                                      <p:cBhvr>
                                        <p:cTn id="28"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8d81670-c13b-499b-af90-210e0543e49c}"/>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19ecf758-240d-435f-999a-9da6df12f738}"/>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heme/theme1.xml><?xml version="1.0" encoding="utf-8"?>
<a:theme xmlns:a="http://schemas.openxmlformats.org/drawingml/2006/main" name="第一PPT，www.1ppt.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b3nkeil">
      <a:majorFont>
        <a:latin typeface="微软雅黑" panose="020F0302020204030204"/>
        <a:ea typeface="微软雅黑"/>
        <a:cs typeface=""/>
      </a:majorFont>
      <a:minorFont>
        <a:latin typeface="微软雅黑" panose="020F0502020204030204"/>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b3nkeil">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206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206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sz="1200" dirty="0">
            <a:latin typeface="思源黑体 CN Normal" panose="020B0400000000000000" pitchFamily="34" charset="-122"/>
            <a:ea typeface="思源黑体 CN Normal" panose="020B0400000000000000"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b3nkeil">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b3nkeil">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206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b3nkeil">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1414</TotalTime>
  <Words>1594</Words>
  <Application>Microsoft Office PowerPoint</Application>
  <PresentationFormat>宽屏</PresentationFormat>
  <Paragraphs>281</Paragraphs>
  <Slides>17</Slides>
  <Notes>8</Notes>
  <HiddenSlides>0</HiddenSlides>
  <MMClips>0</MMClips>
  <ScaleCrop>false</ScaleCrop>
  <HeadingPairs>
    <vt:vector size="6" baseType="variant">
      <vt:variant>
        <vt:lpstr>已用的字体</vt:lpstr>
      </vt:variant>
      <vt:variant>
        <vt:i4>9</vt:i4>
      </vt:variant>
      <vt:variant>
        <vt:lpstr>主题</vt:lpstr>
      </vt:variant>
      <vt:variant>
        <vt:i4>6</vt:i4>
      </vt:variant>
      <vt:variant>
        <vt:lpstr>幻灯片标题</vt:lpstr>
      </vt:variant>
      <vt:variant>
        <vt:i4>17</vt:i4>
      </vt:variant>
    </vt:vector>
  </HeadingPairs>
  <TitlesOfParts>
    <vt:vector size="32" baseType="lpstr">
      <vt:lpstr>Segoe UI Web (West European)</vt:lpstr>
      <vt:lpstr>等线</vt:lpstr>
      <vt:lpstr>黑体</vt:lpstr>
      <vt:lpstr>思源黑体 CN Normal</vt:lpstr>
      <vt:lpstr>宋体</vt:lpstr>
      <vt:lpstr>微软雅黑</vt:lpstr>
      <vt:lpstr>Arial</vt:lpstr>
      <vt:lpstr>Calibri</vt:lpstr>
      <vt:lpstr>Calibri Light</vt:lpstr>
      <vt:lpstr>第一PPT，www.1ppt.com</vt:lpstr>
      <vt:lpstr>自定义设计方案</vt:lpstr>
      <vt:lpstr>1_自定义设计方案</vt:lpstr>
      <vt:lpstr>2_自定义设计方案</vt:lpstr>
      <vt:lpstr>3_自定义设计方案</vt:lpstr>
      <vt:lpstr>4_自定义设计方案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优品PPT</dc:creator>
  <cp:keywords/>
  <dc:description/>
  <cp:lastModifiedBy>湫 .</cp:lastModifiedBy>
  <cp:revision>153</cp:revision>
  <dcterms:created xsi:type="dcterms:W3CDTF">2019-01-29T06:47:18Z</dcterms:created>
  <dcterms:modified xsi:type="dcterms:W3CDTF">2024-06-03T11:40:04Z</dcterms:modified>
</cp:coreProperties>
</file>